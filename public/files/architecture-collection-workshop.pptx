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777240"/>
            <a:ext cx="2103120" cy="2103120"/>
          </a:xfrm>
          <a:prstGeom prst="ellipse">
            <a:avLst/>
          </a:prstGeom>
          <a:ln w="12700">
            <a:solidFill>
              <a:srgbClr val="3A35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1417320"/>
            <a:ext cx="822960" cy="822960"/>
          </a:xfrm>
          <a:prstGeom prst="ellipse">
            <a:avLst/>
          </a:prstGeom>
          <a:ln w="25400">
            <a:solidFill>
              <a:srgbClr val="1460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YEAR-ONE KIT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95728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AF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the landscape, without a tool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5661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F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ninety-minute working session: what we are doing, what we need from you, and what you get back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8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to mehdibamou.com/publications/architecture-without-a-tool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1 - OPEN THE SESSION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are here, in three sentences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 out loud. The audit smell is what kills the next eighty-five minutes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  -  free to use and adapt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6949440" cy="2834640"/>
          </a:xfrm>
          <a:prstGeom prst="roundRect">
            <a:avLst>
              <a:gd name="adj" fmla="val 2903"/>
            </a:avLst>
          </a:prstGeom>
          <a:solidFill>
            <a:srgbClr val="E7EFEE"/>
          </a:solidFill>
          <a:ln w="12700">
            <a:solidFill>
              <a:srgbClr val="BFD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8308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writing down what exists, not judging it.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gets a score today. There is no wrong answer, including "we use a spreadsheet for that".
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the landscape; we know the format.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talk, I type. If we disagree about what something is, I note it and rule afterwards - we do not debate definitions in this room.
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it back.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per domain, a picture of what runs where, and a list of the gaps we found together.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26680" y="1554480"/>
            <a:ext cx="393192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0" y="17373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NOT DO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55280" y="201168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 to fill in a spreadsheet afterwards</a:t>
            </a:r>
            <a:endParaRPr lang="en-US" sz="12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today's answers upward as a status</a:t>
            </a:r>
            <a:endParaRPr lang="en-US" sz="12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to justify removing anything</a:t>
            </a:r>
            <a:endParaRPr lang="en-US" sz="12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the classification policy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4572000"/>
            <a:ext cx="111556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7548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QUESTIONS THAT DO THE WORK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50292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do this today, and with what? 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(never: which systems do you own)          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would call you if it stopped at 9am on a Monday?
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do outside that system to make the process work? 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(this is how shadow tools surface)          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went away next year, what would you miss by name?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2 - THE FORMAT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Ninety minutes, one screen, twenty to thirty applications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open and shared - live filling turns a data request into a working session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  -  free to use and adapt</a:t>
            </a:r>
            <a:endParaRPr lang="en-US" sz="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1556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840480"/>
                <a:gridCol w="2377440"/>
                <a:gridCol w="35661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talks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is this way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it: writing down, not judging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the audit smell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 the capability map for this domain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 + business lead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map is the questionnaire - open questions give chaos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 rows live, capability by capability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Arguments happen in front of you and resolve themselves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70-80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the shadow tools explicitly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experts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directly or they stay invisible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80-90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back owners and lifecycle states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Confirmation in the room beats an email chain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394960"/>
            <a:ext cx="11155680" cy="868680"/>
          </a:xfrm>
          <a:prstGeom prst="roundRect">
            <a:avLst>
              <a:gd name="adj" fmla="val 9474"/>
            </a:avLst>
          </a:prstGeom>
          <a:solidFill>
            <a:srgbClr val="F5ECD7"/>
          </a:solidFill>
          <a:ln w="12700">
            <a:solidFill>
              <a:srgbClr val="D9BE8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55955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check: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to thirty applications per session is realistic. Half-filled rows are fine - empty sessions are not. If the room wants to debate what counts as an application, note it and move 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3 - WHAT WE CAPTURE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fields per application, and nothing else today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optional stays optional until someone names the decision it feeds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  -  free to use and adapt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72768"/>
          <a:ext cx="11155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4572000"/>
              </a:tblGrid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good looks like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answer that needs a follow-up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call it out loud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project codename or the vendor's product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or two sentences a stranger could act 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"It handles orders"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one from the map on screen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"All of them" - then it is probably two applications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person, not a team mailbox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"IT"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person accountable for the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Blank - a finding, not a 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Plan, Phase-in, Active, Phase-out, End of life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"Sort of live" - pick one and note the nuance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Markets or units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actually runs today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was supposed to be rolled 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High, medium, low - the business owner's 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is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4 - CLOSE THE SESSION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get back, and when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date in the room, then hit it - the whole practice rests on that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  -  free to use and adapt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111556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83664"/>
            <a:ext cx="1600200" cy="475488"/>
          </a:xfrm>
          <a:prstGeom prst="roundRect">
            <a:avLst>
              <a:gd name="adj" fmla="val 19231"/>
            </a:avLst>
          </a:prstGeom>
          <a:solidFill>
            <a:srgbClr val="E7EFE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83664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 week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14600" y="18288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domain page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94960" y="181051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page: what runs where, who owns it, and the gaps we found together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724912"/>
            <a:ext cx="111556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962656"/>
            <a:ext cx="1600200" cy="475488"/>
          </a:xfrm>
          <a:prstGeom prst="roundRect">
            <a:avLst>
              <a:gd name="adj" fmla="val 19231"/>
            </a:avLst>
          </a:prstGeom>
          <a:solidFill>
            <a:srgbClr val="E7EFE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62656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 week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514600" y="290779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picture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94960" y="2889504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current-state diagram of your domain, drawn from what you told 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803904"/>
            <a:ext cx="111556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041648"/>
            <a:ext cx="1600200" cy="475488"/>
          </a:xfrm>
          <a:prstGeom prst="roundRect">
            <a:avLst>
              <a:gd name="adj" fmla="val 19231"/>
            </a:avLst>
          </a:prstGeom>
          <a:solidFill>
            <a:srgbClr val="E7EFE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41648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514600" y="398678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short quality report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94960" y="3968496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and ownership coverage, with the specific rows that need you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882896"/>
            <a:ext cx="111556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5120640"/>
            <a:ext cx="1600200" cy="475488"/>
          </a:xfrm>
          <a:prstGeom prst="roundRect">
            <a:avLst>
              <a:gd name="adj" fmla="val 19231"/>
            </a:avLst>
          </a:prstGeom>
          <a:solidFill>
            <a:srgbClr val="E7EFEE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12064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514600" y="506577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five-field form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94960" y="50474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or correct your own records - two-week window, no spreadsheet attached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5760720"/>
            <a:ext cx="11155680" cy="548640"/>
          </a:xfrm>
          <a:prstGeom prst="roundRect">
            <a:avLst>
              <a:gd name="adj" fmla="val 15000"/>
            </a:avLst>
          </a:prstGeom>
          <a:solidFill>
            <a:srgbClr val="E7EFEE"/>
          </a:solidFill>
          <a:ln w="12700">
            <a:solidFill>
              <a:srgbClr val="BFD4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8613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editor keeps the file - everyone else proposes through the quarterly form, the design forum, or a message. That is what keeps it trustworthy.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5 - THE REPORT-OUT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domain page looks like when it comes back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this in and send it within the week you promised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  -  free to use and adapt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5486400" cy="466344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SUMMARY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</a:t>
            </a:r>
            <a:pPr indent="0" marL="0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name ]
</a:t>
            </a:r>
            <a:pPr indent="0" marL="0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recorded: </a:t>
            </a:r>
            <a:pPr indent="0" marL="0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 ]  of which [ n ] were not previously known centrally
</a:t>
            </a:r>
            <a:pPr indent="0" marL="0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with no tooling: </a:t>
            </a:r>
            <a:pPr indent="0" marL="0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list ]
</a:t>
            </a:r>
            <a:pPr indent="0" marL="0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with three or more tools: </a:t>
            </a:r>
            <a:pPr indent="0" marL="0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list ]
</a:t>
            </a:r>
            <a:pPr indent="0" marL="0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missing a business owner: </a:t>
            </a:r>
            <a:pPr indent="0" marL="0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 ]
</a:t>
            </a:r>
            <a:pPr indent="0" marL="0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tools named in the room: </a:t>
            </a:r>
            <a:pPr indent="0" marL="0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 ] - now inventoried, not reported upward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5029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NEXT STEPS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53035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owner ] confirms the two disputed lifecycle states by [ date ]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owner ] names a business owner for [ n ] records by [ date 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554480"/>
            <a:ext cx="5394960" cy="4663440"/>
          </a:xfrm>
          <a:prstGeom prst="roundRect">
            <a:avLst>
              <a:gd name="adj" fmla="val 1765"/>
            </a:avLst>
          </a:prstGeom>
          <a:solidFill>
            <a:srgbClr val="E3EFE7"/>
          </a:solidFill>
          <a:ln w="12700">
            <a:solidFill>
              <a:srgbClr val="9DC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737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RULES FOR THE WRITE-UP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201168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never blame. "Three tools for one capability" is a finding; "the team bought three tools" is an accusation.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local gem. Every domain has something the group should copy - say it first.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Legally or operationally local exceptions get written down with the reason, so nobody rediscovers them next year.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rounded, never precise-looking. The point is the shape, not the decimal.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it to the people who were in the room before anyone above them sees it.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0"/>
            <a:ext cx="1920240" cy="1920240"/>
          </a:xfrm>
          <a:prstGeom prst="ellipse">
            <a:avLst/>
          </a:prstGeom>
          <a:ln w="12700">
            <a:solidFill>
              <a:srgbClr val="3A35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945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AF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repository is a set of agreements about what you write down.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8FB6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software is the least interesting part of it.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F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starter workbook, the policy and template pack, and this deck are all in the library at mehdibamou.com/library - free to use and adapt.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8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2026-07-25T21:42:11Z</dcterms:created>
  <dcterms:modified xsi:type="dcterms:W3CDTF">2026-07-25T21:42:11Z</dcterms:modified>
</cp:coreProperties>
</file>