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777240"/>
            <a:ext cx="2103120" cy="2103120"/>
          </a:xfrm>
          <a:prstGeom prst="ellipse">
            <a:avLst/>
          </a:prstGeom>
          <a:ln w="12700">
            <a:solidFill>
              <a:srgbClr val="3A35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1417320"/>
            <a:ext cx="822960" cy="822960"/>
          </a:xfrm>
          <a:prstGeom prst="ellipse">
            <a:avLst/>
          </a:prstGeom>
          <a:ln w="25400">
            <a:solidFill>
              <a:srgbClr val="1460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011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PACK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a proposal to a body\nthat decides by consent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template for balanced-interest rooms: the one-pager, what each constituency gains and gives, options with reversibility, the three unlocking clauses, and the objection round script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60350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to mehdibamou.com/publications/governing-without-a-mandate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1 - THE PROPOSAL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Proposal title: state the change, not the topic ]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- date - author - the body being asked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7040880" cy="1874520"/>
          </a:xfrm>
          <a:prstGeom prst="roundRect">
            <a:avLst>
              <a:gd name="adj" fmla="val 439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7373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ASK, IN ONE SENTENCE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933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you want this body to consent to today. Not "endorse the direction" - a specific, decidable thing. 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 - THREE SENTENCES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798064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changed. What it costs to wait a year. What is already true because units have piloted it. ]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0" y="1554480"/>
            <a:ext cx="3886200" cy="1874520"/>
          </a:xfrm>
          <a:prstGeom prst="roundRect">
            <a:avLst>
              <a:gd name="adj" fmla="val 4390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01000" y="173736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THE LADDER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001000" y="1993392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 ] units piloting or adopting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unit ]: [ what it cost them, honestly ]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unit ]: [ what was harder than we said ]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61188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947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CENTRAL COMMITS TO - INCLUDING WHAT IT WILL NOT DO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05079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Funding, hosting, support, timelines ]          [ And in writing: what will not be centralized, what stays local, what we will not ask for next ]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166360"/>
            <a:ext cx="11155680" cy="1051560"/>
          </a:xfrm>
          <a:prstGeom prst="roundRect">
            <a:avLst>
              <a:gd name="adj" fmla="val 7826"/>
            </a:avLst>
          </a:prstGeom>
          <a:solidFill>
            <a:srgbClr val="F5ECD7"/>
          </a:solidFill>
          <a:ln w="12700">
            <a:solidFill>
              <a:srgbClr val="D9BE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34924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meeting: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this draft to each constituency and ask what would make them object. Then tell the whole room that you did, and with whom. Quiet pre-wiring is lobbying and will be resented when discovered; announced pre-wiring is preparation.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2 - THE HONESTY SLIDE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constituency gains, and what it gives up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paragraph per interest group in the room. If a group gives up nothing, say that too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2743200"/>
                <a:gridCol w="301752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they give 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will do about 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group A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concrete, in their terms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named honestly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mitigation, or nothing - but say which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group B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concrete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named honestly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mitigation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group C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concrete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nothing - stated plainly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-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smaller units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the specific relief for the least resourced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what it still costs them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hosting, staged fee, longer runway 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029200"/>
            <a:ext cx="11155680" cy="1188720"/>
          </a:xfrm>
          <a:prstGeom prst="roundRect">
            <a:avLst>
              <a:gd name="adj" fmla="val 6923"/>
            </a:avLst>
          </a:prstGeom>
          <a:solidFill>
            <a:srgbClr val="F2E4E0"/>
          </a:solidFill>
          <a:ln w="12700">
            <a:solidFill>
              <a:srgbClr val="C9998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3036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 that only lists benefits reads as marketing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gets deferred by people who cannot yet articulate why they are uneasy. Naming the losses is what makes the gains believable - and it is the difference between a room that trusts you and a room that manages you.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3 - OPTIONS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or three, with the trade-offs and your recommendation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room handed one option can only accept or defer. A room handed three is doing design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1155680" cy="1298448"/>
          </a:xfrm>
          <a:prstGeom prst="roundRect">
            <a:avLst>
              <a:gd name="adj" fmla="val 6338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922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066544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name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108960" y="1920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it means in practice ]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09360" y="192024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cost and effort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1920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it forecloses 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0" y="214884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72384"/>
            <a:ext cx="11155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2186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4930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name ]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08960" y="3346704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it means ]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3346704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cost ]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12480" y="334670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it forecloses 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" y="4498848"/>
            <a:ext cx="11155680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645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91947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 do nothing / defer ]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108960" y="4773168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continues 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4773168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the cost of waiting ]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412480" y="4773168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gets harder 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6035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include the do-nothing option, costed. A body that has not seen the price of waiting will choose it by accident.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4 - THE THREE CLAUSES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unlocks a hesitant room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these has turned a deferral into a decision in the room, and they cost almost nothing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075688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0756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72768" y="1911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Sunset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1572768" y="231343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decision expires on [ date, about 18 months out ] unless renewed.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2020824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room is not deciding forever. Proposals that work get renewed without discussion.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172968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557016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570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72768" y="3392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trigger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572768" y="3794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return to this body early if [ named conditions ].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949440" y="3502152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by you rather than demanded by them - which reads as confidence, not doubt.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4654296"/>
            <a:ext cx="11155680" cy="1371600"/>
          </a:xfrm>
          <a:prstGeom prst="roundRect">
            <a:avLst>
              <a:gd name="adj" fmla="val 6000"/>
            </a:avLst>
          </a:prstGeom>
          <a:solidFill>
            <a:srgbClr val="E3EFE7"/>
          </a:solidFill>
          <a:ln w="12700">
            <a:solidFill>
              <a:srgbClr val="9DC4A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5038344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2F7D4F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03834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72768" y="4873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Opt-out or profile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1572768" y="527608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that cannot participate does [ the alternative ] instead.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949440" y="4983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that voting yes never feels like voting to constrain a peer who is not in a position to follow.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14476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is not enthusiasm. The bar is: good enough for now, and safe enough to try.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5 - RUNNING THE ROOM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objection round, in order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Facilitator script. Keep the four phases separate or they collapse into a debate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663440"/>
                <a:gridCol w="420624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chair says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hold the line 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606B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Clarifying questions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"Questions to understand the proposal - not yet views on it."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first three are usually opinions wearing a question mark. Redirect them gently to phase two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Quick reactions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"One pass around the room. No responses yet, including from me."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cross-talk, no defending. The author writes, does not argue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Objections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"Do you have an objection, and what is the specific harm you foresee?"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objection names a harm to the shared thing. A preference for a different option is not an objection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"Can we amend it here, or does this need work with a named owner and a date?"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Amend in the room where possible. Park the rest explicitly - never implicitly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0EA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19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Decide and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"Here is the decision as I have written it. Objections to the wording?"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5753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while everyone is present, read aloud, published the same day in the working languages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0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532120"/>
            <a:ext cx="11155680" cy="777240"/>
          </a:xfrm>
          <a:prstGeom prst="roundRect">
            <a:avLst>
              <a:gd name="adj" fmla="val 10588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68756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room cannot consent today, ask for the smallest thing it can consent to - a pilot, a design study, a decision to decide by a date. Deferral without a next step costs a quarter.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6 - THE RECORD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Published the same day, in the working languages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07899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federation this document does something extra: each representative carries it into a room you will never attend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647395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  -  free to use and adapt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6949440" cy="4480560"/>
          </a:xfrm>
          <a:prstGeom prst="roundRect">
            <a:avLst>
              <a:gd name="adj" fmla="val 1837"/>
            </a:avLst>
          </a:prstGeom>
          <a:solidFill>
            <a:srgbClr val="FFFFFF"/>
          </a:solidFill>
          <a:ln w="12700">
            <a:solidFill>
              <a:srgbClr val="E4E0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7830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RECORD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and title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P-nn - the decision, stated as a change ]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Consented / consented with changes / deferred with next step ]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Two to four sentences a unit director could act on without having attended ]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Objections raised and how each was integrated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Name the objection, not the objector. This is what makes the process trustworthy ]
</a:t>
            </a:r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clauses
</a:t>
            </a:r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Sunset date - review trigger - opt-out or profile ]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1600200"/>
            <a:ext cx="3977640" cy="2148840"/>
          </a:xfrm>
          <a:prstGeom prst="roundRect">
            <a:avLst>
              <a:gd name="adj" fmla="val 3830"/>
            </a:avLst>
          </a:prstGeom>
          <a:solidFill>
            <a:srgbClr val="E7EFEE"/>
          </a:solidFill>
          <a:ln w="12700">
            <a:solidFill>
              <a:srgbClr val="BFD4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09560" y="178308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46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THEN, THE DAY AFTER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909560" y="205740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to every unit, not only the body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representative a two-pager they can forward into their own room</a:t>
            </a:r>
            <a:endParaRPr lang="en-US" sz="1200" dirty="0"/>
          </a:p>
          <a:p>
            <a:pPr marL="342900" indent="-342900">
              <a:lnSpc>
                <a:spcPts val="15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ladder and the constraint register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680960" y="3931920"/>
            <a:ext cx="3977640" cy="2148840"/>
          </a:xfrm>
          <a:prstGeom prst="roundRect">
            <a:avLst>
              <a:gd name="adj" fmla="val 3830"/>
            </a:avLst>
          </a:prstGeom>
          <a:solidFill>
            <a:srgbClr val="F2E4E0"/>
          </a:solidFill>
          <a:ln w="12700">
            <a:solidFill>
              <a:srgbClr val="C999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41148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A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MISTAKE TO AVOID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09560" y="4389120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vote as the finish line. In a federation the decision is permission, not adoption - the relationship work after it is identical to the work before it, and budgeting attention as though approval were the end is the most common way these programmes quietly stop.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297680"/>
            <a:ext cx="1920240" cy="1920240"/>
          </a:xfrm>
          <a:prstGeom prst="ellipse">
            <a:avLst/>
          </a:prstGeom>
          <a:ln w="12700">
            <a:solidFill>
              <a:srgbClr val="3A353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219456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federation, your design is not a plan.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92608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8FB6B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is an offer.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595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CFC9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kit for the visits and the adoption tracker are in the library at mehdibamou.com/library - free to use and adapt.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86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mehdibamou.com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2026-08-09T14:26:11Z</dcterms:created>
  <dcterms:modified xsi:type="dcterms:W3CDTF">2026-08-09T14:26:11Z</dcterms:modified>
</cp:coreProperties>
</file>