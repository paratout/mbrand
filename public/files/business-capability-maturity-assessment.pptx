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235440" y="-1097280"/>
            <a:ext cx="3108960" cy="3108960"/>
          </a:xfrm>
          <a:prstGeom prst="ellipse">
            <a:avLst/>
          </a:prstGeom>
          <a:ln w="12700">
            <a:solidFill>
              <a:srgbClr val="3A37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640080"/>
            <a:ext cx="2194560" cy="2194560"/>
          </a:xfrm>
          <a:prstGeom prst="ellipse">
            <a:avLst/>
          </a:prstGeom>
          <a:ln w="12700">
            <a:solidFill>
              <a:srgbClr val="3A37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-182880"/>
            <a:ext cx="1280160" cy="1280160"/>
          </a:xfrm>
          <a:prstGeom prst="ellipse">
            <a:avLst/>
          </a:prstGeom>
          <a:solidFill>
            <a:srgbClr val="2E2B27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-182880"/>
            <a:ext cx="1280160" cy="1280160"/>
          </a:xfrm>
          <a:prstGeom prst="ellipse">
            <a:avLst/>
          </a:prstGeom>
          <a:solidFill>
            <a:srgbClr val="14606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 TOOL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96012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Capability</a:t>
            </a:r>
            <a:endParaRPr lang="en-US" sz="4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Assessment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workshop-ready matrix to rate the maturity of your business capabilities,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them by importance, and decide where to invest next.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and adapt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TOOL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one afternoon per domain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21408"/>
            <a:ext cx="566928" cy="566928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capability domain and list its capabilities - the L2 level works best, 8 to 15 items.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88920" y="192024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121408"/>
            <a:ext cx="566928" cy="566928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7180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971800" y="3310128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capability 1-5 on the five dimensions, with evidence - not vibes.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74920" y="192024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121408"/>
            <a:ext cx="566928" cy="566928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257800" y="3310128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capability's importance to strategy: high, medium, or low.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192024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121408"/>
            <a:ext cx="566928" cy="566928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543800" y="3310128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capability on the importance-vs-maturity quadrant.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46920" y="192024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121408"/>
            <a:ext cx="566928" cy="566928"/>
          </a:xfrm>
          <a:prstGeom prst="ellipse">
            <a:avLst/>
          </a:prstGeom>
          <a:solidFill>
            <a:srgbClr val="14606B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2980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829800" y="3310128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actions per quadrant and put owners and dates on them.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 domain of a dozen capabilities takes a two-hour workshop with the domain owner, two or three experts, and one architect.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levels of capability maturity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Heroics and inboxes. The capability exists because certain people make it exist.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971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structure, applied unevenly. Every market or team does it a bit differently.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257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33375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documented way of working, known owners, basic tool support.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43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43800" y="33375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KPIs, actively steered, integrated with neighboring capabilities.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4692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FE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829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29800" y="33375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improved, largely automated, a source of real advantage.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across domains: one person's 4 is another's 2. Anchor each level with a real example the whole room accepts before you start scoring.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RATING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dimensions per capability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38528"/>
            <a:ext cx="402336" cy="402336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56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0" y="1856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defined way of working - and is it actually followed?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11155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79776"/>
            <a:ext cx="402336" cy="402336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skills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roles clear, staffed, and skilled - or does it depend on two heroes?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11155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21024"/>
            <a:ext cx="402336" cy="402336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538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0" y="3538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systems support the capability - or do spreadsheets fill the gaps?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11155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62272"/>
            <a:ext cx="402336" cy="402336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379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114800" y="4379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to run and measure this capability available, correct, and used?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148072"/>
            <a:ext cx="11155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303520"/>
            <a:ext cx="402336" cy="402336"/>
          </a:xfrm>
          <a:prstGeom prst="ellipse">
            <a:avLst/>
          </a:prstGeom>
          <a:solidFill>
            <a:srgbClr val="E7EFE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2212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114800" y="5221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ownership, decision rights, and standards defined - and enforced?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- FILL THIS 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rating sheet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"/>
                <a:gridCol w="777240"/>
                <a:gridCol w="777240"/>
                <a:gridCol w="777240"/>
                <a:gridCol w="777240"/>
                <a:gridCol w="914400"/>
                <a:gridCol w="105156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 /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- Demand forecasting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lives in three spreadsheets; no single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- Supplier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Solid; watch the manual compliance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= average of the five dimension scores. Rate with evidence on the table - ask “show me”, not “how do you feel”.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AND DECIDE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versus maturity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1737360"/>
            <a:ext cx="3474720" cy="2011680"/>
          </a:xfrm>
          <a:prstGeom prst="rect">
            <a:avLst/>
          </a:prstGeom>
          <a:solidFill>
            <a:srgbClr val="FDF3F1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importance, low maturity - the money and attention go here first.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474720" cy="2011680"/>
          </a:xfrm>
          <a:prstGeom prst="rect">
            <a:avLst/>
          </a:prstGeom>
          <a:solidFill>
            <a:srgbClr val="E7EFEE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MAINTAIN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importance, high maturity - keep it strong, do not neglect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37490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OR SIMPLIFY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importance, low maturity - standardize, outsource, or accept as-is.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3474720" cy="2011680"/>
          </a:xfrm>
          <a:prstGeom prst="rect">
            <a:avLst/>
          </a:prstGeom>
          <a:solidFill>
            <a:srgbClr val="F7F5F0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4251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importance, high maturity - possibly over-invested; harvest.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 rot="16200000">
            <a:off x="5029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5870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00200" y="3218688"/>
            <a:ext cx="237744" cy="237744"/>
          </a:xfrm>
          <a:prstGeom prst="ellipse">
            <a:avLst/>
          </a:prstGeom>
          <a:solidFill>
            <a:srgbClr val="0E4A5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191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3429000"/>
            <a:ext cx="237744" cy="237744"/>
          </a:xfrm>
          <a:prstGeom prst="ellipse">
            <a:avLst/>
          </a:prstGeom>
          <a:solidFill>
            <a:srgbClr val="0E4A5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planning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66360" y="3291840"/>
            <a:ext cx="237744" cy="237744"/>
          </a:xfrm>
          <a:prstGeom prst="ellipse">
            <a:avLst/>
          </a:prstGeom>
          <a:solidFill>
            <a:srgbClr val="0E4A5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5349240"/>
            <a:ext cx="237744" cy="237744"/>
          </a:xfrm>
          <a:prstGeom prst="ellipse">
            <a:avLst/>
          </a:prstGeom>
          <a:solidFill>
            <a:srgbClr val="0E4A5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booking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91640" y="5349240"/>
            <a:ext cx="237744" cy="237744"/>
          </a:xfrm>
          <a:prstGeom prst="ellipse">
            <a:avLst/>
          </a:prstGeom>
          <a:solidFill>
            <a:srgbClr val="0E4A5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0" y="19202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plot</a:t>
            </a: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gets exactly one action from its quadrant - and every action gets an owner and a date.</a:t>
            </a: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Re-plot once a year. Movement on this chart is the honest progress report of your operating model.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one-slide heatmap for leadership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6FA3AA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9568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business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98648" y="18288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4606B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9568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offering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94376" y="18288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C8DBD9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19568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buy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58968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90104" y="18288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C8DBD9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4696" y="19568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promote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54696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4606B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&amp; serve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98648" y="3035808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6FA3AA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 &amp; deliver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94376" y="3035808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2E4E0"/>
          </a:solidFill>
          <a:ln w="19050">
            <a:solidFill>
              <a:srgbClr val="9A4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returns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58968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90104" y="3035808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6FA3AA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54696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stores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54696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242816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C8DBD9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370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to retire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98648" y="4242816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4606B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4370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control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63240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94376" y="4242816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6FA3AA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4370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58968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90104" y="4242816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C8DBD9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4370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&amp; comply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854696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4-5   </a:t>
            </a:r>
            <a:pPr indent="0" marL="0">
              <a:buNone/>
            </a:pPr>
            <a:r>
              <a:rPr lang="en-US" sz="1100" b="1" dirty="0">
                <a:solidFill>
                  <a:srgbClr val="6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  </a:t>
            </a:r>
            <a:pPr indent="0" marL="0">
              <a:buNone/>
            </a:pPr>
            <a:r>
              <a:rPr lang="en-US" sz="1100" b="1" dirty="0">
                <a:solidFill>
                  <a:srgbClr val="9B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 </a:t>
            </a:r>
            <a:pPr indent="0" marL="0">
              <a:buNone/>
            </a:pPr>
            <a:r>
              <a:rPr lang="en-US" sz="110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1 - needs attention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L1 view - color each tile with the domain's average maturity, and let the reddest tile start the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828800"/>
            <a:ext cx="3108960" cy="3108960"/>
          </a:xfrm>
          <a:prstGeom prst="ellipse">
            <a:avLst/>
          </a:prstGeom>
          <a:ln w="12700">
            <a:solidFill>
              <a:srgbClr val="3A37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1371600"/>
            <a:ext cx="2194560" cy="2194560"/>
          </a:xfrm>
          <a:prstGeom prst="ellipse">
            <a:avLst/>
          </a:prstGeom>
          <a:ln w="12700">
            <a:solidFill>
              <a:srgbClr val="3A37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-914400"/>
            <a:ext cx="1280160" cy="1280160"/>
          </a:xfrm>
          <a:prstGeom prst="ellipse">
            <a:avLst/>
          </a:prstGeom>
          <a:solidFill>
            <a:srgbClr val="2E2B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workshop, in practice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B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 the room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owner, two or three practitioners who live the work, one architect as facilitator. Six people maximum - accuracy drops as the room grows.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B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vibes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above 3 must survive one question: “show me.” Show the process doc, the KPI dashboard, the system screen. If it cannot be shown, it is a 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41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B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 across domains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scoring, anchor the scale with two shared examples everyone accepts. Re-use the same anchors in every domain, or your heatmap compares apples to moods.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093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B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with decisions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507492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the quadrant plotted and one action per capability, each with an owner and a date. An assessment without decisions is just documented sadness.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and adapt. If it helped, tell me what you changed: mehdibamou.com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Capability Maturity Assessment</dc:title>
  <dc:subject>PptxGenJS Presentation</dc:subject>
  <dc:creator>Mehdi Bamou</dc:creator>
  <cp:lastModifiedBy>Mehdi Bamou</cp:lastModifiedBy>
  <cp:revision>1</cp:revision>
  <dcterms:created xsi:type="dcterms:W3CDTF">2026-07-22T14:44:24Z</dcterms:created>
  <dcterms:modified xsi:type="dcterms:W3CDTF">2026-07-22T14:44:24Z</dcterms:modified>
</cp:coreProperties>
</file>