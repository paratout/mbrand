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917"/>
        </a:solidFill>
      </p:bgPr>
    </p:bg>
    <p:spTree>
      <p:nvGrpSpPr>
        <p:cNvPr id="1" name=""/>
        <p:cNvGrpSpPr/>
        <p:nvPr/>
      </p:nvGrpSpPr>
      <p:grpSpPr>
        <a:xfrm>
          <a:off x="0" y="0"/>
          <a:ext cx="0" cy="0"/>
          <a:chOff x="0" y="0"/>
          <a:chExt cx="0" cy="0"/>
        </a:xfrm>
      </p:grpSpPr>
      <p:sp>
        <p:nvSpPr>
          <p:cNvPr id="2" name="Shape 0"/>
          <p:cNvSpPr/>
          <p:nvPr/>
        </p:nvSpPr>
        <p:spPr>
          <a:xfrm>
            <a:off x="9418320" y="1097280"/>
            <a:ext cx="1920240" cy="1920240"/>
          </a:xfrm>
          <a:prstGeom prst="rect">
            <a:avLst/>
          </a:prstGeom>
          <a:ln w="12700">
            <a:solidFill>
              <a:srgbClr val="3A3531"/>
            </a:solidFill>
            <a:prstDash val="solid"/>
          </a:ln>
        </p:spPr>
      </p:sp>
      <p:sp>
        <p:nvSpPr>
          <p:cNvPr id="3" name="Shape 1"/>
          <p:cNvSpPr/>
          <p:nvPr/>
        </p:nvSpPr>
        <p:spPr>
          <a:xfrm>
            <a:off x="9418320" y="1828800"/>
            <a:ext cx="1920240" cy="0"/>
          </a:xfrm>
          <a:prstGeom prst="line">
            <a:avLst/>
          </a:prstGeom>
          <a:noFill/>
          <a:ln w="25400">
            <a:solidFill>
              <a:srgbClr val="14606B"/>
            </a:solidFill>
            <a:prstDash val="solid"/>
          </a:ln>
        </p:spPr>
      </p:sp>
      <p:sp>
        <p:nvSpPr>
          <p:cNvPr id="4" name="Shape 2"/>
          <p:cNvSpPr/>
          <p:nvPr/>
        </p:nvSpPr>
        <p:spPr>
          <a:xfrm>
            <a:off x="9418320" y="2331720"/>
            <a:ext cx="1920240" cy="0"/>
          </a:xfrm>
          <a:prstGeom prst="line">
            <a:avLst/>
          </a:prstGeom>
          <a:noFill/>
          <a:ln w="12700">
            <a:solidFill>
              <a:srgbClr val="3A3531"/>
            </a:solidFill>
            <a:prstDash val="solid"/>
          </a:ln>
        </p:spPr>
      </p:sp>
      <p:sp>
        <p:nvSpPr>
          <p:cNvPr id="5" name="Text 3"/>
          <p:cNvSpPr/>
          <p:nvPr/>
        </p:nvSpPr>
        <p:spPr>
          <a:xfrm>
            <a:off x="822960" y="2011680"/>
            <a:ext cx="8229600" cy="365760"/>
          </a:xfrm>
          <a:prstGeom prst="rect">
            <a:avLst/>
          </a:prstGeom>
          <a:noFill/>
          <a:ln/>
        </p:spPr>
        <p:txBody>
          <a:bodyPr wrap="square" lIns="0" tIns="0" rIns="0" bIns="0" rtlCol="0" anchor="ctr"/>
          <a:lstStyle/>
          <a:p>
            <a:pPr indent="0" marL="0">
              <a:buNone/>
            </a:pPr>
            <a:r>
              <a:rPr lang="en-US" sz="1300" b="1" spc="400" kern="0" dirty="0">
                <a:solidFill>
                  <a:srgbClr val="8FB6BC"/>
                </a:solidFill>
                <a:latin typeface="Calibri" pitchFamily="34" charset="0"/>
                <a:ea typeface="Calibri" pitchFamily="34" charset="-122"/>
                <a:cs typeface="Calibri" pitchFamily="34" charset="-120"/>
              </a:rPr>
              <a:t>JOINING AS THE FIRST ARCHITECT</a:t>
            </a:r>
            <a:endParaRPr lang="en-US" sz="1300" dirty="0"/>
          </a:p>
        </p:txBody>
      </p:sp>
      <p:sp>
        <p:nvSpPr>
          <p:cNvPr id="6" name="Text 4"/>
          <p:cNvSpPr/>
          <p:nvPr/>
        </p:nvSpPr>
        <p:spPr>
          <a:xfrm>
            <a:off x="822960" y="2377440"/>
            <a:ext cx="9692640" cy="1463040"/>
          </a:xfrm>
          <a:prstGeom prst="rect">
            <a:avLst/>
          </a:prstGeom>
          <a:noFill/>
          <a:ln/>
        </p:spPr>
        <p:txBody>
          <a:bodyPr wrap="square" lIns="0" tIns="0" rIns="0" bIns="0" rtlCol="0" anchor="ctr"/>
          <a:lstStyle/>
          <a:p>
            <a:pPr indent="0" marL="0">
              <a:lnSpc>
                <a:spcPts val="4200"/>
              </a:lnSpc>
              <a:buNone/>
            </a:pPr>
            <a:r>
              <a:rPr lang="en-US" sz="3400" b="1" dirty="0">
                <a:solidFill>
                  <a:srgbClr val="FAF9F6"/>
                </a:solidFill>
                <a:latin typeface="Cambria" pitchFamily="34" charset="0"/>
                <a:ea typeface="Cambria" pitchFamily="34" charset="-122"/>
                <a:cs typeface="Cambria" pitchFamily="34" charset="-120"/>
              </a:rPr>
              <a:t>The worked artifacts:</a:t>
            </a:r>
            <a:endParaRPr lang="en-US" sz="3400" dirty="0"/>
          </a:p>
          <a:p>
            <a:pPr indent="0" marL="0">
              <a:lnSpc>
                <a:spcPts val="4200"/>
              </a:lnSpc>
              <a:buNone/>
            </a:pPr>
            <a:r>
              <a:rPr lang="en-US" sz="3400" b="1" dirty="0">
                <a:solidFill>
                  <a:srgbClr val="FAF9F6"/>
                </a:solidFill>
                <a:latin typeface="Cambria" pitchFamily="34" charset="0"/>
                <a:ea typeface="Cambria" pitchFamily="34" charset="-122"/>
                <a:cs typeface="Cambria" pitchFamily="34" charset="-120"/>
              </a:rPr>
              <a:t>what each output looks like filled in</a:t>
            </a:r>
            <a:endParaRPr lang="en-US" sz="3400" dirty="0"/>
          </a:p>
        </p:txBody>
      </p:sp>
      <p:sp>
        <p:nvSpPr>
          <p:cNvPr id="7" name="Text 5"/>
          <p:cNvSpPr/>
          <p:nvPr/>
        </p:nvSpPr>
        <p:spPr>
          <a:xfrm>
            <a:off x="822960" y="4023360"/>
            <a:ext cx="8961120" cy="1097280"/>
          </a:xfrm>
          <a:prstGeom prst="rect">
            <a:avLst/>
          </a:prstGeom>
          <a:noFill/>
          <a:ln/>
        </p:spPr>
        <p:txBody>
          <a:bodyPr wrap="square" lIns="0" tIns="0" rIns="0" bIns="0" rtlCol="0" anchor="ctr"/>
          <a:lstStyle/>
          <a:p>
            <a:pPr indent="0" marL="0">
              <a:lnSpc>
                <a:spcPts val="2100"/>
              </a:lnSpc>
              <a:buNone/>
            </a:pPr>
            <a:r>
              <a:rPr lang="en-US" sz="1400" dirty="0">
                <a:solidFill>
                  <a:srgbClr val="CFC9BD"/>
                </a:solidFill>
                <a:latin typeface="Calibri" pitchFamily="34" charset="0"/>
                <a:ea typeface="Calibri" pitchFamily="34" charset="-122"/>
                <a:cs typeface="Calibri" pitchFamily="34" charset="-120"/>
              </a:rPr>
              <a:t>You have no mandate, only an invitation. Six phases, one output each: the decisions list, the impact note, the interface conversation, the scoped as-is, the one-page target, and the backfilled decision log - each shown as it actually looks</a:t>
            </a:r>
            <a:endParaRPr lang="en-US" sz="1400" dirty="0"/>
          </a:p>
        </p:txBody>
      </p:sp>
      <p:sp>
        <p:nvSpPr>
          <p:cNvPr id="8" name="Text 6"/>
          <p:cNvSpPr/>
          <p:nvPr/>
        </p:nvSpPr>
        <p:spPr>
          <a:xfrm>
            <a:off x="822960" y="6035040"/>
            <a:ext cx="8686800" cy="274320"/>
          </a:xfrm>
          <a:prstGeom prst="rect">
            <a:avLst/>
          </a:prstGeom>
          <a:noFill/>
          <a:ln/>
        </p:spPr>
        <p:txBody>
          <a:bodyPr wrap="square" lIns="0" tIns="0" rIns="0" bIns="0" rtlCol="0" anchor="ctr"/>
          <a:lstStyle/>
          <a:p>
            <a:pPr indent="0" marL="0">
              <a:buNone/>
            </a:pPr>
            <a:r>
              <a:rPr lang="en-US" sz="1100" dirty="0">
                <a:solidFill>
                  <a:srgbClr val="8D867E"/>
                </a:solidFill>
                <a:latin typeface="Calibri" pitchFamily="34" charset="0"/>
                <a:ea typeface="Calibri" pitchFamily="34" charset="-122"/>
                <a:cs typeface="Calibri" pitchFamily="34" charset="-120"/>
              </a:rPr>
              <a:t>Companion to mehdibamou.com/publications/joining-as-the-first-architect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THE SITUATION</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Being added to a board is a hypothesis</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Within a quarter, the people around you will have settled on what you are</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sp>
        <p:nvSpPr>
          <p:cNvPr id="6" name="Shape 4"/>
          <p:cNvSpPr/>
          <p:nvPr/>
        </p:nvSpPr>
        <p:spPr>
          <a:xfrm>
            <a:off x="502920" y="1691640"/>
            <a:ext cx="3584448" cy="2926080"/>
          </a:xfrm>
          <a:prstGeom prst="roundRect">
            <a:avLst>
              <a:gd name="adj" fmla="val 2813"/>
            </a:avLst>
          </a:prstGeom>
          <a:solidFill>
            <a:srgbClr val="E3EFE7"/>
          </a:solidFill>
          <a:ln w="12700">
            <a:solidFill>
              <a:srgbClr val="9DC4AA"/>
            </a:solidFill>
            <a:prstDash val="solid"/>
          </a:ln>
        </p:spPr>
      </p:sp>
      <p:sp>
        <p:nvSpPr>
          <p:cNvPr id="7" name="Text 5"/>
          <p:cNvSpPr/>
          <p:nvPr/>
        </p:nvSpPr>
        <p:spPr>
          <a:xfrm>
            <a:off x="758952" y="1920240"/>
            <a:ext cx="3072384" cy="640080"/>
          </a:xfrm>
          <a:prstGeom prst="rect">
            <a:avLst/>
          </a:prstGeom>
          <a:noFill/>
          <a:ln/>
        </p:spPr>
        <p:txBody>
          <a:bodyPr wrap="square" lIns="0" tIns="0" rIns="0" bIns="0" rtlCol="0" anchor="ctr"/>
          <a:lstStyle/>
          <a:p>
            <a:pPr indent="0" marL="0">
              <a:buNone/>
            </a:pPr>
            <a:r>
              <a:rPr lang="en-US" sz="1700" b="1" dirty="0">
                <a:solidFill>
                  <a:srgbClr val="1C1917"/>
                </a:solidFill>
                <a:latin typeface="Cambria" pitchFamily="34" charset="0"/>
                <a:ea typeface="Cambria" pitchFamily="34" charset="-122"/>
                <a:cs typeface="Cambria" pitchFamily="34" charset="-120"/>
              </a:rPr>
              <a:t>The person who helps</a:t>
            </a:r>
            <a:endParaRPr lang="en-US" sz="1700" dirty="0"/>
          </a:p>
        </p:txBody>
      </p:sp>
      <p:sp>
        <p:nvSpPr>
          <p:cNvPr id="8" name="Text 6"/>
          <p:cNvSpPr/>
          <p:nvPr/>
        </p:nvSpPr>
        <p:spPr>
          <a:xfrm>
            <a:off x="758952" y="2651760"/>
            <a:ext cx="3017520" cy="237744"/>
          </a:xfrm>
          <a:prstGeom prst="rect">
            <a:avLst/>
          </a:prstGeom>
          <a:noFill/>
          <a:ln/>
        </p:spPr>
        <p:txBody>
          <a:bodyPr wrap="square" lIns="0" tIns="0" rIns="0" bIns="0" rtlCol="0" anchor="ctr"/>
          <a:lstStyle/>
          <a:p>
            <a:pPr indent="0" marL="0">
              <a:buNone/>
            </a:pPr>
            <a:r>
              <a:rPr lang="en-US" sz="1000" b="1" spc="200" kern="0" dirty="0">
                <a:solidFill>
                  <a:srgbClr val="7D766E"/>
                </a:solidFill>
                <a:latin typeface="Calibri" pitchFamily="34" charset="0"/>
                <a:ea typeface="Calibri" pitchFamily="34" charset="-122"/>
                <a:cs typeface="Calibri" pitchFamily="34" charset="-120"/>
              </a:rPr>
              <a:t>WHICH MEANS</a:t>
            </a:r>
            <a:endParaRPr lang="en-US" sz="1000" dirty="0"/>
          </a:p>
        </p:txBody>
      </p:sp>
      <p:sp>
        <p:nvSpPr>
          <p:cNvPr id="9" name="Text 7"/>
          <p:cNvSpPr/>
          <p:nvPr/>
        </p:nvSpPr>
        <p:spPr>
          <a:xfrm>
            <a:off x="758952" y="2889504"/>
            <a:ext cx="3072384" cy="822960"/>
          </a:xfrm>
          <a:prstGeom prst="rect">
            <a:avLst/>
          </a:prstGeom>
          <a:noFill/>
          <a:ln/>
        </p:spPr>
        <p:txBody>
          <a:bodyPr wrap="square" lIns="0" tIns="0" rIns="0" bIns="0" rtlCol="0" anchor="ctr"/>
          <a:lstStyle/>
          <a:p>
            <a:pPr indent="0" marL="0">
              <a:lnSpc>
                <a:spcPts val="1600"/>
              </a:lnSpc>
              <a:buNone/>
            </a:pPr>
            <a:r>
              <a:rPr lang="en-US" sz="1150" dirty="0">
                <a:solidFill>
                  <a:srgbClr val="57534E"/>
                </a:solidFill>
                <a:latin typeface="Calibri" pitchFamily="34" charset="0"/>
                <a:ea typeface="Calibri" pitchFamily="34" charset="-122"/>
                <a:cs typeface="Calibri" pitchFamily="34" charset="-120"/>
              </a:rPr>
              <a:t>Invited before decisions, while things are still shapeless</a:t>
            </a:r>
            <a:endParaRPr lang="en-US" sz="1150" dirty="0"/>
          </a:p>
        </p:txBody>
      </p:sp>
      <p:sp>
        <p:nvSpPr>
          <p:cNvPr id="10" name="Text 8"/>
          <p:cNvSpPr/>
          <p:nvPr/>
        </p:nvSpPr>
        <p:spPr>
          <a:xfrm>
            <a:off x="758952" y="3749040"/>
            <a:ext cx="3017520" cy="237744"/>
          </a:xfrm>
          <a:prstGeom prst="rect">
            <a:avLst/>
          </a:prstGeom>
          <a:noFill/>
          <a:ln/>
        </p:spPr>
        <p:txBody>
          <a:bodyPr wrap="square" lIns="0" tIns="0" rIns="0" bIns="0" rtlCol="0" anchor="ctr"/>
          <a:lstStyle/>
          <a:p>
            <a:pPr indent="0" marL="0">
              <a:buNone/>
            </a:pPr>
            <a:r>
              <a:rPr lang="en-US" sz="1000" b="1" spc="200" kern="0" dirty="0">
                <a:solidFill>
                  <a:srgbClr val="7D766E"/>
                </a:solidFill>
                <a:latin typeface="Calibri" pitchFamily="34" charset="0"/>
                <a:ea typeface="Calibri" pitchFamily="34" charset="-122"/>
                <a:cs typeface="Calibri" pitchFamily="34" charset="-120"/>
              </a:rPr>
              <a:t>CAUSED BY</a:t>
            </a:r>
            <a:endParaRPr lang="en-US" sz="1000" dirty="0"/>
          </a:p>
        </p:txBody>
      </p:sp>
      <p:sp>
        <p:nvSpPr>
          <p:cNvPr id="11" name="Text 9"/>
          <p:cNvSpPr/>
          <p:nvPr/>
        </p:nvSpPr>
        <p:spPr>
          <a:xfrm>
            <a:off x="758952" y="3986784"/>
            <a:ext cx="3072384" cy="548640"/>
          </a:xfrm>
          <a:prstGeom prst="rect">
            <a:avLst/>
          </a:prstGeom>
          <a:noFill/>
          <a:ln/>
        </p:spPr>
        <p:txBody>
          <a:bodyPr wrap="square" lIns="0" tIns="0" rIns="0" bIns="0" rtlCol="0" anchor="ctr"/>
          <a:lstStyle/>
          <a:p>
            <a:pPr indent="0" marL="0">
              <a:lnSpc>
                <a:spcPts val="1600"/>
              </a:lnSpc>
              <a:buNone/>
            </a:pPr>
            <a:r>
              <a:rPr lang="en-US" sz="1150" dirty="0">
                <a:solidFill>
                  <a:srgbClr val="57534E"/>
                </a:solidFill>
                <a:latin typeface="Calibri" pitchFamily="34" charset="0"/>
                <a:ea typeface="Calibri" pitchFamily="34" charset="-122"/>
                <a:cs typeface="Calibri" pitchFamily="34" charset="-120"/>
              </a:rPr>
              <a:t>Producing things people did not have to ask for</a:t>
            </a:r>
            <a:endParaRPr lang="en-US" sz="1150" dirty="0"/>
          </a:p>
        </p:txBody>
      </p:sp>
      <p:sp>
        <p:nvSpPr>
          <p:cNvPr id="12" name="Shape 10"/>
          <p:cNvSpPr/>
          <p:nvPr/>
        </p:nvSpPr>
        <p:spPr>
          <a:xfrm>
            <a:off x="4315968" y="1691640"/>
            <a:ext cx="3584448" cy="2926080"/>
          </a:xfrm>
          <a:prstGeom prst="roundRect">
            <a:avLst>
              <a:gd name="adj" fmla="val 2813"/>
            </a:avLst>
          </a:prstGeom>
          <a:solidFill>
            <a:srgbClr val="F5ECD7"/>
          </a:solidFill>
          <a:ln w="12700">
            <a:solidFill>
              <a:srgbClr val="D9BE7E"/>
            </a:solidFill>
            <a:prstDash val="solid"/>
          </a:ln>
        </p:spPr>
      </p:sp>
      <p:sp>
        <p:nvSpPr>
          <p:cNvPr id="13" name="Text 11"/>
          <p:cNvSpPr/>
          <p:nvPr/>
        </p:nvSpPr>
        <p:spPr>
          <a:xfrm>
            <a:off x="4572000" y="1920240"/>
            <a:ext cx="3072384" cy="640080"/>
          </a:xfrm>
          <a:prstGeom prst="rect">
            <a:avLst/>
          </a:prstGeom>
          <a:noFill/>
          <a:ln/>
        </p:spPr>
        <p:txBody>
          <a:bodyPr wrap="square" lIns="0" tIns="0" rIns="0" bIns="0" rtlCol="0" anchor="ctr"/>
          <a:lstStyle/>
          <a:p>
            <a:pPr indent="0" marL="0">
              <a:buNone/>
            </a:pPr>
            <a:r>
              <a:rPr lang="en-US" sz="1700" b="1" dirty="0">
                <a:solidFill>
                  <a:srgbClr val="1C1917"/>
                </a:solidFill>
                <a:latin typeface="Cambria" pitchFamily="34" charset="0"/>
                <a:ea typeface="Cambria" pitchFamily="34" charset="-122"/>
                <a:cs typeface="Cambria" pitchFamily="34" charset="-120"/>
              </a:rPr>
              <a:t>The person who reviews</a:t>
            </a:r>
            <a:endParaRPr lang="en-US" sz="1700" dirty="0"/>
          </a:p>
        </p:txBody>
      </p:sp>
      <p:sp>
        <p:nvSpPr>
          <p:cNvPr id="14" name="Text 12"/>
          <p:cNvSpPr/>
          <p:nvPr/>
        </p:nvSpPr>
        <p:spPr>
          <a:xfrm>
            <a:off x="4572000" y="2651760"/>
            <a:ext cx="3017520" cy="237744"/>
          </a:xfrm>
          <a:prstGeom prst="rect">
            <a:avLst/>
          </a:prstGeom>
          <a:noFill/>
          <a:ln/>
        </p:spPr>
        <p:txBody>
          <a:bodyPr wrap="square" lIns="0" tIns="0" rIns="0" bIns="0" rtlCol="0" anchor="ctr"/>
          <a:lstStyle/>
          <a:p>
            <a:pPr indent="0" marL="0">
              <a:buNone/>
            </a:pPr>
            <a:r>
              <a:rPr lang="en-US" sz="1000" b="1" spc="200" kern="0" dirty="0">
                <a:solidFill>
                  <a:srgbClr val="7D766E"/>
                </a:solidFill>
                <a:latin typeface="Calibri" pitchFamily="34" charset="0"/>
                <a:ea typeface="Calibri" pitchFamily="34" charset="-122"/>
                <a:cs typeface="Calibri" pitchFamily="34" charset="-120"/>
              </a:rPr>
              <a:t>WHICH MEANS</a:t>
            </a:r>
            <a:endParaRPr lang="en-US" sz="1000" dirty="0"/>
          </a:p>
        </p:txBody>
      </p:sp>
      <p:sp>
        <p:nvSpPr>
          <p:cNvPr id="15" name="Text 13"/>
          <p:cNvSpPr/>
          <p:nvPr/>
        </p:nvSpPr>
        <p:spPr>
          <a:xfrm>
            <a:off x="4572000" y="2889504"/>
            <a:ext cx="3072384" cy="822960"/>
          </a:xfrm>
          <a:prstGeom prst="rect">
            <a:avLst/>
          </a:prstGeom>
          <a:noFill/>
          <a:ln/>
        </p:spPr>
        <p:txBody>
          <a:bodyPr wrap="square" lIns="0" tIns="0" rIns="0" bIns="0" rtlCol="0" anchor="ctr"/>
          <a:lstStyle/>
          <a:p>
            <a:pPr indent="0" marL="0">
              <a:lnSpc>
                <a:spcPts val="1600"/>
              </a:lnSpc>
              <a:buNone/>
            </a:pPr>
            <a:r>
              <a:rPr lang="en-US" sz="1150" dirty="0">
                <a:solidFill>
                  <a:srgbClr val="57534E"/>
                </a:solidFill>
                <a:latin typeface="Calibri" pitchFamily="34" charset="0"/>
                <a:ea typeface="Calibri" pitchFamily="34" charset="-122"/>
                <a:cs typeface="Calibri" pitchFamily="34" charset="-120"/>
              </a:rPr>
              <a:t>Shown things once they are finished, when nothing can change</a:t>
            </a:r>
            <a:endParaRPr lang="en-US" sz="1150" dirty="0"/>
          </a:p>
        </p:txBody>
      </p:sp>
      <p:sp>
        <p:nvSpPr>
          <p:cNvPr id="16" name="Text 14"/>
          <p:cNvSpPr/>
          <p:nvPr/>
        </p:nvSpPr>
        <p:spPr>
          <a:xfrm>
            <a:off x="4572000" y="3749040"/>
            <a:ext cx="3017520" cy="237744"/>
          </a:xfrm>
          <a:prstGeom prst="rect">
            <a:avLst/>
          </a:prstGeom>
          <a:noFill/>
          <a:ln/>
        </p:spPr>
        <p:txBody>
          <a:bodyPr wrap="square" lIns="0" tIns="0" rIns="0" bIns="0" rtlCol="0" anchor="ctr"/>
          <a:lstStyle/>
          <a:p>
            <a:pPr indent="0" marL="0">
              <a:buNone/>
            </a:pPr>
            <a:r>
              <a:rPr lang="en-US" sz="1000" b="1" spc="200" kern="0" dirty="0">
                <a:solidFill>
                  <a:srgbClr val="7D766E"/>
                </a:solidFill>
                <a:latin typeface="Calibri" pitchFamily="34" charset="0"/>
                <a:ea typeface="Calibri" pitchFamily="34" charset="-122"/>
                <a:cs typeface="Calibri" pitchFamily="34" charset="-120"/>
              </a:rPr>
              <a:t>CAUSED BY</a:t>
            </a:r>
            <a:endParaRPr lang="en-US" sz="1000" dirty="0"/>
          </a:p>
        </p:txBody>
      </p:sp>
      <p:sp>
        <p:nvSpPr>
          <p:cNvPr id="17" name="Text 15"/>
          <p:cNvSpPr/>
          <p:nvPr/>
        </p:nvSpPr>
        <p:spPr>
          <a:xfrm>
            <a:off x="4572000" y="3986784"/>
            <a:ext cx="3072384" cy="548640"/>
          </a:xfrm>
          <a:prstGeom prst="rect">
            <a:avLst/>
          </a:prstGeom>
          <a:noFill/>
          <a:ln/>
        </p:spPr>
        <p:txBody>
          <a:bodyPr wrap="square" lIns="0" tIns="0" rIns="0" bIns="0" rtlCol="0" anchor="ctr"/>
          <a:lstStyle/>
          <a:p>
            <a:pPr indent="0" marL="0">
              <a:lnSpc>
                <a:spcPts val="1600"/>
              </a:lnSpc>
              <a:buNone/>
            </a:pPr>
            <a:r>
              <a:rPr lang="en-US" sz="1150" dirty="0">
                <a:solidFill>
                  <a:srgbClr val="57534E"/>
                </a:solidFill>
                <a:latin typeface="Calibri" pitchFamily="34" charset="0"/>
                <a:ea typeface="Calibri" pitchFamily="34" charset="-122"/>
                <a:cs typeface="Calibri" pitchFamily="34" charset="-120"/>
              </a:rPr>
              <a:t>Commenting on work rather than contributing to it</a:t>
            </a:r>
            <a:endParaRPr lang="en-US" sz="1150" dirty="0"/>
          </a:p>
        </p:txBody>
      </p:sp>
      <p:sp>
        <p:nvSpPr>
          <p:cNvPr id="18" name="Shape 16"/>
          <p:cNvSpPr/>
          <p:nvPr/>
        </p:nvSpPr>
        <p:spPr>
          <a:xfrm>
            <a:off x="8129016" y="1691640"/>
            <a:ext cx="3584448" cy="2926080"/>
          </a:xfrm>
          <a:prstGeom prst="roundRect">
            <a:avLst>
              <a:gd name="adj" fmla="val 2813"/>
            </a:avLst>
          </a:prstGeom>
          <a:solidFill>
            <a:srgbClr val="F2E4E0"/>
          </a:solidFill>
          <a:ln w="12700">
            <a:solidFill>
              <a:srgbClr val="C9998C"/>
            </a:solidFill>
            <a:prstDash val="solid"/>
          </a:ln>
        </p:spPr>
      </p:sp>
      <p:sp>
        <p:nvSpPr>
          <p:cNvPr id="19" name="Text 17"/>
          <p:cNvSpPr/>
          <p:nvPr/>
        </p:nvSpPr>
        <p:spPr>
          <a:xfrm>
            <a:off x="8385048" y="1920240"/>
            <a:ext cx="3072384" cy="640080"/>
          </a:xfrm>
          <a:prstGeom prst="rect">
            <a:avLst/>
          </a:prstGeom>
          <a:noFill/>
          <a:ln/>
        </p:spPr>
        <p:txBody>
          <a:bodyPr wrap="square" lIns="0" tIns="0" rIns="0" bIns="0" rtlCol="0" anchor="ctr"/>
          <a:lstStyle/>
          <a:p>
            <a:pPr indent="0" marL="0">
              <a:buNone/>
            </a:pPr>
            <a:r>
              <a:rPr lang="en-US" sz="1700" b="1" dirty="0">
                <a:solidFill>
                  <a:srgbClr val="1C1917"/>
                </a:solidFill>
                <a:latin typeface="Cambria" pitchFamily="34" charset="0"/>
                <a:ea typeface="Cambria" pitchFamily="34" charset="-122"/>
                <a:cs typeface="Cambria" pitchFamily="34" charset="-120"/>
              </a:rPr>
              <a:t>The person who slows things down</a:t>
            </a:r>
            <a:endParaRPr lang="en-US" sz="1700" dirty="0"/>
          </a:p>
        </p:txBody>
      </p:sp>
      <p:sp>
        <p:nvSpPr>
          <p:cNvPr id="20" name="Text 18"/>
          <p:cNvSpPr/>
          <p:nvPr/>
        </p:nvSpPr>
        <p:spPr>
          <a:xfrm>
            <a:off x="8385048" y="2651760"/>
            <a:ext cx="3017520" cy="237744"/>
          </a:xfrm>
          <a:prstGeom prst="rect">
            <a:avLst/>
          </a:prstGeom>
          <a:noFill/>
          <a:ln/>
        </p:spPr>
        <p:txBody>
          <a:bodyPr wrap="square" lIns="0" tIns="0" rIns="0" bIns="0" rtlCol="0" anchor="ctr"/>
          <a:lstStyle/>
          <a:p>
            <a:pPr indent="0" marL="0">
              <a:buNone/>
            </a:pPr>
            <a:r>
              <a:rPr lang="en-US" sz="1000" b="1" spc="200" kern="0" dirty="0">
                <a:solidFill>
                  <a:srgbClr val="7D766E"/>
                </a:solidFill>
                <a:latin typeface="Calibri" pitchFamily="34" charset="0"/>
                <a:ea typeface="Calibri" pitchFamily="34" charset="-122"/>
                <a:cs typeface="Calibri" pitchFamily="34" charset="-120"/>
              </a:rPr>
              <a:t>WHICH MEANS</a:t>
            </a:r>
            <a:endParaRPr lang="en-US" sz="1000" dirty="0"/>
          </a:p>
        </p:txBody>
      </p:sp>
      <p:sp>
        <p:nvSpPr>
          <p:cNvPr id="21" name="Text 19"/>
          <p:cNvSpPr/>
          <p:nvPr/>
        </p:nvSpPr>
        <p:spPr>
          <a:xfrm>
            <a:off x="8385048" y="2889504"/>
            <a:ext cx="3072384" cy="822960"/>
          </a:xfrm>
          <a:prstGeom prst="rect">
            <a:avLst/>
          </a:prstGeom>
          <a:noFill/>
          <a:ln/>
        </p:spPr>
        <p:txBody>
          <a:bodyPr wrap="square" lIns="0" tIns="0" rIns="0" bIns="0" rtlCol="0" anchor="ctr"/>
          <a:lstStyle/>
          <a:p>
            <a:pPr indent="0" marL="0">
              <a:lnSpc>
                <a:spcPts val="1600"/>
              </a:lnSpc>
              <a:buNone/>
            </a:pPr>
            <a:r>
              <a:rPr lang="en-US" sz="1150" dirty="0">
                <a:solidFill>
                  <a:srgbClr val="57534E"/>
                </a:solidFill>
                <a:latin typeface="Calibri" pitchFamily="34" charset="0"/>
                <a:ea typeface="Calibri" pitchFamily="34" charset="-122"/>
                <a:cs typeface="Calibri" pitchFamily="34" charset="-120"/>
              </a:rPr>
              <a:t>Routed around, politely, and told afterwards</a:t>
            </a:r>
            <a:endParaRPr lang="en-US" sz="1150" dirty="0"/>
          </a:p>
        </p:txBody>
      </p:sp>
      <p:sp>
        <p:nvSpPr>
          <p:cNvPr id="22" name="Text 20"/>
          <p:cNvSpPr/>
          <p:nvPr/>
        </p:nvSpPr>
        <p:spPr>
          <a:xfrm>
            <a:off x="8385048" y="3749040"/>
            <a:ext cx="3017520" cy="237744"/>
          </a:xfrm>
          <a:prstGeom prst="rect">
            <a:avLst/>
          </a:prstGeom>
          <a:noFill/>
          <a:ln/>
        </p:spPr>
        <p:txBody>
          <a:bodyPr wrap="square" lIns="0" tIns="0" rIns="0" bIns="0" rtlCol="0" anchor="ctr"/>
          <a:lstStyle/>
          <a:p>
            <a:pPr indent="0" marL="0">
              <a:buNone/>
            </a:pPr>
            <a:r>
              <a:rPr lang="en-US" sz="1000" b="1" spc="200" kern="0" dirty="0">
                <a:solidFill>
                  <a:srgbClr val="7D766E"/>
                </a:solidFill>
                <a:latin typeface="Calibri" pitchFamily="34" charset="0"/>
                <a:ea typeface="Calibri" pitchFamily="34" charset="-122"/>
                <a:cs typeface="Calibri" pitchFamily="34" charset="-120"/>
              </a:rPr>
              <a:t>CAUSED BY</a:t>
            </a:r>
            <a:endParaRPr lang="en-US" sz="1000" dirty="0"/>
          </a:p>
        </p:txBody>
      </p:sp>
      <p:sp>
        <p:nvSpPr>
          <p:cNvPr id="23" name="Text 21"/>
          <p:cNvSpPr/>
          <p:nvPr/>
        </p:nvSpPr>
        <p:spPr>
          <a:xfrm>
            <a:off x="8385048" y="3986784"/>
            <a:ext cx="3072384" cy="548640"/>
          </a:xfrm>
          <a:prstGeom prst="rect">
            <a:avLst/>
          </a:prstGeom>
          <a:noFill/>
          <a:ln/>
        </p:spPr>
        <p:txBody>
          <a:bodyPr wrap="square" lIns="0" tIns="0" rIns="0" bIns="0" rtlCol="0" anchor="ctr"/>
          <a:lstStyle/>
          <a:p>
            <a:pPr indent="0" marL="0">
              <a:lnSpc>
                <a:spcPts val="1600"/>
              </a:lnSpc>
              <a:buNone/>
            </a:pPr>
            <a:r>
              <a:rPr lang="en-US" sz="1150" dirty="0">
                <a:solidFill>
                  <a:srgbClr val="57534E"/>
                </a:solidFill>
                <a:latin typeface="Calibri" pitchFamily="34" charset="0"/>
                <a:ea typeface="Calibri" pitchFamily="34" charset="-122"/>
                <a:cs typeface="Calibri" pitchFamily="34" charset="-120"/>
              </a:rPr>
              <a:t>Claiming authority nobody granted, usually via process</a:t>
            </a:r>
            <a:endParaRPr lang="en-US" sz="1150" dirty="0"/>
          </a:p>
        </p:txBody>
      </p:sp>
      <p:sp>
        <p:nvSpPr>
          <p:cNvPr id="24" name="Shape 22"/>
          <p:cNvSpPr/>
          <p:nvPr/>
        </p:nvSpPr>
        <p:spPr>
          <a:xfrm>
            <a:off x="502920" y="4937760"/>
            <a:ext cx="11247120" cy="1371600"/>
          </a:xfrm>
          <a:prstGeom prst="roundRect">
            <a:avLst>
              <a:gd name="adj" fmla="val 6000"/>
            </a:avLst>
          </a:prstGeom>
          <a:solidFill>
            <a:srgbClr val="FFFFFF"/>
          </a:solidFill>
          <a:ln w="12700">
            <a:solidFill>
              <a:srgbClr val="E4E0D7"/>
            </a:solidFill>
            <a:prstDash val="solid"/>
          </a:ln>
        </p:spPr>
      </p:sp>
      <p:sp>
        <p:nvSpPr>
          <p:cNvPr id="25" name="Text 23"/>
          <p:cNvSpPr/>
          <p:nvPr/>
        </p:nvSpPr>
        <p:spPr>
          <a:xfrm>
            <a:off x="822960" y="5138928"/>
            <a:ext cx="5486400" cy="237744"/>
          </a:xfrm>
          <a:prstGeom prst="rect">
            <a:avLst/>
          </a:prstGeom>
          <a:noFill/>
          <a:ln/>
        </p:spPr>
        <p:txBody>
          <a:bodyPr wrap="square" lIns="0" tIns="0" rIns="0" bIns="0" rtlCol="0" anchor="ctr"/>
          <a:lstStyle/>
          <a:p>
            <a:pPr indent="0" marL="0">
              <a:buNone/>
            </a:pPr>
            <a:r>
              <a:rPr lang="en-US" sz="1000" b="1" spc="200" kern="0" dirty="0">
                <a:solidFill>
                  <a:srgbClr val="14606B"/>
                </a:solidFill>
                <a:latin typeface="Calibri" pitchFamily="34" charset="0"/>
                <a:ea typeface="Calibri" pitchFamily="34" charset="-122"/>
                <a:cs typeface="Calibri" pitchFamily="34" charset="-120"/>
              </a:rPr>
              <a:t>NOBODY DECIDES THIS FORMALLY</a:t>
            </a:r>
            <a:endParaRPr lang="en-US" sz="1000" dirty="0"/>
          </a:p>
        </p:txBody>
      </p:sp>
      <p:sp>
        <p:nvSpPr>
          <p:cNvPr id="26" name="Text 24"/>
          <p:cNvSpPr/>
          <p:nvPr/>
        </p:nvSpPr>
        <p:spPr>
          <a:xfrm>
            <a:off x="822960" y="5431536"/>
            <a:ext cx="10607040" cy="822960"/>
          </a:xfrm>
          <a:prstGeom prst="rect">
            <a:avLst/>
          </a:prstGeom>
          <a:noFill/>
          <a:ln/>
        </p:spPr>
        <p:txBody>
          <a:bodyPr wrap="square" lIns="0" tIns="0" rIns="0" bIns="0" rtlCol="0" anchor="ctr"/>
          <a:lstStyle/>
          <a:p>
            <a:pPr indent="0" marL="0">
              <a:lnSpc>
                <a:spcPts val="1800"/>
              </a:lnSpc>
              <a:buNone/>
            </a:pPr>
            <a:r>
              <a:rPr lang="en-US" sz="1300" dirty="0">
                <a:solidFill>
                  <a:srgbClr val="57534E"/>
                </a:solidFill>
                <a:latin typeface="Calibri" pitchFamily="34" charset="0"/>
                <a:ea typeface="Calibri" pitchFamily="34" charset="-122"/>
                <a:cs typeface="Calibri" pitchFamily="34" charset="-120"/>
              </a:rPr>
              <a:t>It settles through accumulated small experiences, which makes it far easier to set than to change. Everything on the next slides is about which of the three you become by day ninety.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THE INVERSION</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Start with the work in flight, not the landscape</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The instinct is to map first. The instinct is wrong in this situation</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sp>
        <p:nvSpPr>
          <p:cNvPr id="6" name="Shape 4"/>
          <p:cNvSpPr/>
          <p:nvPr/>
        </p:nvSpPr>
        <p:spPr>
          <a:xfrm>
            <a:off x="502920" y="1691640"/>
            <a:ext cx="5532120" cy="2286000"/>
          </a:xfrm>
          <a:prstGeom prst="roundRect">
            <a:avLst>
              <a:gd name="adj" fmla="val 3600"/>
            </a:avLst>
          </a:prstGeom>
          <a:solidFill>
            <a:srgbClr val="F2E4E0"/>
          </a:solidFill>
          <a:ln w="12700">
            <a:solidFill>
              <a:srgbClr val="C9998C"/>
            </a:solidFill>
            <a:prstDash val="dash"/>
          </a:ln>
        </p:spPr>
      </p:sp>
      <p:sp>
        <p:nvSpPr>
          <p:cNvPr id="7" name="Text 5"/>
          <p:cNvSpPr/>
          <p:nvPr/>
        </p:nvSpPr>
        <p:spPr>
          <a:xfrm>
            <a:off x="777240" y="1901952"/>
            <a:ext cx="4572000" cy="237744"/>
          </a:xfrm>
          <a:prstGeom prst="rect">
            <a:avLst/>
          </a:prstGeom>
          <a:noFill/>
          <a:ln/>
        </p:spPr>
        <p:txBody>
          <a:bodyPr wrap="square" lIns="0" tIns="0" rIns="0" bIns="0" rtlCol="0" anchor="ctr"/>
          <a:lstStyle/>
          <a:p>
            <a:pPr indent="0" marL="0">
              <a:buNone/>
            </a:pPr>
            <a:r>
              <a:rPr lang="en-US" sz="1000" b="1" spc="200" kern="0" dirty="0">
                <a:solidFill>
                  <a:srgbClr val="9A4A3A"/>
                </a:solidFill>
                <a:latin typeface="Calibri" pitchFamily="34" charset="0"/>
                <a:ea typeface="Calibri" pitchFamily="34" charset="-122"/>
                <a:cs typeface="Calibri" pitchFamily="34" charset="-120"/>
              </a:rPr>
              <a:t>THE INSTINCT</a:t>
            </a:r>
            <a:endParaRPr lang="en-US" sz="1000" dirty="0"/>
          </a:p>
        </p:txBody>
      </p:sp>
      <p:sp>
        <p:nvSpPr>
          <p:cNvPr id="8" name="Text 6"/>
          <p:cNvSpPr/>
          <p:nvPr/>
        </p:nvSpPr>
        <p:spPr>
          <a:xfrm>
            <a:off x="777240" y="2157984"/>
            <a:ext cx="4983480" cy="365760"/>
          </a:xfrm>
          <a:prstGeom prst="rect">
            <a:avLst/>
          </a:prstGeom>
          <a:noFill/>
          <a:ln/>
        </p:spPr>
        <p:txBody>
          <a:bodyPr wrap="square" lIns="0" tIns="0" rIns="0" bIns="0" rtlCol="0" anchor="ctr"/>
          <a:lstStyle/>
          <a:p>
            <a:pPr indent="0" marL="0">
              <a:buNone/>
            </a:pPr>
            <a:r>
              <a:rPr lang="en-US" sz="1900" b="1" dirty="0">
                <a:solidFill>
                  <a:srgbClr val="1C1917"/>
                </a:solidFill>
                <a:latin typeface="Cambria" pitchFamily="34" charset="0"/>
                <a:ea typeface="Cambria" pitchFamily="34" charset="-122"/>
                <a:cs typeface="Cambria" pitchFamily="34" charset="-120"/>
              </a:rPr>
              <a:t>Map the estate first</a:t>
            </a:r>
            <a:endParaRPr lang="en-US" sz="1900" dirty="0"/>
          </a:p>
        </p:txBody>
      </p:sp>
      <p:sp>
        <p:nvSpPr>
          <p:cNvPr id="9" name="Text 7"/>
          <p:cNvSpPr/>
          <p:nvPr/>
        </p:nvSpPr>
        <p:spPr>
          <a:xfrm>
            <a:off x="777240" y="2615184"/>
            <a:ext cx="4983480" cy="1234440"/>
          </a:xfrm>
          <a:prstGeom prst="rect">
            <a:avLst/>
          </a:prstGeom>
          <a:noFill/>
          <a:ln/>
        </p:spPr>
        <p:txBody>
          <a:bodyPr wrap="square" lIns="0" tIns="0" rIns="0" bIns="0" rtlCol="0" anchor="ctr"/>
          <a:lstStyle/>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Six weeks, four hundred applications, obsolete on delivery. You were absent while five decisions were taken, and you have proven only that you can make a list.</a:t>
            </a:r>
            <a:endParaRPr lang="en-US" sz="1200" dirty="0"/>
          </a:p>
        </p:txBody>
      </p:sp>
      <p:sp>
        <p:nvSpPr>
          <p:cNvPr id="10" name="Shape 8"/>
          <p:cNvSpPr/>
          <p:nvPr/>
        </p:nvSpPr>
        <p:spPr>
          <a:xfrm>
            <a:off x="6309360" y="1691640"/>
            <a:ext cx="5440680" cy="2286000"/>
          </a:xfrm>
          <a:prstGeom prst="roundRect">
            <a:avLst>
              <a:gd name="adj" fmla="val 3600"/>
            </a:avLst>
          </a:prstGeom>
          <a:solidFill>
            <a:srgbClr val="E3EFE7"/>
          </a:solidFill>
          <a:ln w="12700">
            <a:solidFill>
              <a:srgbClr val="9DC4AA"/>
            </a:solidFill>
            <a:prstDash val="solid"/>
          </a:ln>
        </p:spPr>
      </p:sp>
      <p:sp>
        <p:nvSpPr>
          <p:cNvPr id="11" name="Text 9"/>
          <p:cNvSpPr/>
          <p:nvPr/>
        </p:nvSpPr>
        <p:spPr>
          <a:xfrm>
            <a:off x="6583680" y="1901952"/>
            <a:ext cx="4572000" cy="237744"/>
          </a:xfrm>
          <a:prstGeom prst="rect">
            <a:avLst/>
          </a:prstGeom>
          <a:noFill/>
          <a:ln/>
        </p:spPr>
        <p:txBody>
          <a:bodyPr wrap="square" lIns="0" tIns="0" rIns="0" bIns="0" rtlCol="0" anchor="ctr"/>
          <a:lstStyle/>
          <a:p>
            <a:pPr indent="0" marL="0">
              <a:buNone/>
            </a:pPr>
            <a:r>
              <a:rPr lang="en-US" sz="1000" b="1" spc="200" kern="0" dirty="0">
                <a:solidFill>
                  <a:srgbClr val="2F7D4F"/>
                </a:solidFill>
                <a:latin typeface="Calibri" pitchFamily="34" charset="0"/>
                <a:ea typeface="Calibri" pitchFamily="34" charset="-122"/>
                <a:cs typeface="Calibri" pitchFamily="34" charset="-120"/>
              </a:rPr>
              <a:t>WHAT WORKS</a:t>
            </a:r>
            <a:endParaRPr lang="en-US" sz="1000" dirty="0"/>
          </a:p>
        </p:txBody>
      </p:sp>
      <p:sp>
        <p:nvSpPr>
          <p:cNvPr id="12" name="Text 10"/>
          <p:cNvSpPr/>
          <p:nvPr/>
        </p:nvSpPr>
        <p:spPr>
          <a:xfrm>
            <a:off x="6583680" y="2157984"/>
            <a:ext cx="4892040" cy="365760"/>
          </a:xfrm>
          <a:prstGeom prst="rect">
            <a:avLst/>
          </a:prstGeom>
          <a:noFill/>
          <a:ln/>
        </p:spPr>
        <p:txBody>
          <a:bodyPr wrap="square" lIns="0" tIns="0" rIns="0" bIns="0" rtlCol="0" anchor="ctr"/>
          <a:lstStyle/>
          <a:p>
            <a:pPr indent="0" marL="0">
              <a:buNone/>
            </a:pPr>
            <a:r>
              <a:rPr lang="en-US" sz="1900" b="1" dirty="0">
                <a:solidFill>
                  <a:srgbClr val="1C1917"/>
                </a:solidFill>
                <a:latin typeface="Cambria" pitchFamily="34" charset="0"/>
                <a:ea typeface="Cambria" pitchFamily="34" charset="-122"/>
                <a:cs typeface="Cambria" pitchFamily="34" charset="-120"/>
              </a:rPr>
              <a:t>Follow the work in flight</a:t>
            </a:r>
            <a:endParaRPr lang="en-US" sz="1900" dirty="0"/>
          </a:p>
        </p:txBody>
      </p:sp>
      <p:sp>
        <p:nvSpPr>
          <p:cNvPr id="13" name="Text 11"/>
          <p:cNvSpPr/>
          <p:nvPr/>
        </p:nvSpPr>
        <p:spPr>
          <a:xfrm>
            <a:off x="6583680" y="2615184"/>
            <a:ext cx="4892040" cy="1234440"/>
          </a:xfrm>
          <a:prstGeom prst="rect">
            <a:avLst/>
          </a:prstGeom>
          <a:noFill/>
          <a:ln/>
        </p:spPr>
        <p:txBody>
          <a:bodyPr wrap="square" lIns="0" tIns="0" rIns="0" bIns="0" rtlCol="0" anchor="ctr"/>
          <a:lstStyle/>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The work is about to change the landscape, so it tells you which part matters. You arrive where money is being committed, in month one, with something people can use.</a:t>
            </a:r>
            <a:endParaRPr lang="en-US" sz="1200" dirty="0"/>
          </a:p>
        </p:txBody>
      </p:sp>
      <p:sp>
        <p:nvSpPr>
          <p:cNvPr id="14" name="Shape 12"/>
          <p:cNvSpPr/>
          <p:nvPr/>
        </p:nvSpPr>
        <p:spPr>
          <a:xfrm>
            <a:off x="502920" y="4206240"/>
            <a:ext cx="11247120" cy="1234440"/>
          </a:xfrm>
          <a:prstGeom prst="roundRect">
            <a:avLst>
              <a:gd name="adj" fmla="val 6667"/>
            </a:avLst>
          </a:prstGeom>
          <a:solidFill>
            <a:srgbClr val="E7EFEE"/>
          </a:solidFill>
          <a:ln w="12700">
            <a:solidFill>
              <a:srgbClr val="BFD4D2"/>
            </a:solidFill>
            <a:prstDash val="solid"/>
          </a:ln>
        </p:spPr>
      </p:sp>
      <p:sp>
        <p:nvSpPr>
          <p:cNvPr id="15" name="Text 13"/>
          <p:cNvSpPr/>
          <p:nvPr/>
        </p:nvSpPr>
        <p:spPr>
          <a:xfrm>
            <a:off x="822960" y="4407408"/>
            <a:ext cx="6400800" cy="237744"/>
          </a:xfrm>
          <a:prstGeom prst="rect">
            <a:avLst/>
          </a:prstGeom>
          <a:noFill/>
          <a:ln/>
        </p:spPr>
        <p:txBody>
          <a:bodyPr wrap="square" lIns="0" tIns="0" rIns="0" bIns="0" rtlCol="0" anchor="ctr"/>
          <a:lstStyle/>
          <a:p>
            <a:pPr indent="0" marL="0">
              <a:buNone/>
            </a:pPr>
            <a:r>
              <a:rPr lang="en-US" sz="1000" b="1" spc="200" kern="0" dirty="0">
                <a:solidFill>
                  <a:srgbClr val="14606B"/>
                </a:solidFill>
                <a:latin typeface="Calibri" pitchFamily="34" charset="0"/>
                <a:ea typeface="Calibri" pitchFamily="34" charset="-122"/>
                <a:cs typeface="Calibri" pitchFamily="34" charset="-120"/>
              </a:rPr>
              <a:t>THIS DOES NOT CONTRADICT LANDSCAPE DUE DILIGENCE</a:t>
            </a:r>
            <a:endParaRPr lang="en-US" sz="1000" dirty="0"/>
          </a:p>
        </p:txBody>
      </p:sp>
      <p:sp>
        <p:nvSpPr>
          <p:cNvPr id="16" name="Text 14"/>
          <p:cNvSpPr/>
          <p:nvPr/>
        </p:nvSpPr>
        <p:spPr>
          <a:xfrm>
            <a:off x="822960" y="4681728"/>
            <a:ext cx="10607040" cy="685800"/>
          </a:xfrm>
          <a:prstGeom prst="rect">
            <a:avLst/>
          </a:prstGeom>
          <a:noFill/>
          <a:ln/>
        </p:spPr>
        <p:txBody>
          <a:bodyPr wrap="square" lIns="0" tIns="0" rIns="0" bIns="0" rtlCol="0" anchor="ctr"/>
          <a:lstStyle/>
          <a:p>
            <a:pPr indent="0" marL="0">
              <a:lnSpc>
                <a:spcPts val="1700"/>
              </a:lnSpc>
              <a:buNone/>
            </a:pPr>
            <a:r>
              <a:rPr lang="en-US" sz="1250" dirty="0">
                <a:solidFill>
                  <a:srgbClr val="57534E"/>
                </a:solidFill>
                <a:latin typeface="Calibri" pitchFamily="34" charset="0"/>
                <a:ea typeface="Calibri" pitchFamily="34" charset="-122"/>
                <a:cs typeface="Calibri" pitchFamily="34" charset="-120"/>
              </a:rPr>
              <a:t>Due diligence is what you do when you have been asked to know the estate. Here nobody has asked you for anything. The mandate arrives later, and the work in flight is how you earn it.</a:t>
            </a:r>
            <a:endParaRPr lang="en-US" sz="1250" dirty="0"/>
          </a:p>
        </p:txBody>
      </p:sp>
      <p:sp>
        <p:nvSpPr>
          <p:cNvPr id="17" name="Shape 15"/>
          <p:cNvSpPr/>
          <p:nvPr/>
        </p:nvSpPr>
        <p:spPr>
          <a:xfrm>
            <a:off x="502920" y="5623560"/>
            <a:ext cx="11247120" cy="685800"/>
          </a:xfrm>
          <a:prstGeom prst="roundRect">
            <a:avLst>
              <a:gd name="adj" fmla="val 12000"/>
            </a:avLst>
          </a:prstGeom>
          <a:solidFill>
            <a:srgbClr val="1C1917"/>
          </a:solidFill>
          <a:ln w="12700">
            <a:solidFill>
              <a:srgbClr val="1C1917"/>
            </a:solidFill>
            <a:prstDash val="solid"/>
          </a:ln>
        </p:spPr>
      </p:sp>
      <p:sp>
        <p:nvSpPr>
          <p:cNvPr id="18" name="Text 16"/>
          <p:cNvSpPr/>
          <p:nvPr/>
        </p:nvSpPr>
        <p:spPr>
          <a:xfrm>
            <a:off x="822960" y="5815584"/>
            <a:ext cx="10607040" cy="365760"/>
          </a:xfrm>
          <a:prstGeom prst="rect">
            <a:avLst/>
          </a:prstGeom>
          <a:noFill/>
          <a:ln/>
        </p:spPr>
        <p:txBody>
          <a:bodyPr wrap="square" lIns="0" tIns="0" rIns="0" bIns="0" rtlCol="0" anchor="ctr"/>
          <a:lstStyle/>
          <a:p>
            <a:pPr indent="0" marL="0">
              <a:buNone/>
            </a:pPr>
            <a:r>
              <a:rPr lang="en-US" sz="1350" dirty="0">
                <a:solidFill>
                  <a:srgbClr val="CFC9BD"/>
                </a:solidFill>
                <a:latin typeface="Calibri" pitchFamily="34" charset="0"/>
                <a:ea typeface="Calibri" pitchFamily="34" charset="-122"/>
                <a:cs typeface="Calibri" pitchFamily="34" charset="-120"/>
              </a:rPr>
              <a:t>The landscape is not the thing you are hired to know. It is the thing the work is about to change.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THE PLAN</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Six phases, one output each</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And one thing you deliberately do not do</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11247120" cy="914400"/>
        </p:xfrm>
        <a:graphic>
          <a:graphicData uri="http://schemas.openxmlformats.org/drawingml/2006/table">
            <a:tbl>
              <a:tblPr/>
              <a:tblGrid>
                <a:gridCol w="1371600"/>
                <a:gridCol w="4206240"/>
                <a:gridCol w="3108960"/>
                <a:gridCol w="2560320"/>
              </a:tblGrid>
              <a:tr h="56692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Phase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Do</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Output</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Do not</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r>
              <a:tr h="566928">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Days 1-5</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Read every workstream, epic, and thirty days of comments. One conversation with the PM who invited you</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Five decisions in flight, who takes each, and when</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Offer an opinion in week one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Days 6-15</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Write an impact note on the nearest irreversible decision</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One page, to the PM and the workstream lead</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Copy anyone senior</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r h="566928">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Days 16-30</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Ask the integration team for the interface list, not the architecture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A landscape sketch derived from interfaces</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Ask them to fill in a template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Days 31-45</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Build the as-is scoped to what the work touches, plus one ring out</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Around thirty applications, owners, interfaces</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Publish it as "the architecture"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r h="566928">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Days 46-60</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Write a target for one area, at a horizon matching a real decision</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One page, agreed with the area owner</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Write an estate-wide target</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Days 61-90</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Seed the decision log with what was already decided</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Eight to ten records, one field on the intake form</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Stand up an architecture board</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bl>
          </a:graphicData>
        </a:graphic>
      </p:graphicFrame>
      <p:sp>
        <p:nvSpPr>
          <p:cNvPr id="7" name="Shape 4"/>
          <p:cNvSpPr/>
          <p:nvPr/>
        </p:nvSpPr>
        <p:spPr>
          <a:xfrm>
            <a:off x="502920" y="5623560"/>
            <a:ext cx="11247120" cy="685800"/>
          </a:xfrm>
          <a:prstGeom prst="roundRect">
            <a:avLst>
              <a:gd name="adj" fmla="val 12000"/>
            </a:avLst>
          </a:prstGeom>
          <a:solidFill>
            <a:srgbClr val="E7EFEE"/>
          </a:solidFill>
          <a:ln w="12700">
            <a:solidFill>
              <a:srgbClr val="BFD4D2"/>
            </a:solidFill>
            <a:prstDash val="solid"/>
          </a:ln>
        </p:spPr>
      </p:sp>
      <p:sp>
        <p:nvSpPr>
          <p:cNvPr id="8" name="Text 5"/>
          <p:cNvSpPr/>
          <p:nvPr/>
        </p:nvSpPr>
        <p:spPr>
          <a:xfrm>
            <a:off x="822960" y="5815584"/>
            <a:ext cx="10607040" cy="365760"/>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The right-hand column is the harder discipline. Every item in it is something a competent architect wants to do, and each one is a month too early.</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ARTIFACT ONE</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The impact note, worked</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Days 6 to 15. One page. No recommendation, no verdict. A gift has to be declinable</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sp>
        <p:nvSpPr>
          <p:cNvPr id="6" name="Shape 4"/>
          <p:cNvSpPr/>
          <p:nvPr/>
        </p:nvSpPr>
        <p:spPr>
          <a:xfrm>
            <a:off x="502920" y="1536192"/>
            <a:ext cx="6949440" cy="4818888"/>
          </a:xfrm>
          <a:prstGeom prst="roundRect">
            <a:avLst>
              <a:gd name="adj" fmla="val 1708"/>
            </a:avLst>
          </a:prstGeom>
          <a:solidFill>
            <a:srgbClr val="FFFFFF"/>
          </a:solidFill>
          <a:ln w="12700">
            <a:solidFill>
              <a:srgbClr val="14606B"/>
            </a:solidFill>
            <a:prstDash val="solid"/>
          </a:ln>
        </p:spPr>
      </p:sp>
      <p:sp>
        <p:nvSpPr>
          <p:cNvPr id="7" name="Text 5"/>
          <p:cNvSpPr/>
          <p:nvPr/>
        </p:nvSpPr>
        <p:spPr>
          <a:xfrm>
            <a:off x="777240" y="1700784"/>
            <a:ext cx="3657600" cy="237744"/>
          </a:xfrm>
          <a:prstGeom prst="rect">
            <a:avLst/>
          </a:prstGeom>
          <a:noFill/>
          <a:ln/>
        </p:spPr>
        <p:txBody>
          <a:bodyPr wrap="square" lIns="0" tIns="0" rIns="0" bIns="0" rtlCol="0" anchor="ctr"/>
          <a:lstStyle/>
          <a:p>
            <a:pPr indent="0" marL="0">
              <a:buNone/>
            </a:pPr>
            <a:r>
              <a:rPr lang="en-US" sz="1050" b="1" spc="200" kern="0" dirty="0">
                <a:solidFill>
                  <a:srgbClr val="14606B"/>
                </a:solidFill>
                <a:latin typeface="Calibri" pitchFamily="34" charset="0"/>
                <a:ea typeface="Calibri" pitchFamily="34" charset="-122"/>
                <a:cs typeface="Calibri" pitchFamily="34" charset="-120"/>
              </a:rPr>
              <a:t>IMP-001</a:t>
            </a:r>
            <a:endParaRPr lang="en-US" sz="1050" dirty="0"/>
          </a:p>
        </p:txBody>
      </p:sp>
      <p:sp>
        <p:nvSpPr>
          <p:cNvPr id="8" name="Text 6"/>
          <p:cNvSpPr/>
          <p:nvPr/>
        </p:nvSpPr>
        <p:spPr>
          <a:xfrm>
            <a:off x="777240" y="1920240"/>
            <a:ext cx="6400800" cy="457200"/>
          </a:xfrm>
          <a:prstGeom prst="rect">
            <a:avLst/>
          </a:prstGeom>
          <a:noFill/>
          <a:ln/>
        </p:spPr>
        <p:txBody>
          <a:bodyPr wrap="square" lIns="0" tIns="0" rIns="0" bIns="0" rtlCol="0" anchor="ctr"/>
          <a:lstStyle/>
          <a:p>
            <a:pPr indent="0" marL="0">
              <a:lnSpc>
                <a:spcPts val="1900"/>
              </a:lnSpc>
              <a:buNone/>
            </a:pPr>
            <a:r>
              <a:rPr lang="en-US" sz="1500" b="1" dirty="0">
                <a:solidFill>
                  <a:srgbClr val="1C1917"/>
                </a:solidFill>
                <a:latin typeface="Cambria" pitchFamily="34" charset="0"/>
                <a:ea typeface="Cambria" pitchFamily="34" charset="-122"/>
                <a:cs typeface="Cambria" pitchFamily="34" charset="-120"/>
              </a:rPr>
              <a:t>Warehouse system replacement, market one: what the shortlist touches</a:t>
            </a:r>
            <a:endParaRPr lang="en-US" sz="1500" dirty="0"/>
          </a:p>
        </p:txBody>
      </p:sp>
      <p:sp>
        <p:nvSpPr>
          <p:cNvPr id="9" name="Text 7"/>
          <p:cNvSpPr/>
          <p:nvPr/>
        </p:nvSpPr>
        <p:spPr>
          <a:xfrm>
            <a:off x="777240" y="2377440"/>
            <a:ext cx="6400800" cy="219456"/>
          </a:xfrm>
          <a:prstGeom prst="rect">
            <a:avLst/>
          </a:prstGeom>
          <a:noFill/>
          <a:ln/>
        </p:spPr>
        <p:txBody>
          <a:bodyPr wrap="square" lIns="0" tIns="0" rIns="0" bIns="0" rtlCol="0" anchor="ctr"/>
          <a:lstStyle/>
          <a:p>
            <a:pPr indent="0" marL="0">
              <a:buNone/>
            </a:pPr>
            <a:r>
              <a:rPr lang="en-US" sz="1000" i="1" dirty="0">
                <a:solidFill>
                  <a:srgbClr val="7D766E"/>
                </a:solidFill>
                <a:latin typeface="Calibri" pitchFamily="34" charset="0"/>
                <a:ea typeface="Calibri" pitchFamily="34" charset="-122"/>
                <a:cs typeface="Calibri" pitchFamily="34" charset="-120"/>
              </a:rPr>
              <a:t>To the project manager and the market IT lead. Nobody senior copied.</a:t>
            </a:r>
            <a:endParaRPr lang="en-US" sz="1000" dirty="0"/>
          </a:p>
        </p:txBody>
      </p:sp>
      <p:sp>
        <p:nvSpPr>
          <p:cNvPr id="10" name="Text 8"/>
          <p:cNvSpPr/>
          <p:nvPr/>
        </p:nvSpPr>
        <p:spPr>
          <a:xfrm>
            <a:off x="777240" y="2670048"/>
            <a:ext cx="6400800" cy="237744"/>
          </a:xfrm>
          <a:prstGeom prst="rect">
            <a:avLst/>
          </a:prstGeom>
          <a:noFill/>
          <a:ln/>
        </p:spPr>
        <p:txBody>
          <a:bodyPr wrap="square" lIns="0" tIns="0" rIns="0" bIns="0" rtlCol="0" anchor="ctr"/>
          <a:lstStyle/>
          <a:p>
            <a:pPr indent="0" marL="0">
              <a:buNone/>
            </a:pPr>
            <a:r>
              <a:rPr lang="en-US" sz="1000" b="1" spc="200" kern="0" dirty="0">
                <a:solidFill>
                  <a:srgbClr val="14606B"/>
                </a:solidFill>
                <a:latin typeface="Calibri" pitchFamily="34" charset="0"/>
                <a:ea typeface="Calibri" pitchFamily="34" charset="-122"/>
                <a:cs typeface="Calibri" pitchFamily="34" charset="-120"/>
              </a:rPr>
              <a:t>WHAT THIS TOUCHES</a:t>
            </a:r>
            <a:endParaRPr lang="en-US" sz="1000" dirty="0"/>
          </a:p>
        </p:txBody>
      </p:sp>
      <p:sp>
        <p:nvSpPr>
          <p:cNvPr id="11" name="Text 9"/>
          <p:cNvSpPr/>
          <p:nvPr/>
        </p:nvSpPr>
        <p:spPr>
          <a:xfrm>
            <a:off x="777240" y="2907792"/>
            <a:ext cx="6400800" cy="621792"/>
          </a:xfrm>
          <a:prstGeom prst="rect">
            <a:avLst/>
          </a:prstGeom>
          <a:noFill/>
          <a:ln/>
        </p:spPr>
        <p:txBody>
          <a:bodyPr wrap="square" lIns="0" tIns="0" rIns="0" bIns="0" rtlCol="0" anchor="ctr"/>
          <a:lstStyle/>
          <a:p>
            <a:pPr indent="0" marL="0">
              <a:lnSpc>
                <a:spcPts val="1500"/>
              </a:lnSpc>
              <a:buNone/>
            </a:pPr>
            <a:r>
              <a:rPr lang="en-US" sz="1100" dirty="0">
                <a:solidFill>
                  <a:srgbClr val="57534E"/>
                </a:solidFill>
                <a:latin typeface="Calibri" pitchFamily="34" charset="0"/>
                <a:ea typeface="Calibri" pitchFamily="34" charset="-122"/>
                <a:cs typeface="Calibri" pitchFamily="34" charset="-120"/>
              </a:rPr>
              <a:t>Four applications beyond the warehouse system itself: the core (stock movements), the transport tool (dispatch), the data platform (reporting), and the market labelling tool, which is not on the project's list.</a:t>
            </a:r>
            <a:endParaRPr lang="en-US" sz="1100" dirty="0"/>
          </a:p>
        </p:txBody>
      </p:sp>
      <p:sp>
        <p:nvSpPr>
          <p:cNvPr id="12" name="Text 10"/>
          <p:cNvSpPr/>
          <p:nvPr/>
        </p:nvSpPr>
        <p:spPr>
          <a:xfrm>
            <a:off x="777240" y="3529584"/>
            <a:ext cx="6400800" cy="237744"/>
          </a:xfrm>
          <a:prstGeom prst="rect">
            <a:avLst/>
          </a:prstGeom>
          <a:noFill/>
          <a:ln/>
        </p:spPr>
        <p:txBody>
          <a:bodyPr wrap="square" lIns="0" tIns="0" rIns="0" bIns="0" rtlCol="0" anchor="ctr"/>
          <a:lstStyle/>
          <a:p>
            <a:pPr indent="0" marL="0">
              <a:buNone/>
            </a:pPr>
            <a:r>
              <a:rPr lang="en-US" sz="1000" b="1" spc="200" kern="0" dirty="0">
                <a:solidFill>
                  <a:srgbClr val="14606B"/>
                </a:solidFill>
                <a:latin typeface="Calibri" pitchFamily="34" charset="0"/>
                <a:ea typeface="Calibri" pitchFamily="34" charset="-122"/>
                <a:cs typeface="Calibri" pitchFamily="34" charset="-120"/>
              </a:rPr>
              <a:t>WHO ELSE IS AFFECTED</a:t>
            </a:r>
            <a:endParaRPr lang="en-US" sz="1000" dirty="0"/>
          </a:p>
        </p:txBody>
      </p:sp>
      <p:sp>
        <p:nvSpPr>
          <p:cNvPr id="13" name="Text 11"/>
          <p:cNvSpPr/>
          <p:nvPr/>
        </p:nvSpPr>
        <p:spPr>
          <a:xfrm>
            <a:off x="777240" y="3767328"/>
            <a:ext cx="6400800" cy="621792"/>
          </a:xfrm>
          <a:prstGeom prst="rect">
            <a:avLst/>
          </a:prstGeom>
          <a:noFill/>
          <a:ln/>
        </p:spPr>
        <p:txBody>
          <a:bodyPr wrap="square" lIns="0" tIns="0" rIns="0" bIns="0" rtlCol="0" anchor="ctr"/>
          <a:lstStyle/>
          <a:p>
            <a:pPr indent="0" marL="0">
              <a:lnSpc>
                <a:spcPts val="1500"/>
              </a:lnSpc>
              <a:buNone/>
            </a:pPr>
            <a:r>
              <a:rPr lang="en-US" sz="1100" dirty="0">
                <a:solidFill>
                  <a:srgbClr val="57534E"/>
                </a:solidFill>
                <a:latin typeface="Calibri" pitchFamily="34" charset="0"/>
                <a:ea typeface="Calibri" pitchFamily="34" charset="-122"/>
                <a:cs typeface="Calibri" pitchFamily="34" charset="-120"/>
              </a:rPr>
              <a:t>Two markets consuming the same stock feed, neither represented in this workstream. Both feed owners named.</a:t>
            </a:r>
            <a:endParaRPr lang="en-US" sz="1100" dirty="0"/>
          </a:p>
        </p:txBody>
      </p:sp>
      <p:sp>
        <p:nvSpPr>
          <p:cNvPr id="14" name="Text 12"/>
          <p:cNvSpPr/>
          <p:nvPr/>
        </p:nvSpPr>
        <p:spPr>
          <a:xfrm>
            <a:off x="777240" y="4389120"/>
            <a:ext cx="6400800" cy="237744"/>
          </a:xfrm>
          <a:prstGeom prst="rect">
            <a:avLst/>
          </a:prstGeom>
          <a:noFill/>
          <a:ln/>
        </p:spPr>
        <p:txBody>
          <a:bodyPr wrap="square" lIns="0" tIns="0" rIns="0" bIns="0" rtlCol="0" anchor="ctr"/>
          <a:lstStyle/>
          <a:p>
            <a:pPr indent="0" marL="0">
              <a:buNone/>
            </a:pPr>
            <a:r>
              <a:rPr lang="en-US" sz="1000" b="1" spc="200" kern="0" dirty="0">
                <a:solidFill>
                  <a:srgbClr val="14606B"/>
                </a:solidFill>
                <a:latin typeface="Calibri" pitchFamily="34" charset="0"/>
                <a:ea typeface="Calibri" pitchFamily="34" charset="-122"/>
                <a:cs typeface="Calibri" pitchFamily="34" charset="-120"/>
              </a:rPr>
              <a:t>WHAT BREAKS IF IT GOES AHEAD AS DRAWN</a:t>
            </a:r>
            <a:endParaRPr lang="en-US" sz="1000" dirty="0"/>
          </a:p>
        </p:txBody>
      </p:sp>
      <p:sp>
        <p:nvSpPr>
          <p:cNvPr id="15" name="Text 13"/>
          <p:cNvSpPr/>
          <p:nvPr/>
        </p:nvSpPr>
        <p:spPr>
          <a:xfrm>
            <a:off x="777240" y="4626864"/>
            <a:ext cx="6400800" cy="621792"/>
          </a:xfrm>
          <a:prstGeom prst="rect">
            <a:avLst/>
          </a:prstGeom>
          <a:noFill/>
          <a:ln/>
        </p:spPr>
        <p:txBody>
          <a:bodyPr wrap="square" lIns="0" tIns="0" rIns="0" bIns="0" rtlCol="0" anchor="ctr"/>
          <a:lstStyle/>
          <a:p>
            <a:pPr indent="0" marL="0">
              <a:lnSpc>
                <a:spcPts val="1500"/>
              </a:lnSpc>
              <a:buNone/>
            </a:pPr>
            <a:r>
              <a:rPr lang="en-US" sz="1100" dirty="0">
                <a:solidFill>
                  <a:srgbClr val="57534E"/>
                </a:solidFill>
                <a:latin typeface="Calibri" pitchFamily="34" charset="0"/>
                <a:ea typeface="Calibri" pitchFamily="34" charset="-122"/>
                <a:cs typeface="Calibri" pitchFamily="34" charset="-120"/>
              </a:rPr>
              <a:t>The current stock feed is a nightly file with no schema. Both shortlisted products expect events. Whoever wins, somebody rebuilds that feed, and it is not in either quote.</a:t>
            </a:r>
            <a:endParaRPr lang="en-US" sz="1100" dirty="0"/>
          </a:p>
        </p:txBody>
      </p:sp>
      <p:sp>
        <p:nvSpPr>
          <p:cNvPr id="16" name="Text 14"/>
          <p:cNvSpPr/>
          <p:nvPr/>
        </p:nvSpPr>
        <p:spPr>
          <a:xfrm>
            <a:off x="777240" y="5248656"/>
            <a:ext cx="6400800" cy="237744"/>
          </a:xfrm>
          <a:prstGeom prst="rect">
            <a:avLst/>
          </a:prstGeom>
          <a:noFill/>
          <a:ln/>
        </p:spPr>
        <p:txBody>
          <a:bodyPr wrap="square" lIns="0" tIns="0" rIns="0" bIns="0" rtlCol="0" anchor="ctr"/>
          <a:lstStyle/>
          <a:p>
            <a:pPr indent="0" marL="0">
              <a:buNone/>
            </a:pPr>
            <a:r>
              <a:rPr lang="en-US" sz="1000" b="1" spc="200" kern="0" dirty="0">
                <a:solidFill>
                  <a:srgbClr val="14606B"/>
                </a:solidFill>
                <a:latin typeface="Calibri" pitchFamily="34" charset="0"/>
                <a:ea typeface="Calibri" pitchFamily="34" charset="-122"/>
                <a:cs typeface="Calibri" pitchFamily="34" charset="-120"/>
              </a:rPr>
              <a:t>WHAT I WOULD WANT TO KNOW BEFORE DECIDING</a:t>
            </a:r>
            <a:endParaRPr lang="en-US" sz="1000" dirty="0"/>
          </a:p>
        </p:txBody>
      </p:sp>
      <p:sp>
        <p:nvSpPr>
          <p:cNvPr id="17" name="Text 15"/>
          <p:cNvSpPr/>
          <p:nvPr/>
        </p:nvSpPr>
        <p:spPr>
          <a:xfrm>
            <a:off x="777240" y="5486400"/>
            <a:ext cx="6400800" cy="621792"/>
          </a:xfrm>
          <a:prstGeom prst="rect">
            <a:avLst/>
          </a:prstGeom>
          <a:noFill/>
          <a:ln/>
        </p:spPr>
        <p:txBody>
          <a:bodyPr wrap="square" lIns="0" tIns="0" rIns="0" bIns="0" rtlCol="0" anchor="ctr"/>
          <a:lstStyle/>
          <a:p>
            <a:pPr indent="0" marL="0">
              <a:lnSpc>
                <a:spcPts val="1500"/>
              </a:lnSpc>
              <a:buNone/>
            </a:pPr>
            <a:r>
              <a:rPr lang="en-US" sz="1100" dirty="0">
                <a:solidFill>
                  <a:srgbClr val="57534E"/>
                </a:solidFill>
                <a:latin typeface="Calibri" pitchFamily="34" charset="0"/>
                <a:ea typeface="Calibri" pitchFamily="34" charset="-122"/>
                <a:cs typeface="Calibri" pitchFamily="34" charset="-120"/>
              </a:rPr>
              <a:t>Whether either can consume a file on the existing schedule during transition, because that decides whether the feed rebuild is on the critical path or follows in a later wave.</a:t>
            </a:r>
            <a:endParaRPr lang="en-US" sz="1100" dirty="0"/>
          </a:p>
        </p:txBody>
      </p:sp>
      <p:sp>
        <p:nvSpPr>
          <p:cNvPr id="18" name="Text 16"/>
          <p:cNvSpPr/>
          <p:nvPr/>
        </p:nvSpPr>
        <p:spPr>
          <a:xfrm>
            <a:off x="777240" y="5989320"/>
            <a:ext cx="6400800" cy="274320"/>
          </a:xfrm>
          <a:prstGeom prst="rect">
            <a:avLst/>
          </a:prstGeom>
          <a:noFill/>
          <a:ln/>
        </p:spPr>
        <p:txBody>
          <a:bodyPr wrap="square" lIns="0" tIns="0" rIns="0" bIns="0" rtlCol="0" anchor="ctr"/>
          <a:lstStyle/>
          <a:p>
            <a:pPr indent="0" marL="0">
              <a:lnSpc>
                <a:spcPts val="1500"/>
              </a:lnSpc>
              <a:buNone/>
            </a:pPr>
            <a:r>
              <a:rPr lang="en-US" sz="1100" b="1" dirty="0">
                <a:solidFill>
                  <a:srgbClr val="14606B"/>
                </a:solidFill>
                <a:latin typeface="Calibri" pitchFamily="34" charset="0"/>
                <a:ea typeface="Calibri" pitchFamily="34" charset="-122"/>
                <a:cs typeface="Calibri" pitchFamily="34" charset="-120"/>
              </a:rPr>
              <a:t>I have no authority here and no view on which option is better. Do with this what you like.</a:t>
            </a:r>
            <a:endParaRPr lang="en-US" sz="1100" dirty="0"/>
          </a:p>
        </p:txBody>
      </p:sp>
      <p:sp>
        <p:nvSpPr>
          <p:cNvPr id="19" name="Shape 17"/>
          <p:cNvSpPr/>
          <p:nvPr/>
        </p:nvSpPr>
        <p:spPr>
          <a:xfrm>
            <a:off x="7726680" y="1536192"/>
            <a:ext cx="4023360" cy="2194560"/>
          </a:xfrm>
          <a:prstGeom prst="roundRect">
            <a:avLst>
              <a:gd name="adj" fmla="val 3750"/>
            </a:avLst>
          </a:prstGeom>
          <a:solidFill>
            <a:srgbClr val="E3EFE7"/>
          </a:solidFill>
          <a:ln w="12700">
            <a:solidFill>
              <a:srgbClr val="9DC4AA"/>
            </a:solidFill>
            <a:prstDash val="solid"/>
          </a:ln>
        </p:spPr>
      </p:sp>
      <p:sp>
        <p:nvSpPr>
          <p:cNvPr id="20" name="Text 18"/>
          <p:cNvSpPr/>
          <p:nvPr/>
        </p:nvSpPr>
        <p:spPr>
          <a:xfrm>
            <a:off x="8001000" y="1737360"/>
            <a:ext cx="3474720" cy="237744"/>
          </a:xfrm>
          <a:prstGeom prst="rect">
            <a:avLst/>
          </a:prstGeom>
          <a:noFill/>
          <a:ln/>
        </p:spPr>
        <p:txBody>
          <a:bodyPr wrap="square" lIns="0" tIns="0" rIns="0" bIns="0" rtlCol="0" anchor="ctr"/>
          <a:lstStyle/>
          <a:p>
            <a:pPr indent="0" marL="0">
              <a:buNone/>
            </a:pPr>
            <a:r>
              <a:rPr lang="en-US" sz="1000" b="1" spc="200" kern="0" dirty="0">
                <a:solidFill>
                  <a:srgbClr val="2F7D4F"/>
                </a:solidFill>
                <a:latin typeface="Calibri" pitchFamily="34" charset="0"/>
                <a:ea typeface="Calibri" pitchFamily="34" charset="-122"/>
                <a:cs typeface="Calibri" pitchFamily="34" charset="-120"/>
              </a:rPr>
              <a:t>WHAT IT DID</a:t>
            </a:r>
            <a:endParaRPr lang="en-US" sz="1000" dirty="0"/>
          </a:p>
        </p:txBody>
      </p:sp>
      <p:sp>
        <p:nvSpPr>
          <p:cNvPr id="21" name="Text 19"/>
          <p:cNvSpPr/>
          <p:nvPr/>
        </p:nvSpPr>
        <p:spPr>
          <a:xfrm>
            <a:off x="8001000" y="2002536"/>
            <a:ext cx="3474720" cy="1600200"/>
          </a:xfrm>
          <a:prstGeom prst="rect">
            <a:avLst/>
          </a:prstGeom>
          <a:noFill/>
          <a:ln/>
        </p:spPr>
        <p:txBody>
          <a:bodyPr wrap="square" lIns="0" tIns="0" rIns="0" bIns="0" rtlCol="0" anchor="ctr"/>
          <a:lstStyle/>
          <a:p>
            <a:pPr indent="0" marL="0">
              <a:lnSpc>
                <a:spcPts val="1600"/>
              </a:lnSpc>
              <a:buNone/>
            </a:pPr>
            <a:r>
              <a:rPr lang="en-US" sz="1150" dirty="0">
                <a:solidFill>
                  <a:srgbClr val="57534E"/>
                </a:solidFill>
                <a:latin typeface="Calibri" pitchFamily="34" charset="0"/>
                <a:ea typeface="Calibri" pitchFamily="34" charset="-122"/>
                <a:cs typeface="Calibri" pitchFamily="34" charset="-120"/>
              </a:rPr>
              <a:t>Surfaced a cost neither bid contained. It was forwarded to both vendors. The outcome that mattered was not the note - it was an invitation to a different workstream two months later.</a:t>
            </a:r>
            <a:endParaRPr lang="en-US" sz="1150" dirty="0"/>
          </a:p>
        </p:txBody>
      </p:sp>
      <p:sp>
        <p:nvSpPr>
          <p:cNvPr id="22" name="Shape 20"/>
          <p:cNvSpPr/>
          <p:nvPr/>
        </p:nvSpPr>
        <p:spPr>
          <a:xfrm>
            <a:off x="7726680" y="3913632"/>
            <a:ext cx="4023360" cy="2441448"/>
          </a:xfrm>
          <a:prstGeom prst="roundRect">
            <a:avLst>
              <a:gd name="adj" fmla="val 3371"/>
            </a:avLst>
          </a:prstGeom>
          <a:solidFill>
            <a:srgbClr val="F5ECD7"/>
          </a:solidFill>
          <a:ln w="12700">
            <a:solidFill>
              <a:srgbClr val="D9BE7E"/>
            </a:solidFill>
            <a:prstDash val="solid"/>
          </a:ln>
        </p:spPr>
      </p:sp>
      <p:sp>
        <p:nvSpPr>
          <p:cNvPr id="23" name="Text 21"/>
          <p:cNvSpPr/>
          <p:nvPr/>
        </p:nvSpPr>
        <p:spPr>
          <a:xfrm>
            <a:off x="8001000" y="4114800"/>
            <a:ext cx="3474720" cy="237744"/>
          </a:xfrm>
          <a:prstGeom prst="rect">
            <a:avLst/>
          </a:prstGeom>
          <a:noFill/>
          <a:ln/>
        </p:spPr>
        <p:txBody>
          <a:bodyPr wrap="square" lIns="0" tIns="0" rIns="0" bIns="0" rtlCol="0" anchor="ctr"/>
          <a:lstStyle/>
          <a:p>
            <a:pPr indent="0" marL="0">
              <a:buNone/>
            </a:pPr>
            <a:r>
              <a:rPr lang="en-US" sz="1000" b="1" spc="200" kern="0" dirty="0">
                <a:solidFill>
                  <a:srgbClr val="B98A2E"/>
                </a:solidFill>
                <a:latin typeface="Calibri" pitchFamily="34" charset="0"/>
                <a:ea typeface="Calibri" pitchFamily="34" charset="-122"/>
                <a:cs typeface="Calibri" pitchFamily="34" charset="-120"/>
              </a:rPr>
              <a:t>WHY NO RECOMMENDATION</a:t>
            </a:r>
            <a:endParaRPr lang="en-US" sz="1000" dirty="0"/>
          </a:p>
        </p:txBody>
      </p:sp>
      <p:sp>
        <p:nvSpPr>
          <p:cNvPr id="24" name="Text 22"/>
          <p:cNvSpPr/>
          <p:nvPr/>
        </p:nvSpPr>
        <p:spPr>
          <a:xfrm>
            <a:off x="8001000" y="4379976"/>
            <a:ext cx="3474720" cy="1828800"/>
          </a:xfrm>
          <a:prstGeom prst="rect">
            <a:avLst/>
          </a:prstGeom>
          <a:noFill/>
          <a:ln/>
        </p:spPr>
        <p:txBody>
          <a:bodyPr wrap="square" lIns="0" tIns="0" rIns="0" bIns="0" rtlCol="0" anchor="ctr"/>
          <a:lstStyle/>
          <a:p>
            <a:pPr indent="0" marL="0">
              <a:lnSpc>
                <a:spcPts val="1600"/>
              </a:lnSpc>
              <a:buNone/>
            </a:pPr>
            <a:r>
              <a:rPr lang="en-US" sz="1150" dirty="0">
                <a:solidFill>
                  <a:srgbClr val="57534E"/>
                </a:solidFill>
                <a:latin typeface="Calibri" pitchFamily="34" charset="0"/>
                <a:ea typeface="Calibri" pitchFamily="34" charset="-122"/>
                <a:cs typeface="Calibri" pitchFamily="34" charset="-120"/>
              </a:rPr>
              <a:t>A recommendation is a claim to authority. A list of what a decision touches is a fact, and facts survive without a mandate. You are giving them something they can act on or ignore, which is the only offer available to you in month one.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ARTIFACT TWO</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The interface list, and the five questions</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Days 16 to 30. Ninety minutes here beats six weeks of collection</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6949440" cy="914400"/>
        </p:xfrm>
        <a:graphic>
          <a:graphicData uri="http://schemas.openxmlformats.org/drawingml/2006/table">
            <a:tbl>
              <a:tblPr/>
              <a:tblGrid>
                <a:gridCol w="3017520"/>
                <a:gridCol w="3931920"/>
              </a:tblGrid>
              <a:tr h="62179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Ask</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gives you</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r>
              <a:tr h="621792">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What talks to what, and is there a list?</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An application inventory and an object list at once. Every interface has two real endpoints and a payload</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621792">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Which of these break most often?</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The truest quality signal in the building, available in ninety seconds</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r h="621792">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Which would you rebuild first, given the time?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Their technical debt priority, usually better informed than anybody else's</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621792">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What are people asking you to build right now?</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The work in flight seen from underneath, including projects you had not heard of</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r h="621792">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What do you keep refusing, and why?</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The undocumented principles. The refusals are where the real rules already live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bl>
          </a:graphicData>
        </a:graphic>
      </p:graphicFrame>
      <p:sp>
        <p:nvSpPr>
          <p:cNvPr id="7" name="Shape 4"/>
          <p:cNvSpPr/>
          <p:nvPr/>
        </p:nvSpPr>
        <p:spPr>
          <a:xfrm>
            <a:off x="7726680" y="1600200"/>
            <a:ext cx="4023360" cy="2194560"/>
          </a:xfrm>
          <a:prstGeom prst="roundRect">
            <a:avLst>
              <a:gd name="adj" fmla="val 3750"/>
            </a:avLst>
          </a:prstGeom>
          <a:solidFill>
            <a:srgbClr val="E7EFEE"/>
          </a:solidFill>
          <a:ln w="12700">
            <a:solidFill>
              <a:srgbClr val="BFD4D2"/>
            </a:solidFill>
            <a:prstDash val="solid"/>
          </a:ln>
        </p:spPr>
      </p:sp>
      <p:sp>
        <p:nvSpPr>
          <p:cNvPr id="8" name="Text 5"/>
          <p:cNvSpPr/>
          <p:nvPr/>
        </p:nvSpPr>
        <p:spPr>
          <a:xfrm>
            <a:off x="8001000" y="1801368"/>
            <a:ext cx="3474720" cy="237744"/>
          </a:xfrm>
          <a:prstGeom prst="rect">
            <a:avLst/>
          </a:prstGeom>
          <a:noFill/>
          <a:ln/>
        </p:spPr>
        <p:txBody>
          <a:bodyPr wrap="square" lIns="0" tIns="0" rIns="0" bIns="0" rtlCol="0" anchor="ctr"/>
          <a:lstStyle/>
          <a:p>
            <a:pPr indent="0" marL="0">
              <a:buNone/>
            </a:pPr>
            <a:r>
              <a:rPr lang="en-US" sz="1000" b="1" spc="200" kern="0" dirty="0">
                <a:solidFill>
                  <a:srgbClr val="14606B"/>
                </a:solidFill>
                <a:latin typeface="Calibri" pitchFamily="34" charset="0"/>
                <a:ea typeface="Calibri" pitchFamily="34" charset="-122"/>
                <a:cs typeface="Calibri" pitchFamily="34" charset="-120"/>
              </a:rPr>
              <a:t>WHAT THE LIST IS, ALL AT ONCE</a:t>
            </a:r>
            <a:endParaRPr lang="en-US" sz="1000" dirty="0"/>
          </a:p>
        </p:txBody>
      </p:sp>
      <p:sp>
        <p:nvSpPr>
          <p:cNvPr id="9" name="Text 6"/>
          <p:cNvSpPr/>
          <p:nvPr/>
        </p:nvSpPr>
        <p:spPr>
          <a:xfrm>
            <a:off x="8001000" y="2066544"/>
            <a:ext cx="3474720" cy="1645920"/>
          </a:xfrm>
          <a:prstGeom prst="rect">
            <a:avLst/>
          </a:prstGeom>
          <a:noFill/>
          <a:ln/>
        </p:spPr>
        <p:txBody>
          <a:bodyPr wrap="square" lIns="0" tIns="0" rIns="0" bIns="0" rtlCol="0" anchor="ctr"/>
          <a:lstStyle/>
          <a:p>
            <a:pPr indent="0" marL="0">
              <a:lnSpc>
                <a:spcPts val="1600"/>
              </a:lnSpc>
              <a:buNone/>
            </a:pPr>
            <a:r>
              <a:rPr lang="en-US" sz="1150" dirty="0">
                <a:solidFill>
                  <a:srgbClr val="57534E"/>
                </a:solidFill>
                <a:latin typeface="Calibri" pitchFamily="34" charset="0"/>
                <a:ea typeface="Calibri" pitchFamily="34" charset="-122"/>
                <a:cs typeface="Calibri" pitchFamily="34" charset="-120"/>
              </a:rPr>
              <a:t>An application inventory. An object list. An ownership map - somebody gets called when each one breaks. And a pain map. Four artifacts you would otherwise spend a quarter collecting.</a:t>
            </a:r>
            <a:endParaRPr lang="en-US" sz="1150" dirty="0"/>
          </a:p>
        </p:txBody>
      </p:sp>
      <p:sp>
        <p:nvSpPr>
          <p:cNvPr id="10" name="Shape 7"/>
          <p:cNvSpPr/>
          <p:nvPr/>
        </p:nvSpPr>
        <p:spPr>
          <a:xfrm>
            <a:off x="7726680" y="3977640"/>
            <a:ext cx="4023360" cy="2240280"/>
          </a:xfrm>
          <a:prstGeom prst="roundRect">
            <a:avLst>
              <a:gd name="adj" fmla="val 3673"/>
            </a:avLst>
          </a:prstGeom>
          <a:solidFill>
            <a:srgbClr val="F5ECD7"/>
          </a:solidFill>
          <a:ln w="12700">
            <a:solidFill>
              <a:srgbClr val="D9BE7E"/>
            </a:solidFill>
            <a:prstDash val="solid"/>
          </a:ln>
        </p:spPr>
      </p:sp>
      <p:sp>
        <p:nvSpPr>
          <p:cNvPr id="11" name="Text 8"/>
          <p:cNvSpPr/>
          <p:nvPr/>
        </p:nvSpPr>
        <p:spPr>
          <a:xfrm>
            <a:off x="8001000" y="4178808"/>
            <a:ext cx="3474720" cy="237744"/>
          </a:xfrm>
          <a:prstGeom prst="rect">
            <a:avLst/>
          </a:prstGeom>
          <a:noFill/>
          <a:ln/>
        </p:spPr>
        <p:txBody>
          <a:bodyPr wrap="square" lIns="0" tIns="0" rIns="0" bIns="0" rtlCol="0" anchor="ctr"/>
          <a:lstStyle/>
          <a:p>
            <a:pPr indent="0" marL="0">
              <a:buNone/>
            </a:pPr>
            <a:r>
              <a:rPr lang="en-US" sz="1000" b="1" spc="200" kern="0" dirty="0">
                <a:solidFill>
                  <a:srgbClr val="B98A2E"/>
                </a:solidFill>
                <a:latin typeface="Calibri" pitchFamily="34" charset="0"/>
                <a:ea typeface="Calibri" pitchFamily="34" charset="-122"/>
                <a:cs typeface="Calibri" pitchFamily="34" charset="-120"/>
              </a:rPr>
              <a:t>THE TRADE</a:t>
            </a:r>
            <a:endParaRPr lang="en-US" sz="1000" dirty="0"/>
          </a:p>
        </p:txBody>
      </p:sp>
      <p:sp>
        <p:nvSpPr>
          <p:cNvPr id="12" name="Text 9"/>
          <p:cNvSpPr/>
          <p:nvPr/>
        </p:nvSpPr>
        <p:spPr>
          <a:xfrm>
            <a:off x="8001000" y="4443984"/>
            <a:ext cx="3474720" cy="1645920"/>
          </a:xfrm>
          <a:prstGeom prst="rect">
            <a:avLst/>
          </a:prstGeom>
          <a:noFill/>
          <a:ln/>
        </p:spPr>
        <p:txBody>
          <a:bodyPr wrap="square" lIns="0" tIns="0" rIns="0" bIns="0" rtlCol="0" anchor="ctr"/>
          <a:lstStyle/>
          <a:p>
            <a:pPr indent="0" marL="0">
              <a:lnSpc>
                <a:spcPts val="1600"/>
              </a:lnSpc>
              <a:buNone/>
            </a:pPr>
            <a:r>
              <a:rPr lang="en-US" sz="1150" dirty="0">
                <a:solidFill>
                  <a:srgbClr val="57534E"/>
                </a:solidFill>
                <a:latin typeface="Calibri" pitchFamily="34" charset="0"/>
                <a:ea typeface="Calibri" pitchFamily="34" charset="-122"/>
                <a:cs typeface="Calibri" pitchFamily="34" charset="-120"/>
              </a:rPr>
              <a:t>Come back within a fortnight with something they can use. A relationship where you only extract does not survive month three, and this is the team you will need most in year two.</a:t>
            </a:r>
            <a:endParaRPr lang="en-US" sz="1150" dirty="0"/>
          </a:p>
        </p:txBody>
      </p:sp>
      <p:sp>
        <p:nvSpPr>
          <p:cNvPr id="13" name="Shape 10"/>
          <p:cNvSpPr/>
          <p:nvPr/>
        </p:nvSpPr>
        <p:spPr>
          <a:xfrm>
            <a:off x="502920" y="5623560"/>
            <a:ext cx="6949440" cy="658368"/>
          </a:xfrm>
          <a:prstGeom prst="roundRect">
            <a:avLst>
              <a:gd name="adj" fmla="val 12500"/>
            </a:avLst>
          </a:prstGeom>
          <a:solidFill>
            <a:srgbClr val="1C1917"/>
          </a:solidFill>
          <a:ln w="12700">
            <a:solidFill>
              <a:srgbClr val="1C1917"/>
            </a:solidFill>
            <a:prstDash val="solid"/>
          </a:ln>
        </p:spPr>
      </p:sp>
      <p:sp>
        <p:nvSpPr>
          <p:cNvPr id="14" name="Text 11"/>
          <p:cNvSpPr/>
          <p:nvPr/>
        </p:nvSpPr>
        <p:spPr>
          <a:xfrm>
            <a:off x="777240" y="5797296"/>
            <a:ext cx="6400800" cy="365760"/>
          </a:xfrm>
          <a:prstGeom prst="rect">
            <a:avLst/>
          </a:prstGeom>
          <a:noFill/>
          <a:ln/>
        </p:spPr>
        <p:txBody>
          <a:bodyPr wrap="square" lIns="0" tIns="0" rIns="0" bIns="0" rtlCol="0" anchor="ctr"/>
          <a:lstStyle/>
          <a:p>
            <a:pPr indent="0" marL="0">
              <a:buNone/>
            </a:pPr>
            <a:r>
              <a:rPr lang="en-US" sz="1250" dirty="0">
                <a:solidFill>
                  <a:srgbClr val="CFC9BD"/>
                </a:solidFill>
                <a:latin typeface="Calibri" pitchFamily="34" charset="0"/>
                <a:ea typeface="Calibri" pitchFamily="34" charset="-122"/>
                <a:cs typeface="Calibri" pitchFamily="34" charset="-120"/>
              </a:rPr>
              <a:t>Ask for the list, not the architecture. The list exists. The architecture does not.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ARTIFACT THREE</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The as-is, scoped</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Days 31 to 45. Only what the work in flight touches, plus one ring out</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sp>
        <p:nvSpPr>
          <p:cNvPr id="6" name="Shape 4"/>
          <p:cNvSpPr/>
          <p:nvPr/>
        </p:nvSpPr>
        <p:spPr>
          <a:xfrm>
            <a:off x="502920" y="1627632"/>
            <a:ext cx="5532120" cy="1737360"/>
          </a:xfrm>
          <a:prstGeom prst="roundRect">
            <a:avLst>
              <a:gd name="adj" fmla="val 4737"/>
            </a:avLst>
          </a:prstGeom>
          <a:solidFill>
            <a:srgbClr val="FFFFFF"/>
          </a:solidFill>
          <a:ln w="12700">
            <a:solidFill>
              <a:srgbClr val="E4E0D7"/>
            </a:solidFill>
            <a:prstDash val="solid"/>
          </a:ln>
        </p:spPr>
      </p:sp>
      <p:sp>
        <p:nvSpPr>
          <p:cNvPr id="7" name="Text 5"/>
          <p:cNvSpPr/>
          <p:nvPr/>
        </p:nvSpPr>
        <p:spPr>
          <a:xfrm>
            <a:off x="777240" y="1810512"/>
            <a:ext cx="4572000" cy="237744"/>
          </a:xfrm>
          <a:prstGeom prst="rect">
            <a:avLst/>
          </a:prstGeom>
          <a:noFill/>
          <a:ln/>
        </p:spPr>
        <p:txBody>
          <a:bodyPr wrap="square" lIns="0" tIns="0" rIns="0" bIns="0" rtlCol="0" anchor="ctr"/>
          <a:lstStyle/>
          <a:p>
            <a:pPr indent="0" marL="0">
              <a:buNone/>
            </a:pPr>
            <a:r>
              <a:rPr lang="en-US" sz="1000" b="1" spc="200" kern="0" dirty="0">
                <a:solidFill>
                  <a:srgbClr val="14606B"/>
                </a:solidFill>
                <a:latin typeface="Calibri" pitchFamily="34" charset="0"/>
                <a:ea typeface="Calibri" pitchFamily="34" charset="-122"/>
                <a:cs typeface="Calibri" pitchFamily="34" charset="-120"/>
              </a:rPr>
              <a:t>THE SCOPING RULE</a:t>
            </a:r>
            <a:endParaRPr lang="en-US" sz="1000" dirty="0"/>
          </a:p>
        </p:txBody>
      </p:sp>
      <p:sp>
        <p:nvSpPr>
          <p:cNvPr id="8" name="Text 6"/>
          <p:cNvSpPr/>
          <p:nvPr/>
        </p:nvSpPr>
        <p:spPr>
          <a:xfrm>
            <a:off x="777240" y="2066544"/>
            <a:ext cx="4983480" cy="1188720"/>
          </a:xfrm>
          <a:prstGeom prst="rect">
            <a:avLst/>
          </a:prstGeom>
          <a:noFill/>
          <a:ln/>
        </p:spPr>
        <p:txBody>
          <a:bodyPr wrap="square" lIns="0" tIns="0" rIns="0" bIns="0" rtlCol="0" anchor="ctr"/>
          <a:lstStyle/>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If current projects touch eighteen applications, your as-is has those plus whatever they exchange data with. Perhaps thirty. Derived from the interface list, not from a survey.</a:t>
            </a:r>
            <a:endParaRPr lang="en-US" sz="1200" dirty="0"/>
          </a:p>
        </p:txBody>
      </p:sp>
      <p:sp>
        <p:nvSpPr>
          <p:cNvPr id="9" name="Shape 7"/>
          <p:cNvSpPr/>
          <p:nvPr/>
        </p:nvSpPr>
        <p:spPr>
          <a:xfrm>
            <a:off x="6309360" y="1627632"/>
            <a:ext cx="5440680" cy="1737360"/>
          </a:xfrm>
          <a:prstGeom prst="roundRect">
            <a:avLst>
              <a:gd name="adj" fmla="val 4737"/>
            </a:avLst>
          </a:prstGeom>
          <a:solidFill>
            <a:srgbClr val="E3EFE7"/>
          </a:solidFill>
          <a:ln w="12700">
            <a:solidFill>
              <a:srgbClr val="9DC4AA"/>
            </a:solidFill>
            <a:prstDash val="solid"/>
          </a:ln>
        </p:spPr>
      </p:sp>
      <p:sp>
        <p:nvSpPr>
          <p:cNvPr id="10" name="Text 8"/>
          <p:cNvSpPr/>
          <p:nvPr/>
        </p:nvSpPr>
        <p:spPr>
          <a:xfrm>
            <a:off x="6583680" y="1810512"/>
            <a:ext cx="4572000" cy="237744"/>
          </a:xfrm>
          <a:prstGeom prst="rect">
            <a:avLst/>
          </a:prstGeom>
          <a:noFill/>
          <a:ln/>
        </p:spPr>
        <p:txBody>
          <a:bodyPr wrap="square" lIns="0" tIns="0" rIns="0" bIns="0" rtlCol="0" anchor="ctr"/>
          <a:lstStyle/>
          <a:p>
            <a:pPr indent="0" marL="0">
              <a:buNone/>
            </a:pPr>
            <a:r>
              <a:rPr lang="en-US" sz="1000" b="1" spc="200" kern="0" dirty="0">
                <a:solidFill>
                  <a:srgbClr val="2F7D4F"/>
                </a:solidFill>
                <a:latin typeface="Calibri" pitchFamily="34" charset="0"/>
                <a:ea typeface="Calibri" pitchFamily="34" charset="-122"/>
                <a:cs typeface="Calibri" pitchFamily="34" charset="-120"/>
              </a:rPr>
              <a:t>WHY SCOPED BEATS COMPLETE</a:t>
            </a:r>
            <a:endParaRPr lang="en-US" sz="1000" dirty="0"/>
          </a:p>
        </p:txBody>
      </p:sp>
      <p:sp>
        <p:nvSpPr>
          <p:cNvPr id="11" name="Text 9"/>
          <p:cNvSpPr/>
          <p:nvPr/>
        </p:nvSpPr>
        <p:spPr>
          <a:xfrm>
            <a:off x="6583680" y="2066544"/>
            <a:ext cx="4892040" cy="1188720"/>
          </a:xfrm>
          <a:prstGeom prst="rect">
            <a:avLst/>
          </a:prstGeom>
          <a:noFill/>
          <a:ln/>
        </p:spPr>
        <p:txBody>
          <a:bodyPr wrap="square" lIns="0" tIns="0" rIns="0" bIns="0" rtlCol="0" anchor="ctr"/>
          <a:lstStyle/>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A scoped as-is is right where money is about to be spent, and small enough that you can keep it true. A complete one built by one person is wrong within a quarter and nobody notices.</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3547872"/>
          <a:ext cx="11247120" cy="914400"/>
        </p:xfrm>
        <a:graphic>
          <a:graphicData uri="http://schemas.openxmlformats.org/drawingml/2006/table">
            <a:tbl>
              <a:tblPr/>
              <a:tblGrid>
                <a:gridCol w="2926080"/>
                <a:gridCol w="8321040"/>
              </a:tblGrid>
              <a:tr h="5029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Rule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In practice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r>
              <a:tr h="502920">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Stable IDs from day one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APP-001, INT-001. Never reuse a retired one. The only expensive mistake at this stage, because everything later joins on these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502920">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Owners where you have them</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Blank where you do not. A blank is information; a guess is a defect somebody will inherit and believe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r h="502920">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Say what it is</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"The part of the landscape the current work touches", with the date it was true. Never "the architecture"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502920">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A spreadsheet is correct here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A tool business case in month one is a temptation. You cannot yet say what it would hold or who would maintain it</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ARTIFACT FOUR</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The one-page target</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Days 46 to 60. One area, at a horizon that matches a decision somebody has to take</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sp>
        <p:nvSpPr>
          <p:cNvPr id="6" name="Shape 4"/>
          <p:cNvSpPr/>
          <p:nvPr/>
        </p:nvSpPr>
        <p:spPr>
          <a:xfrm>
            <a:off x="502920" y="1600200"/>
            <a:ext cx="6949440" cy="4617720"/>
          </a:xfrm>
          <a:prstGeom prst="roundRect">
            <a:avLst>
              <a:gd name="adj" fmla="val 1782"/>
            </a:avLst>
          </a:prstGeom>
          <a:solidFill>
            <a:srgbClr val="FFFFFF"/>
          </a:solidFill>
          <a:ln w="12700">
            <a:solidFill>
              <a:srgbClr val="14606B"/>
            </a:solidFill>
            <a:prstDash val="solid"/>
          </a:ln>
        </p:spPr>
      </p:sp>
      <p:sp>
        <p:nvSpPr>
          <p:cNvPr id="7" name="Text 5"/>
          <p:cNvSpPr/>
          <p:nvPr/>
        </p:nvSpPr>
        <p:spPr>
          <a:xfrm>
            <a:off x="777240" y="1810512"/>
            <a:ext cx="6400800" cy="365760"/>
          </a:xfrm>
          <a:prstGeom prst="rect">
            <a:avLst/>
          </a:prstGeom>
          <a:noFill/>
          <a:ln/>
        </p:spPr>
        <p:txBody>
          <a:bodyPr wrap="square" lIns="0" tIns="0" rIns="0" bIns="0" rtlCol="0" anchor="ctr"/>
          <a:lstStyle/>
          <a:p>
            <a:pPr indent="0" marL="0">
              <a:buNone/>
            </a:pPr>
            <a:r>
              <a:rPr lang="en-US" sz="1600" b="1" dirty="0">
                <a:solidFill>
                  <a:srgbClr val="1C1917"/>
                </a:solidFill>
                <a:latin typeface="Cambria" pitchFamily="34" charset="0"/>
                <a:ea typeface="Cambria" pitchFamily="34" charset="-122"/>
                <a:cs typeface="Cambria" pitchFamily="34" charset="-120"/>
              </a:rPr>
              <a:t>Target direction: stock and fulfilment, market one</a:t>
            </a:r>
            <a:endParaRPr lang="en-US" sz="1600" dirty="0"/>
          </a:p>
        </p:txBody>
      </p:sp>
      <p:sp>
        <p:nvSpPr>
          <p:cNvPr id="8" name="Text 6"/>
          <p:cNvSpPr/>
          <p:nvPr/>
        </p:nvSpPr>
        <p:spPr>
          <a:xfrm>
            <a:off x="777240" y="2286000"/>
            <a:ext cx="173736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AGREED WITH</a:t>
            </a:r>
            <a:endParaRPr lang="en-US" sz="850" dirty="0"/>
          </a:p>
        </p:txBody>
      </p:sp>
      <p:sp>
        <p:nvSpPr>
          <p:cNvPr id="9" name="Text 7"/>
          <p:cNvSpPr/>
          <p:nvPr/>
        </p:nvSpPr>
        <p:spPr>
          <a:xfrm>
            <a:off x="2606040" y="2249424"/>
            <a:ext cx="4572000" cy="457200"/>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The market IT lead, who owns this area</a:t>
            </a:r>
            <a:endParaRPr lang="en-US" sz="1050" dirty="0"/>
          </a:p>
        </p:txBody>
      </p:sp>
      <p:sp>
        <p:nvSpPr>
          <p:cNvPr id="10" name="Text 8"/>
          <p:cNvSpPr/>
          <p:nvPr/>
        </p:nvSpPr>
        <p:spPr>
          <a:xfrm>
            <a:off x="777240" y="2670048"/>
            <a:ext cx="173736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HORIZON</a:t>
            </a:r>
            <a:endParaRPr lang="en-US" sz="850" dirty="0"/>
          </a:p>
        </p:txBody>
      </p:sp>
      <p:sp>
        <p:nvSpPr>
          <p:cNvPr id="11" name="Text 9"/>
          <p:cNvSpPr/>
          <p:nvPr/>
        </p:nvSpPr>
        <p:spPr>
          <a:xfrm>
            <a:off x="2606040" y="2633472"/>
            <a:ext cx="4572000" cy="457200"/>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End of next year, matching the warehouse cutover</a:t>
            </a:r>
            <a:endParaRPr lang="en-US" sz="1050" dirty="0"/>
          </a:p>
        </p:txBody>
      </p:sp>
      <p:sp>
        <p:nvSpPr>
          <p:cNvPr id="12" name="Text 10"/>
          <p:cNvSpPr/>
          <p:nvPr/>
        </p:nvSpPr>
        <p:spPr>
          <a:xfrm>
            <a:off x="777240" y="3054096"/>
            <a:ext cx="173736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STATUS</a:t>
            </a:r>
            <a:endParaRPr lang="en-US" sz="850" dirty="0"/>
          </a:p>
        </p:txBody>
      </p:sp>
      <p:sp>
        <p:nvSpPr>
          <p:cNvPr id="13" name="Text 11"/>
          <p:cNvSpPr/>
          <p:nvPr/>
        </p:nvSpPr>
        <p:spPr>
          <a:xfrm>
            <a:off x="2606040" y="3017520"/>
            <a:ext cx="4572000" cy="457200"/>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A direction, not a commitment. Revisited when the vendor is chosen</a:t>
            </a:r>
            <a:endParaRPr lang="en-US" sz="1050" dirty="0"/>
          </a:p>
        </p:txBody>
      </p:sp>
      <p:sp>
        <p:nvSpPr>
          <p:cNvPr id="14" name="Shape 12"/>
          <p:cNvSpPr/>
          <p:nvPr/>
        </p:nvSpPr>
        <p:spPr>
          <a:xfrm>
            <a:off x="777240" y="3493008"/>
            <a:ext cx="6400800" cy="0"/>
          </a:xfrm>
          <a:prstGeom prst="line">
            <a:avLst/>
          </a:prstGeom>
          <a:noFill/>
          <a:ln w="12700">
            <a:solidFill>
              <a:srgbClr val="E4E0D7"/>
            </a:solidFill>
            <a:prstDash val="solid"/>
          </a:ln>
        </p:spPr>
      </p:sp>
      <p:sp>
        <p:nvSpPr>
          <p:cNvPr id="15" name="Text 13"/>
          <p:cNvSpPr/>
          <p:nvPr/>
        </p:nvSpPr>
        <p:spPr>
          <a:xfrm>
            <a:off x="777240" y="3611880"/>
            <a:ext cx="5486400" cy="237744"/>
          </a:xfrm>
          <a:prstGeom prst="rect">
            <a:avLst/>
          </a:prstGeom>
          <a:noFill/>
          <a:ln/>
        </p:spPr>
        <p:txBody>
          <a:bodyPr wrap="square" lIns="0" tIns="0" rIns="0" bIns="0" rtlCol="0" anchor="ctr"/>
          <a:lstStyle/>
          <a:p>
            <a:pPr indent="0" marL="0">
              <a:buNone/>
            </a:pPr>
            <a:r>
              <a:rPr lang="en-US" sz="1000" b="1" spc="200" kern="0" dirty="0">
                <a:solidFill>
                  <a:srgbClr val="14606B"/>
                </a:solidFill>
                <a:latin typeface="Calibri" pitchFamily="34" charset="0"/>
                <a:ea typeface="Calibri" pitchFamily="34" charset="-122"/>
                <a:cs typeface="Calibri" pitchFamily="34" charset="-120"/>
              </a:rPr>
              <a:t>THREE STATEMENTS OF DIRECTION, EACH WITH A REASON</a:t>
            </a:r>
            <a:endParaRPr lang="en-US" sz="1000" dirty="0"/>
          </a:p>
        </p:txBody>
      </p:sp>
      <p:sp>
        <p:nvSpPr>
          <p:cNvPr id="16" name="Text 14"/>
          <p:cNvSpPr/>
          <p:nvPr/>
        </p:nvSpPr>
        <p:spPr>
          <a:xfrm>
            <a:off x="777240" y="3913632"/>
            <a:ext cx="274320" cy="219456"/>
          </a:xfrm>
          <a:prstGeom prst="rect">
            <a:avLst/>
          </a:prstGeom>
          <a:noFill/>
          <a:ln/>
        </p:spPr>
        <p:txBody>
          <a:bodyPr wrap="square" lIns="0" tIns="0" rIns="0" bIns="0" rtlCol="0" anchor="ctr"/>
          <a:lstStyle/>
          <a:p>
            <a:pPr indent="0" marL="0">
              <a:buNone/>
            </a:pPr>
            <a:r>
              <a:rPr lang="en-US" sz="1100" b="1" dirty="0">
                <a:solidFill>
                  <a:srgbClr val="14606B"/>
                </a:solidFill>
                <a:latin typeface="Calibri" pitchFamily="34" charset="0"/>
                <a:ea typeface="Calibri" pitchFamily="34" charset="-122"/>
                <a:cs typeface="Calibri" pitchFamily="34" charset="-120"/>
              </a:rPr>
              <a:t>1.</a:t>
            </a:r>
            <a:endParaRPr lang="en-US" sz="1100" dirty="0"/>
          </a:p>
        </p:txBody>
      </p:sp>
      <p:sp>
        <p:nvSpPr>
          <p:cNvPr id="17" name="Text 15"/>
          <p:cNvSpPr/>
          <p:nvPr/>
        </p:nvSpPr>
        <p:spPr>
          <a:xfrm>
            <a:off x="1097280" y="3913632"/>
            <a:ext cx="6035040" cy="219456"/>
          </a:xfrm>
          <a:prstGeom prst="rect">
            <a:avLst/>
          </a:prstGeom>
          <a:noFill/>
          <a:ln/>
        </p:spPr>
        <p:txBody>
          <a:bodyPr wrap="square" lIns="0" tIns="0" rIns="0" bIns="0" rtlCol="0" anchor="ctr"/>
          <a:lstStyle/>
          <a:p>
            <a:pPr indent="0" marL="0">
              <a:buNone/>
            </a:pPr>
            <a:r>
              <a:rPr lang="en-US" sz="1150" b="1" dirty="0">
                <a:solidFill>
                  <a:srgbClr val="1C1917"/>
                </a:solidFill>
                <a:latin typeface="Calibri" pitchFamily="34" charset="0"/>
                <a:ea typeface="Calibri" pitchFamily="34" charset="-122"/>
                <a:cs typeface="Calibri" pitchFamily="34" charset="-120"/>
              </a:rPr>
              <a:t>The core masters stock movement</a:t>
            </a:r>
            <a:endParaRPr lang="en-US" sz="1150" dirty="0"/>
          </a:p>
        </p:txBody>
      </p:sp>
      <p:sp>
        <p:nvSpPr>
          <p:cNvPr id="18" name="Text 16"/>
          <p:cNvSpPr/>
          <p:nvPr/>
        </p:nvSpPr>
        <p:spPr>
          <a:xfrm>
            <a:off x="1097280" y="4133088"/>
            <a:ext cx="6035040" cy="365760"/>
          </a:xfrm>
          <a:prstGeom prst="rect">
            <a:avLst/>
          </a:prstGeom>
          <a:noFill/>
          <a:ln/>
        </p:spPr>
        <p:txBody>
          <a:bodyPr wrap="square" lIns="0" tIns="0" rIns="0" bIns="0" rtlCol="0" anchor="ctr"/>
          <a:lstStyle/>
          <a:p>
            <a:pPr indent="0" marL="0">
              <a:lnSpc>
                <a:spcPts val="1400"/>
              </a:lnSpc>
              <a:buNone/>
            </a:pPr>
            <a:r>
              <a:rPr lang="en-US" sz="1050" dirty="0">
                <a:solidFill>
                  <a:srgbClr val="57534E"/>
                </a:solidFill>
                <a:latin typeface="Calibri" pitchFamily="34" charset="0"/>
                <a:ea typeface="Calibri" pitchFamily="34" charset="-122"/>
                <a:cs typeface="Calibri" pitchFamily="34" charset="-120"/>
              </a:rPr>
              <a:t>Two systems writing stock is what made reconciliation manual, and that cost is already known here</a:t>
            </a:r>
            <a:endParaRPr lang="en-US" sz="1050" dirty="0"/>
          </a:p>
        </p:txBody>
      </p:sp>
      <p:sp>
        <p:nvSpPr>
          <p:cNvPr id="19" name="Text 17"/>
          <p:cNvSpPr/>
          <p:nvPr/>
        </p:nvSpPr>
        <p:spPr>
          <a:xfrm>
            <a:off x="777240" y="4553712"/>
            <a:ext cx="274320" cy="219456"/>
          </a:xfrm>
          <a:prstGeom prst="rect">
            <a:avLst/>
          </a:prstGeom>
          <a:noFill/>
          <a:ln/>
        </p:spPr>
        <p:txBody>
          <a:bodyPr wrap="square" lIns="0" tIns="0" rIns="0" bIns="0" rtlCol="0" anchor="ctr"/>
          <a:lstStyle/>
          <a:p>
            <a:pPr indent="0" marL="0">
              <a:buNone/>
            </a:pPr>
            <a:r>
              <a:rPr lang="en-US" sz="1100" b="1" dirty="0">
                <a:solidFill>
                  <a:srgbClr val="14606B"/>
                </a:solidFill>
                <a:latin typeface="Calibri" pitchFamily="34" charset="0"/>
                <a:ea typeface="Calibri" pitchFamily="34" charset="-122"/>
                <a:cs typeface="Calibri" pitchFamily="34" charset="-120"/>
              </a:rPr>
              <a:t>2.</a:t>
            </a:r>
            <a:endParaRPr lang="en-US" sz="1100" dirty="0"/>
          </a:p>
        </p:txBody>
      </p:sp>
      <p:sp>
        <p:nvSpPr>
          <p:cNvPr id="20" name="Text 18"/>
          <p:cNvSpPr/>
          <p:nvPr/>
        </p:nvSpPr>
        <p:spPr>
          <a:xfrm>
            <a:off x="1097280" y="4553712"/>
            <a:ext cx="6035040" cy="219456"/>
          </a:xfrm>
          <a:prstGeom prst="rect">
            <a:avLst/>
          </a:prstGeom>
          <a:noFill/>
          <a:ln/>
        </p:spPr>
        <p:txBody>
          <a:bodyPr wrap="square" lIns="0" tIns="0" rIns="0" bIns="0" rtlCol="0" anchor="ctr"/>
          <a:lstStyle/>
          <a:p>
            <a:pPr indent="0" marL="0">
              <a:buNone/>
            </a:pPr>
            <a:r>
              <a:rPr lang="en-US" sz="1150" b="1" dirty="0">
                <a:solidFill>
                  <a:srgbClr val="1C1917"/>
                </a:solidFill>
                <a:latin typeface="Calibri" pitchFamily="34" charset="0"/>
                <a:ea typeface="Calibri" pitchFamily="34" charset="-122"/>
                <a:cs typeface="Calibri" pitchFamily="34" charset="-120"/>
              </a:rPr>
              <a:t>The warehouse system reads, and does not write back</a:t>
            </a:r>
            <a:endParaRPr lang="en-US" sz="1150" dirty="0"/>
          </a:p>
        </p:txBody>
      </p:sp>
      <p:sp>
        <p:nvSpPr>
          <p:cNvPr id="21" name="Text 19"/>
          <p:cNvSpPr/>
          <p:nvPr/>
        </p:nvSpPr>
        <p:spPr>
          <a:xfrm>
            <a:off x="1097280" y="4773168"/>
            <a:ext cx="6035040" cy="365760"/>
          </a:xfrm>
          <a:prstGeom prst="rect">
            <a:avLst/>
          </a:prstGeom>
          <a:noFill/>
          <a:ln/>
        </p:spPr>
        <p:txBody>
          <a:bodyPr wrap="square" lIns="0" tIns="0" rIns="0" bIns="0" rtlCol="0" anchor="ctr"/>
          <a:lstStyle/>
          <a:p>
            <a:pPr indent="0" marL="0">
              <a:lnSpc>
                <a:spcPts val="1400"/>
              </a:lnSpc>
              <a:buNone/>
            </a:pPr>
            <a:r>
              <a:rPr lang="en-US" sz="1050" dirty="0">
                <a:solidFill>
                  <a:srgbClr val="57534E"/>
                </a:solidFill>
                <a:latin typeface="Calibri" pitchFamily="34" charset="0"/>
                <a:ea typeface="Calibri" pitchFamily="34" charset="-122"/>
                <a:cs typeface="Calibri" pitchFamily="34" charset="-120"/>
              </a:rPr>
              <a:t>So the replacement is a swap rather than a re-plumbing, in this market and the next</a:t>
            </a:r>
            <a:endParaRPr lang="en-US" sz="1050" dirty="0"/>
          </a:p>
        </p:txBody>
      </p:sp>
      <p:sp>
        <p:nvSpPr>
          <p:cNvPr id="22" name="Text 20"/>
          <p:cNvSpPr/>
          <p:nvPr/>
        </p:nvSpPr>
        <p:spPr>
          <a:xfrm>
            <a:off x="777240" y="5193792"/>
            <a:ext cx="274320" cy="219456"/>
          </a:xfrm>
          <a:prstGeom prst="rect">
            <a:avLst/>
          </a:prstGeom>
          <a:noFill/>
          <a:ln/>
        </p:spPr>
        <p:txBody>
          <a:bodyPr wrap="square" lIns="0" tIns="0" rIns="0" bIns="0" rtlCol="0" anchor="ctr"/>
          <a:lstStyle/>
          <a:p>
            <a:pPr indent="0" marL="0">
              <a:buNone/>
            </a:pPr>
            <a:r>
              <a:rPr lang="en-US" sz="1100" b="1" dirty="0">
                <a:solidFill>
                  <a:srgbClr val="14606B"/>
                </a:solidFill>
                <a:latin typeface="Calibri" pitchFamily="34" charset="0"/>
                <a:ea typeface="Calibri" pitchFamily="34" charset="-122"/>
                <a:cs typeface="Calibri" pitchFamily="34" charset="-120"/>
              </a:rPr>
              <a:t>3.</a:t>
            </a:r>
            <a:endParaRPr lang="en-US" sz="1100" dirty="0"/>
          </a:p>
        </p:txBody>
      </p:sp>
      <p:sp>
        <p:nvSpPr>
          <p:cNvPr id="23" name="Text 21"/>
          <p:cNvSpPr/>
          <p:nvPr/>
        </p:nvSpPr>
        <p:spPr>
          <a:xfrm>
            <a:off x="1097280" y="5193792"/>
            <a:ext cx="6035040" cy="219456"/>
          </a:xfrm>
          <a:prstGeom prst="rect">
            <a:avLst/>
          </a:prstGeom>
          <a:noFill/>
          <a:ln/>
        </p:spPr>
        <p:txBody>
          <a:bodyPr wrap="square" lIns="0" tIns="0" rIns="0" bIns="0" rtlCol="0" anchor="ctr"/>
          <a:lstStyle/>
          <a:p>
            <a:pPr indent="0" marL="0">
              <a:buNone/>
            </a:pPr>
            <a:r>
              <a:rPr lang="en-US" sz="1150" b="1" dirty="0">
                <a:solidFill>
                  <a:srgbClr val="1C1917"/>
                </a:solidFill>
                <a:latin typeface="Calibri" pitchFamily="34" charset="0"/>
                <a:ea typeface="Calibri" pitchFamily="34" charset="-122"/>
                <a:cs typeface="Calibri" pitchFamily="34" charset="-120"/>
              </a:rPr>
              <a:t>The labelling tool keeps its interface in wave one</a:t>
            </a:r>
            <a:endParaRPr lang="en-US" sz="1150" dirty="0"/>
          </a:p>
        </p:txBody>
      </p:sp>
      <p:sp>
        <p:nvSpPr>
          <p:cNvPr id="24" name="Text 22"/>
          <p:cNvSpPr/>
          <p:nvPr/>
        </p:nvSpPr>
        <p:spPr>
          <a:xfrm>
            <a:off x="1097280" y="5413248"/>
            <a:ext cx="6035040" cy="365760"/>
          </a:xfrm>
          <a:prstGeom prst="rect">
            <a:avLst/>
          </a:prstGeom>
          <a:noFill/>
          <a:ln/>
        </p:spPr>
        <p:txBody>
          <a:bodyPr wrap="square" lIns="0" tIns="0" rIns="0" bIns="0" rtlCol="0" anchor="ctr"/>
          <a:lstStyle/>
          <a:p>
            <a:pPr indent="0" marL="0">
              <a:lnSpc>
                <a:spcPts val="1400"/>
              </a:lnSpc>
              <a:buNone/>
            </a:pPr>
            <a:r>
              <a:rPr lang="en-US" sz="1050" dirty="0">
                <a:solidFill>
                  <a:srgbClr val="57534E"/>
                </a:solidFill>
                <a:latin typeface="Calibri" pitchFamily="34" charset="0"/>
                <a:ea typeface="Calibri" pitchFamily="34" charset="-122"/>
                <a:cs typeface="Calibri" pitchFamily="34" charset="-120"/>
              </a:rPr>
              <a:t>Rebuilding it is real work nobody has costed. Wave two carries it, deliberately</a:t>
            </a:r>
            <a:endParaRPr lang="en-US" sz="1050" dirty="0"/>
          </a:p>
        </p:txBody>
      </p:sp>
      <p:sp>
        <p:nvSpPr>
          <p:cNvPr id="25" name="Text 23"/>
          <p:cNvSpPr/>
          <p:nvPr/>
        </p:nvSpPr>
        <p:spPr>
          <a:xfrm>
            <a:off x="777240" y="5870448"/>
            <a:ext cx="6400800" cy="274320"/>
          </a:xfrm>
          <a:prstGeom prst="rect">
            <a:avLst/>
          </a:prstGeom>
          <a:noFill/>
          <a:ln/>
        </p:spPr>
        <p:txBody>
          <a:bodyPr wrap="square" lIns="0" tIns="0" rIns="0" bIns="0" rtlCol="0" anchor="ctr"/>
          <a:lstStyle/>
          <a:p>
            <a:pPr indent="0" marL="0">
              <a:buNone/>
            </a:pPr>
            <a:r>
              <a:rPr lang="en-US" sz="1050" i="1" dirty="0">
                <a:solidFill>
                  <a:srgbClr val="B98A2E"/>
                </a:solidFill>
                <a:latin typeface="Calibri" pitchFamily="34" charset="0"/>
                <a:ea typeface="Calibri" pitchFamily="34" charset="-122"/>
                <a:cs typeface="Calibri" pitchFamily="34" charset="-120"/>
              </a:rPr>
              <a:t>Not deciding yet: whether market two follows the same pattern. Trigger: the vendor decision.</a:t>
            </a:r>
            <a:endParaRPr lang="en-US" sz="1050" dirty="0"/>
          </a:p>
        </p:txBody>
      </p:sp>
      <p:sp>
        <p:nvSpPr>
          <p:cNvPr id="26" name="Shape 24"/>
          <p:cNvSpPr/>
          <p:nvPr/>
        </p:nvSpPr>
        <p:spPr>
          <a:xfrm>
            <a:off x="7726680" y="1600200"/>
            <a:ext cx="4023360" cy="4617720"/>
          </a:xfrm>
          <a:prstGeom prst="roundRect">
            <a:avLst>
              <a:gd name="adj" fmla="val 2045"/>
            </a:avLst>
          </a:prstGeom>
          <a:solidFill>
            <a:srgbClr val="E7EFEE"/>
          </a:solidFill>
          <a:ln w="12700">
            <a:solidFill>
              <a:srgbClr val="BFD4D2"/>
            </a:solidFill>
            <a:prstDash val="solid"/>
          </a:ln>
        </p:spPr>
      </p:sp>
      <p:sp>
        <p:nvSpPr>
          <p:cNvPr id="27" name="Text 25"/>
          <p:cNvSpPr/>
          <p:nvPr/>
        </p:nvSpPr>
        <p:spPr>
          <a:xfrm>
            <a:off x="8001000" y="1801368"/>
            <a:ext cx="3474720" cy="237744"/>
          </a:xfrm>
          <a:prstGeom prst="rect">
            <a:avLst/>
          </a:prstGeom>
          <a:noFill/>
          <a:ln/>
        </p:spPr>
        <p:txBody>
          <a:bodyPr wrap="square" lIns="0" tIns="0" rIns="0" bIns="0" rtlCol="0" anchor="ctr"/>
          <a:lstStyle/>
          <a:p>
            <a:pPr indent="0" marL="0">
              <a:buNone/>
            </a:pPr>
            <a:r>
              <a:rPr lang="en-US" sz="1000" b="1" spc="200" kern="0" dirty="0">
                <a:solidFill>
                  <a:srgbClr val="14606B"/>
                </a:solidFill>
                <a:latin typeface="Calibri" pitchFamily="34" charset="0"/>
                <a:ea typeface="Calibri" pitchFamily="34" charset="-122"/>
                <a:cs typeface="Calibri" pitchFamily="34" charset="-120"/>
              </a:rPr>
              <a:t>WHY ONE AREA, AND WHY NOW</a:t>
            </a:r>
            <a:endParaRPr lang="en-US" sz="1000" dirty="0"/>
          </a:p>
        </p:txBody>
      </p:sp>
      <p:sp>
        <p:nvSpPr>
          <p:cNvPr id="28" name="Text 26"/>
          <p:cNvSpPr/>
          <p:nvPr/>
        </p:nvSpPr>
        <p:spPr>
          <a:xfrm>
            <a:off x="8001000" y="2066544"/>
            <a:ext cx="3474720" cy="4023360"/>
          </a:xfrm>
          <a:prstGeom prst="rect">
            <a:avLst/>
          </a:prstGeom>
          <a:noFill/>
          <a:ln/>
        </p:spPr>
        <p:txBody>
          <a:bodyPr wrap="square" lIns="0" tIns="0" rIns="0" bIns="0" rtlCol="0" anchor="ctr"/>
          <a:lstStyle/>
          <a:p>
            <a:pPr indent="0" marL="0">
              <a:lnSpc>
                <a:spcPts val="1600"/>
              </a:lnSpc>
              <a:buNone/>
            </a:pPr>
            <a:r>
              <a:rPr lang="en-US" sz="1150" dirty="0">
                <a:solidFill>
                  <a:srgbClr val="57534E"/>
                </a:solidFill>
                <a:latin typeface="Calibri" pitchFamily="34" charset="0"/>
                <a:ea typeface="Calibri" pitchFamily="34" charset="-122"/>
                <a:cs typeface="Calibri" pitchFamily="34" charset="-120"/>
              </a:rPr>
              <a:t>An estate-wide target written before you know the constraints will be quoted back at you for years.</a:t>
            </a:r>
            <a:endParaRPr lang="en-US" sz="1150" dirty="0"/>
          </a:p>
          <a:p>
            <a:pPr indent="0" marL="0">
              <a:lnSpc>
                <a:spcPts val="1600"/>
              </a:lnSpc>
              <a:buNone/>
            </a:pPr>
            <a:endParaRPr lang="en-US" sz="1150" dirty="0"/>
          </a:p>
          <a:p>
            <a:pPr indent="0" marL="0">
              <a:lnSpc>
                <a:spcPts val="1600"/>
              </a:lnSpc>
              <a:buNone/>
            </a:pPr>
            <a:r>
              <a:rPr lang="en-US" sz="1150" dirty="0">
                <a:solidFill>
                  <a:srgbClr val="57534E"/>
                </a:solidFill>
                <a:latin typeface="Calibri" pitchFamily="34" charset="0"/>
                <a:ea typeface="Calibri" pitchFamily="34" charset="-122"/>
                <a:cs typeface="Calibri" pitchFamily="34" charset="-120"/>
              </a:rPr>
              <a:t>One area, agreed with the person who owns it, at a horizon tied to a real decision, is a target that can be used and revised.</a:t>
            </a:r>
            <a:endParaRPr lang="en-US" sz="1150" dirty="0"/>
          </a:p>
          <a:p>
            <a:pPr indent="0" marL="0">
              <a:lnSpc>
                <a:spcPts val="1600"/>
              </a:lnSpc>
              <a:buNone/>
            </a:pPr>
            <a:endParaRPr lang="en-US" sz="1150" dirty="0"/>
          </a:p>
          <a:p>
            <a:pPr indent="0" marL="0">
              <a:lnSpc>
                <a:spcPts val="1600"/>
              </a:lnSpc>
              <a:buNone/>
            </a:pPr>
            <a:r>
              <a:rPr lang="en-US" sz="1150" dirty="0">
                <a:solidFill>
                  <a:srgbClr val="57534E"/>
                </a:solidFill>
                <a:latin typeface="Calibri" pitchFamily="34" charset="0"/>
                <a:ea typeface="Calibri" pitchFamily="34" charset="-122"/>
                <a:cs typeface="Calibri" pitchFamily="34" charset="-120"/>
              </a:rPr>
              <a:t>The half-page you can defend beats the deck you cannot.</a:t>
            </a:r>
            <a:endParaRPr lang="en-US" sz="1150" dirty="0"/>
          </a:p>
          <a:p>
            <a:pPr indent="0" marL="0">
              <a:lnSpc>
                <a:spcPts val="1600"/>
              </a:lnSpc>
              <a:buNone/>
            </a:pPr>
            <a:endParaRPr lang="en-US" sz="1150" dirty="0"/>
          </a:p>
          <a:p>
            <a:pPr indent="0" marL="0">
              <a:lnSpc>
                <a:spcPts val="1600"/>
              </a:lnSpc>
              <a:buNone/>
            </a:pPr>
            <a:r>
              <a:rPr lang="en-US" sz="1150" dirty="0">
                <a:solidFill>
                  <a:srgbClr val="57534E"/>
                </a:solidFill>
                <a:latin typeface="Calibri" pitchFamily="34" charset="0"/>
                <a:ea typeface="Calibri" pitchFamily="34" charset="-122"/>
                <a:cs typeface="Calibri" pitchFamily="34" charset="-120"/>
              </a:rPr>
              <a:t>Note the last line. Naming what you are not deciding, and what would trigger deciding it, is what stops a target being read as a commitment.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THE CONFUSION WORTH CLEARING</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As-is, target, reference, transition</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Four artifacts, routinely used as synonyms, with different lifetimes</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572768"/>
          <a:ext cx="11247120" cy="914400"/>
        </p:xfrm>
        <a:graphic>
          <a:graphicData uri="http://schemas.openxmlformats.org/drawingml/2006/table">
            <a:tbl>
              <a:tblPr/>
              <a:tblGrid>
                <a:gridCol w="2651760"/>
                <a:gridCol w="3017520"/>
                <a:gridCol w="3383280"/>
                <a:gridCol w="2194560"/>
              </a:tblGrid>
              <a:tr h="5029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Artifact</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Carries</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Lifetime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In month two?</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r>
              <a:tr h="502920">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As-is</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A scope and a date it was true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Perishable. Decays from the day you finish it</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Yes, scoped to the work in flight</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502920">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Target</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A date and an owner</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Until the horizon, then revised or met</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Yes, half a page for one area</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r h="502920">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Reference architecture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A version and a set of instances</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Applied repeatedly, revised when constraints change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No. Wait for the second occurrence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502920">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Transition architecture</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An intended start and an intended end</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As long as the programme it bridges</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50" dirty="0">
                          <a:solidFill>
                            <a:srgbClr val="57534E"/>
                          </a:solidFill>
                          <a:latin typeface="Calibri" pitchFamily="34" charset="0"/>
                          <a:ea typeface="Calibri" pitchFamily="34" charset="-122"/>
                          <a:cs typeface="Calibri" pitchFamily="34" charset="-120"/>
                        </a:rPr>
                        <a:t>No. When a programme starts</a:t>
                      </a:r>
                      <a:endParaRPr lang="en-US" sz="10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bl>
          </a:graphicData>
        </a:graphic>
      </p:graphicFrame>
      <p:sp>
        <p:nvSpPr>
          <p:cNvPr id="7" name="Shape 4"/>
          <p:cNvSpPr/>
          <p:nvPr/>
        </p:nvSpPr>
        <p:spPr>
          <a:xfrm>
            <a:off x="502920" y="4343400"/>
            <a:ext cx="5532120" cy="1737360"/>
          </a:xfrm>
          <a:prstGeom prst="roundRect">
            <a:avLst>
              <a:gd name="adj" fmla="val 4737"/>
            </a:avLst>
          </a:prstGeom>
          <a:solidFill>
            <a:srgbClr val="E3EFE7"/>
          </a:solidFill>
          <a:ln w="12700">
            <a:solidFill>
              <a:srgbClr val="9DC4AA"/>
            </a:solidFill>
            <a:prstDash val="solid"/>
          </a:ln>
        </p:spPr>
      </p:sp>
      <p:sp>
        <p:nvSpPr>
          <p:cNvPr id="8" name="Text 5"/>
          <p:cNvSpPr/>
          <p:nvPr/>
        </p:nvSpPr>
        <p:spPr>
          <a:xfrm>
            <a:off x="777240" y="4553712"/>
            <a:ext cx="4572000" cy="237744"/>
          </a:xfrm>
          <a:prstGeom prst="rect">
            <a:avLst/>
          </a:prstGeom>
          <a:noFill/>
          <a:ln/>
        </p:spPr>
        <p:txBody>
          <a:bodyPr wrap="square" lIns="0" tIns="0" rIns="0" bIns="0" rtlCol="0" anchor="ctr"/>
          <a:lstStyle/>
          <a:p>
            <a:pPr indent="0" marL="0">
              <a:buNone/>
            </a:pPr>
            <a:r>
              <a:rPr lang="en-US" sz="1000" b="1" spc="200" kern="0" dirty="0">
                <a:solidFill>
                  <a:srgbClr val="2F7D4F"/>
                </a:solidFill>
                <a:latin typeface="Calibri" pitchFamily="34" charset="0"/>
                <a:ea typeface="Calibri" pitchFamily="34" charset="-122"/>
                <a:cs typeface="Calibri" pitchFamily="34" charset="-120"/>
              </a:rPr>
              <a:t>THE TEST</a:t>
            </a:r>
            <a:endParaRPr lang="en-US" sz="1000" dirty="0"/>
          </a:p>
        </p:txBody>
      </p:sp>
      <p:sp>
        <p:nvSpPr>
          <p:cNvPr id="9" name="Text 6"/>
          <p:cNvSpPr/>
          <p:nvPr/>
        </p:nvSpPr>
        <p:spPr>
          <a:xfrm>
            <a:off x="777240" y="4837176"/>
            <a:ext cx="4983480" cy="1143000"/>
          </a:xfrm>
          <a:prstGeom prst="rect">
            <a:avLst/>
          </a:prstGeom>
          <a:noFill/>
          <a:ln/>
        </p:spPr>
        <p:txBody>
          <a:bodyPr wrap="square" lIns="0" tIns="0" rIns="0" bIns="0" rtlCol="0" anchor="ctr"/>
          <a:lstStyle/>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If you are asking "when will we be there", it is a target. If you are asking "how do we do this whenever it comes up", it is a reference architecture.</a:t>
            </a:r>
            <a:endParaRPr lang="en-US" sz="1200" dirty="0"/>
          </a:p>
        </p:txBody>
      </p:sp>
      <p:sp>
        <p:nvSpPr>
          <p:cNvPr id="10" name="Shape 7"/>
          <p:cNvSpPr/>
          <p:nvPr/>
        </p:nvSpPr>
        <p:spPr>
          <a:xfrm>
            <a:off x="6309360" y="4343400"/>
            <a:ext cx="5440680" cy="1737360"/>
          </a:xfrm>
          <a:prstGeom prst="roundRect">
            <a:avLst>
              <a:gd name="adj" fmla="val 4737"/>
            </a:avLst>
          </a:prstGeom>
          <a:solidFill>
            <a:srgbClr val="F5ECD7"/>
          </a:solidFill>
          <a:ln w="12700">
            <a:solidFill>
              <a:srgbClr val="D9BE7E"/>
            </a:solidFill>
            <a:prstDash val="solid"/>
          </a:ln>
        </p:spPr>
      </p:sp>
      <p:sp>
        <p:nvSpPr>
          <p:cNvPr id="11" name="Text 8"/>
          <p:cNvSpPr/>
          <p:nvPr/>
        </p:nvSpPr>
        <p:spPr>
          <a:xfrm>
            <a:off x="6583680" y="4553712"/>
            <a:ext cx="4572000" cy="237744"/>
          </a:xfrm>
          <a:prstGeom prst="rect">
            <a:avLst/>
          </a:prstGeom>
          <a:noFill/>
          <a:ln/>
        </p:spPr>
        <p:txBody>
          <a:bodyPr wrap="square" lIns="0" tIns="0" rIns="0" bIns="0" rtlCol="0" anchor="ctr"/>
          <a:lstStyle/>
          <a:p>
            <a:pPr indent="0" marL="0">
              <a:buNone/>
            </a:pPr>
            <a:r>
              <a:rPr lang="en-US" sz="1000" b="1" spc="200" kern="0" dirty="0">
                <a:solidFill>
                  <a:srgbClr val="B98A2E"/>
                </a:solidFill>
                <a:latin typeface="Calibri" pitchFamily="34" charset="0"/>
                <a:ea typeface="Calibri" pitchFamily="34" charset="-122"/>
                <a:cs typeface="Calibri" pitchFamily="34" charset="-120"/>
              </a:rPr>
              <a:t>WHY THE REFERENCE WAITS</a:t>
            </a:r>
            <a:endParaRPr lang="en-US" sz="1000" dirty="0"/>
          </a:p>
        </p:txBody>
      </p:sp>
      <p:sp>
        <p:nvSpPr>
          <p:cNvPr id="12" name="Text 9"/>
          <p:cNvSpPr/>
          <p:nvPr/>
        </p:nvSpPr>
        <p:spPr>
          <a:xfrm>
            <a:off x="6583680" y="4837176"/>
            <a:ext cx="4892040" cy="1143000"/>
          </a:xfrm>
          <a:prstGeom prst="rect">
            <a:avLst/>
          </a:prstGeom>
          <a:noFill/>
          <a:ln/>
        </p:spPr>
        <p:txBody>
          <a:bodyPr wrap="square" lIns="0" tIns="0" rIns="0" bIns="0" rtlCol="0" anchor="ctr"/>
          <a:lstStyle/>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A reference architecture written from one case is a case study with delusions. Write it on the second occurrence, when you can see which parts were general.</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ARTIFACT FIVE</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The backfilled decision log</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Days 61 to 90. Write down what was already decided, before what is being decided</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sp>
        <p:nvSpPr>
          <p:cNvPr id="6" name="Shape 4"/>
          <p:cNvSpPr/>
          <p:nvPr/>
        </p:nvSpPr>
        <p:spPr>
          <a:xfrm>
            <a:off x="502920" y="1600200"/>
            <a:ext cx="5532120" cy="3108960"/>
          </a:xfrm>
          <a:prstGeom prst="roundRect">
            <a:avLst>
              <a:gd name="adj" fmla="val 2647"/>
            </a:avLst>
          </a:prstGeom>
          <a:solidFill>
            <a:srgbClr val="FFFFFF"/>
          </a:solidFill>
          <a:ln w="12700">
            <a:solidFill>
              <a:srgbClr val="E4E0D7"/>
            </a:solidFill>
            <a:prstDash val="solid"/>
          </a:ln>
        </p:spPr>
      </p:sp>
      <p:sp>
        <p:nvSpPr>
          <p:cNvPr id="7" name="Text 5"/>
          <p:cNvSpPr/>
          <p:nvPr/>
        </p:nvSpPr>
        <p:spPr>
          <a:xfrm>
            <a:off x="777240" y="1783080"/>
            <a:ext cx="3657600" cy="237744"/>
          </a:xfrm>
          <a:prstGeom prst="rect">
            <a:avLst/>
          </a:prstGeom>
          <a:noFill/>
          <a:ln/>
        </p:spPr>
        <p:txBody>
          <a:bodyPr wrap="square" lIns="0" tIns="0" rIns="0" bIns="0" rtlCol="0" anchor="ctr"/>
          <a:lstStyle/>
          <a:p>
            <a:pPr indent="0" marL="0">
              <a:buNone/>
            </a:pPr>
            <a:r>
              <a:rPr lang="en-US" sz="1050" b="1" spc="200" kern="0" dirty="0">
                <a:solidFill>
                  <a:srgbClr val="14606B"/>
                </a:solidFill>
                <a:latin typeface="Calibri" pitchFamily="34" charset="0"/>
                <a:ea typeface="Calibri" pitchFamily="34" charset="-122"/>
                <a:cs typeface="Calibri" pitchFamily="34" charset="-120"/>
              </a:rPr>
              <a:t>ADR-002</a:t>
            </a:r>
            <a:endParaRPr lang="en-US" sz="1050" dirty="0"/>
          </a:p>
        </p:txBody>
      </p:sp>
      <p:sp>
        <p:nvSpPr>
          <p:cNvPr id="8" name="Text 6"/>
          <p:cNvSpPr/>
          <p:nvPr/>
        </p:nvSpPr>
        <p:spPr>
          <a:xfrm>
            <a:off x="777240" y="2002536"/>
            <a:ext cx="3657600" cy="201168"/>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Accepted  -  backfilled</a:t>
            </a:r>
            <a:endParaRPr lang="en-US" sz="950" dirty="0"/>
          </a:p>
        </p:txBody>
      </p:sp>
      <p:sp>
        <p:nvSpPr>
          <p:cNvPr id="9" name="Text 7"/>
          <p:cNvSpPr/>
          <p:nvPr/>
        </p:nvSpPr>
        <p:spPr>
          <a:xfrm>
            <a:off x="777240" y="2286000"/>
            <a:ext cx="4983480" cy="320040"/>
          </a:xfrm>
          <a:prstGeom prst="rect">
            <a:avLst/>
          </a:prstGeom>
          <a:noFill/>
          <a:ln/>
        </p:spPr>
        <p:txBody>
          <a:bodyPr wrap="square" lIns="0" tIns="0" rIns="0" bIns="0" rtlCol="0" anchor="ctr"/>
          <a:lstStyle/>
          <a:p>
            <a:pPr indent="0" marL="0">
              <a:buNone/>
            </a:pPr>
            <a:r>
              <a:rPr lang="en-US" sz="1500" b="1" dirty="0">
                <a:solidFill>
                  <a:srgbClr val="1C1917"/>
                </a:solidFill>
                <a:latin typeface="Cambria" pitchFamily="34" charset="0"/>
                <a:ea typeface="Cambria" pitchFamily="34" charset="-122"/>
                <a:cs typeface="Cambria" pitchFamily="34" charset="-120"/>
              </a:rPr>
              <a:t>No direct table reads into the core</a:t>
            </a:r>
            <a:endParaRPr lang="en-US" sz="1500" dirty="0"/>
          </a:p>
        </p:txBody>
      </p:sp>
      <p:sp>
        <p:nvSpPr>
          <p:cNvPr id="10" name="Text 8"/>
          <p:cNvSpPr/>
          <p:nvPr/>
        </p:nvSpPr>
        <p:spPr>
          <a:xfrm>
            <a:off x="777240" y="2743200"/>
            <a:ext cx="173736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CONTEXT</a:t>
            </a:r>
            <a:endParaRPr lang="en-US" sz="850" dirty="0"/>
          </a:p>
        </p:txBody>
      </p:sp>
      <p:sp>
        <p:nvSpPr>
          <p:cNvPr id="11" name="Text 9"/>
          <p:cNvSpPr/>
          <p:nvPr/>
        </p:nvSpPr>
        <p:spPr>
          <a:xfrm>
            <a:off x="2606040" y="2706624"/>
            <a:ext cx="3154680" cy="457200"/>
          </a:xfrm>
          <a:prstGeom prst="rect">
            <a:avLst/>
          </a:prstGeom>
          <a:noFill/>
          <a:ln/>
        </p:spPr>
        <p:txBody>
          <a:bodyPr wrap="square" lIns="0" tIns="0" rIns="0" bIns="0" rtlCol="0" anchor="ctr"/>
          <a:lstStyle/>
          <a:p>
            <a:pPr indent="0" marL="0">
              <a:lnSpc>
                <a:spcPts val="1300"/>
              </a:lnSpc>
              <a:buNone/>
            </a:pPr>
            <a:r>
              <a:rPr lang="en-US" sz="1000" dirty="0">
                <a:solidFill>
                  <a:srgbClr val="57534E"/>
                </a:solidFill>
                <a:latin typeface="Calibri" pitchFamily="34" charset="0"/>
                <a:ea typeface="Calibri" pitchFamily="34" charset="-122"/>
                <a:cs typeface="Calibri" pitchFamily="34" charset="-120"/>
              </a:rPr>
              <a:t>A reporting tool read tables directly and broke on every core upgrade</a:t>
            </a:r>
            <a:endParaRPr lang="en-US" sz="1000" dirty="0"/>
          </a:p>
        </p:txBody>
      </p:sp>
      <p:sp>
        <p:nvSpPr>
          <p:cNvPr id="12" name="Text 10"/>
          <p:cNvSpPr/>
          <p:nvPr/>
        </p:nvSpPr>
        <p:spPr>
          <a:xfrm>
            <a:off x="777240" y="3200400"/>
            <a:ext cx="173736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DECISION</a:t>
            </a:r>
            <a:endParaRPr lang="en-US" sz="850" dirty="0"/>
          </a:p>
        </p:txBody>
      </p:sp>
      <p:sp>
        <p:nvSpPr>
          <p:cNvPr id="13" name="Text 11"/>
          <p:cNvSpPr/>
          <p:nvPr/>
        </p:nvSpPr>
        <p:spPr>
          <a:xfrm>
            <a:off x="2606040" y="3163824"/>
            <a:ext cx="3154680" cy="457200"/>
          </a:xfrm>
          <a:prstGeom prst="rect">
            <a:avLst/>
          </a:prstGeom>
          <a:noFill/>
          <a:ln/>
        </p:spPr>
        <p:txBody>
          <a:bodyPr wrap="square" lIns="0" tIns="0" rIns="0" bIns="0" rtlCol="0" anchor="ctr"/>
          <a:lstStyle/>
          <a:p>
            <a:pPr indent="0" marL="0">
              <a:lnSpc>
                <a:spcPts val="1300"/>
              </a:lnSpc>
              <a:buNone/>
            </a:pPr>
            <a:r>
              <a:rPr lang="en-US" sz="1000" dirty="0">
                <a:solidFill>
                  <a:srgbClr val="57534E"/>
                </a:solidFill>
                <a:latin typeface="Calibri" pitchFamily="34" charset="0"/>
                <a:ea typeface="Calibri" pitchFamily="34" charset="-122"/>
                <a:cs typeface="Calibri" pitchFamily="34" charset="-120"/>
              </a:rPr>
              <a:t>All access goes through published interfaces</a:t>
            </a:r>
            <a:endParaRPr lang="en-US" sz="1000" dirty="0"/>
          </a:p>
        </p:txBody>
      </p:sp>
      <p:sp>
        <p:nvSpPr>
          <p:cNvPr id="14" name="Text 12"/>
          <p:cNvSpPr/>
          <p:nvPr/>
        </p:nvSpPr>
        <p:spPr>
          <a:xfrm>
            <a:off x="777240" y="3657600"/>
            <a:ext cx="173736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COST ACCEPTED</a:t>
            </a:r>
            <a:endParaRPr lang="en-US" sz="850" dirty="0"/>
          </a:p>
        </p:txBody>
      </p:sp>
      <p:sp>
        <p:nvSpPr>
          <p:cNvPr id="15" name="Text 13"/>
          <p:cNvSpPr/>
          <p:nvPr/>
        </p:nvSpPr>
        <p:spPr>
          <a:xfrm>
            <a:off x="2606040" y="3621024"/>
            <a:ext cx="3154680" cy="457200"/>
          </a:xfrm>
          <a:prstGeom prst="rect">
            <a:avLst/>
          </a:prstGeom>
          <a:noFill/>
          <a:ln/>
        </p:spPr>
        <p:txBody>
          <a:bodyPr wrap="square" lIns="0" tIns="0" rIns="0" bIns="0" rtlCol="0" anchor="ctr"/>
          <a:lstStyle/>
          <a:p>
            <a:pPr indent="0" marL="0">
              <a:lnSpc>
                <a:spcPts val="1300"/>
              </a:lnSpc>
              <a:buNone/>
            </a:pPr>
            <a:r>
              <a:rPr lang="en-US" sz="1000" dirty="0">
                <a:solidFill>
                  <a:srgbClr val="57534E"/>
                </a:solidFill>
                <a:latin typeface="Calibri" pitchFamily="34" charset="0"/>
                <a:ea typeface="Calibri" pitchFamily="34" charset="-122"/>
                <a:cs typeface="Calibri" pitchFamily="34" charset="-120"/>
              </a:rPr>
              <a:t>Some consumers wait for an interface to be built</a:t>
            </a:r>
            <a:endParaRPr lang="en-US" sz="1000" dirty="0"/>
          </a:p>
        </p:txBody>
      </p:sp>
      <p:sp>
        <p:nvSpPr>
          <p:cNvPr id="16" name="Text 14"/>
          <p:cNvSpPr/>
          <p:nvPr/>
        </p:nvSpPr>
        <p:spPr>
          <a:xfrm>
            <a:off x="777240" y="4114800"/>
            <a:ext cx="173736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SOURCE</a:t>
            </a:r>
            <a:endParaRPr lang="en-US" sz="850" dirty="0"/>
          </a:p>
        </p:txBody>
      </p:sp>
      <p:sp>
        <p:nvSpPr>
          <p:cNvPr id="17" name="Text 15"/>
          <p:cNvSpPr/>
          <p:nvPr/>
        </p:nvSpPr>
        <p:spPr>
          <a:xfrm>
            <a:off x="2606040" y="4078224"/>
            <a:ext cx="3154680" cy="457200"/>
          </a:xfrm>
          <a:prstGeom prst="rect">
            <a:avLst/>
          </a:prstGeom>
          <a:noFill/>
          <a:ln/>
        </p:spPr>
        <p:txBody>
          <a:bodyPr wrap="square" lIns="0" tIns="0" rIns="0" bIns="0" rtlCol="0" anchor="ctr"/>
          <a:lstStyle/>
          <a:p>
            <a:pPr indent="0" marL="0">
              <a:lnSpc>
                <a:spcPts val="1300"/>
              </a:lnSpc>
              <a:buNone/>
            </a:pPr>
            <a:r>
              <a:rPr lang="en-US" sz="1000" dirty="0">
                <a:solidFill>
                  <a:srgbClr val="57534E"/>
                </a:solidFill>
                <a:latin typeface="Calibri" pitchFamily="34" charset="0"/>
                <a:ea typeface="Calibri" pitchFamily="34" charset="-122"/>
                <a:cs typeface="Calibri" pitchFamily="34" charset="-120"/>
              </a:rPr>
              <a:t>The integration team's list of things they keep refusing</a:t>
            </a:r>
            <a:endParaRPr lang="en-US" sz="1000" dirty="0"/>
          </a:p>
        </p:txBody>
      </p:sp>
      <p:sp>
        <p:nvSpPr>
          <p:cNvPr id="18" name="Shape 16"/>
          <p:cNvSpPr/>
          <p:nvPr/>
        </p:nvSpPr>
        <p:spPr>
          <a:xfrm>
            <a:off x="6309360" y="1600200"/>
            <a:ext cx="5440680" cy="3108960"/>
          </a:xfrm>
          <a:prstGeom prst="roundRect">
            <a:avLst>
              <a:gd name="adj" fmla="val 2647"/>
            </a:avLst>
          </a:prstGeom>
          <a:solidFill>
            <a:srgbClr val="F5ECD7"/>
          </a:solidFill>
          <a:ln w="12700">
            <a:solidFill>
              <a:srgbClr val="D9BE7E"/>
            </a:solidFill>
            <a:prstDash val="solid"/>
          </a:ln>
        </p:spPr>
      </p:sp>
      <p:sp>
        <p:nvSpPr>
          <p:cNvPr id="19" name="Text 17"/>
          <p:cNvSpPr/>
          <p:nvPr/>
        </p:nvSpPr>
        <p:spPr>
          <a:xfrm>
            <a:off x="6583680" y="1783080"/>
            <a:ext cx="3657600" cy="237744"/>
          </a:xfrm>
          <a:prstGeom prst="rect">
            <a:avLst/>
          </a:prstGeom>
          <a:noFill/>
          <a:ln/>
        </p:spPr>
        <p:txBody>
          <a:bodyPr wrap="square" lIns="0" tIns="0" rIns="0" bIns="0" rtlCol="0" anchor="ctr"/>
          <a:lstStyle/>
          <a:p>
            <a:pPr indent="0" marL="0">
              <a:buNone/>
            </a:pPr>
            <a:r>
              <a:rPr lang="en-US" sz="1050" b="1" spc="200" kern="0" dirty="0">
                <a:solidFill>
                  <a:srgbClr val="B98A2E"/>
                </a:solidFill>
                <a:latin typeface="Calibri" pitchFamily="34" charset="0"/>
                <a:ea typeface="Calibri" pitchFamily="34" charset="-122"/>
                <a:cs typeface="Calibri" pitchFamily="34" charset="-120"/>
              </a:rPr>
              <a:t>ADR-003</a:t>
            </a:r>
            <a:endParaRPr lang="en-US" sz="1050" dirty="0"/>
          </a:p>
        </p:txBody>
      </p:sp>
      <p:sp>
        <p:nvSpPr>
          <p:cNvPr id="20" name="Text 18"/>
          <p:cNvSpPr/>
          <p:nvPr/>
        </p:nvSpPr>
        <p:spPr>
          <a:xfrm>
            <a:off x="6583680" y="2002536"/>
            <a:ext cx="3657600" cy="201168"/>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Contested  -  backfilled</a:t>
            </a:r>
            <a:endParaRPr lang="en-US" sz="950" dirty="0"/>
          </a:p>
        </p:txBody>
      </p:sp>
      <p:sp>
        <p:nvSpPr>
          <p:cNvPr id="21" name="Text 19"/>
          <p:cNvSpPr/>
          <p:nvPr/>
        </p:nvSpPr>
        <p:spPr>
          <a:xfrm>
            <a:off x="6583680" y="2286000"/>
            <a:ext cx="4892040" cy="320040"/>
          </a:xfrm>
          <a:prstGeom prst="rect">
            <a:avLst/>
          </a:prstGeom>
          <a:noFill/>
          <a:ln/>
        </p:spPr>
        <p:txBody>
          <a:bodyPr wrap="square" lIns="0" tIns="0" rIns="0" bIns="0" rtlCol="0" anchor="ctr"/>
          <a:lstStyle/>
          <a:p>
            <a:pPr indent="0" marL="0">
              <a:buNone/>
            </a:pPr>
            <a:r>
              <a:rPr lang="en-US" sz="1500" b="1" dirty="0">
                <a:solidFill>
                  <a:srgbClr val="1C1917"/>
                </a:solidFill>
                <a:latin typeface="Cambria" pitchFamily="34" charset="0"/>
                <a:ea typeface="Cambria" pitchFamily="34" charset="-122"/>
                <a:cs typeface="Cambria" pitchFamily="34" charset="-120"/>
              </a:rPr>
              <a:t>Customer identity masters in the directory</a:t>
            </a:r>
            <a:endParaRPr lang="en-US" sz="1500" dirty="0"/>
          </a:p>
        </p:txBody>
      </p:sp>
      <p:sp>
        <p:nvSpPr>
          <p:cNvPr id="22" name="Text 20"/>
          <p:cNvSpPr/>
          <p:nvPr/>
        </p:nvSpPr>
        <p:spPr>
          <a:xfrm>
            <a:off x="6583680" y="2743200"/>
            <a:ext cx="173736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CONTEXT</a:t>
            </a:r>
            <a:endParaRPr lang="en-US" sz="850" dirty="0"/>
          </a:p>
        </p:txBody>
      </p:sp>
      <p:sp>
        <p:nvSpPr>
          <p:cNvPr id="23" name="Text 21"/>
          <p:cNvSpPr/>
          <p:nvPr/>
        </p:nvSpPr>
        <p:spPr>
          <a:xfrm>
            <a:off x="8412480" y="2706624"/>
            <a:ext cx="3063240" cy="457200"/>
          </a:xfrm>
          <a:prstGeom prst="rect">
            <a:avLst/>
          </a:prstGeom>
          <a:noFill/>
          <a:ln/>
        </p:spPr>
        <p:txBody>
          <a:bodyPr wrap="square" lIns="0" tIns="0" rIns="0" bIns="0" rtlCol="0" anchor="ctr"/>
          <a:lstStyle/>
          <a:p>
            <a:pPr indent="0" marL="0">
              <a:lnSpc>
                <a:spcPts val="1300"/>
              </a:lnSpc>
              <a:buNone/>
            </a:pPr>
            <a:r>
              <a:rPr lang="en-US" sz="1000" dirty="0">
                <a:solidFill>
                  <a:srgbClr val="57534E"/>
                </a:solidFill>
                <a:latin typeface="Calibri" pitchFamily="34" charset="0"/>
                <a:ea typeface="Calibri" pitchFamily="34" charset="-122"/>
                <a:cs typeface="Calibri" pitchFamily="34" charset="-120"/>
              </a:rPr>
              <a:t>CRM and the directory both hold identity; nobody wrote the rule down</a:t>
            </a:r>
            <a:endParaRPr lang="en-US" sz="1000" dirty="0"/>
          </a:p>
        </p:txBody>
      </p:sp>
      <p:sp>
        <p:nvSpPr>
          <p:cNvPr id="24" name="Text 22"/>
          <p:cNvSpPr/>
          <p:nvPr/>
        </p:nvSpPr>
        <p:spPr>
          <a:xfrm>
            <a:off x="6583680" y="3200400"/>
            <a:ext cx="173736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DECISION</a:t>
            </a:r>
            <a:endParaRPr lang="en-US" sz="850" dirty="0"/>
          </a:p>
        </p:txBody>
      </p:sp>
      <p:sp>
        <p:nvSpPr>
          <p:cNvPr id="25" name="Text 23"/>
          <p:cNvSpPr/>
          <p:nvPr/>
        </p:nvSpPr>
        <p:spPr>
          <a:xfrm>
            <a:off x="8412480" y="3163824"/>
            <a:ext cx="3063240" cy="457200"/>
          </a:xfrm>
          <a:prstGeom prst="rect">
            <a:avLst/>
          </a:prstGeom>
          <a:noFill/>
          <a:ln/>
        </p:spPr>
        <p:txBody>
          <a:bodyPr wrap="square" lIns="0" tIns="0" rIns="0" bIns="0" rtlCol="0" anchor="ctr"/>
          <a:lstStyle/>
          <a:p>
            <a:pPr indent="0" marL="0">
              <a:lnSpc>
                <a:spcPts val="1300"/>
              </a:lnSpc>
              <a:buNone/>
            </a:pPr>
            <a:r>
              <a:rPr lang="en-US" sz="1000" dirty="0">
                <a:solidFill>
                  <a:srgbClr val="57534E"/>
                </a:solidFill>
                <a:latin typeface="Calibri" pitchFamily="34" charset="0"/>
                <a:ea typeface="Calibri" pitchFamily="34" charset="-122"/>
                <a:cs typeface="Calibri" pitchFamily="34" charset="-120"/>
              </a:rPr>
              <a:t>The directory masters; CRM holds a reference</a:t>
            </a:r>
            <a:endParaRPr lang="en-US" sz="1000" dirty="0"/>
          </a:p>
        </p:txBody>
      </p:sp>
      <p:sp>
        <p:nvSpPr>
          <p:cNvPr id="26" name="Text 24"/>
          <p:cNvSpPr/>
          <p:nvPr/>
        </p:nvSpPr>
        <p:spPr>
          <a:xfrm>
            <a:off x="6583680" y="3657600"/>
            <a:ext cx="173736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CONTESTED BY</a:t>
            </a:r>
            <a:endParaRPr lang="en-US" sz="850" dirty="0"/>
          </a:p>
        </p:txBody>
      </p:sp>
      <p:sp>
        <p:nvSpPr>
          <p:cNvPr id="27" name="Text 25"/>
          <p:cNvSpPr/>
          <p:nvPr/>
        </p:nvSpPr>
        <p:spPr>
          <a:xfrm>
            <a:off x="8412480" y="3621024"/>
            <a:ext cx="3063240" cy="457200"/>
          </a:xfrm>
          <a:prstGeom prst="rect">
            <a:avLst/>
          </a:prstGeom>
          <a:noFill/>
          <a:ln/>
        </p:spPr>
        <p:txBody>
          <a:bodyPr wrap="square" lIns="0" tIns="0" rIns="0" bIns="0" rtlCol="0" anchor="ctr"/>
          <a:lstStyle/>
          <a:p>
            <a:pPr indent="0" marL="0">
              <a:lnSpc>
                <a:spcPts val="1300"/>
              </a:lnSpc>
              <a:buNone/>
            </a:pPr>
            <a:r>
              <a:rPr lang="en-US" sz="1000" dirty="0">
                <a:solidFill>
                  <a:srgbClr val="57534E"/>
                </a:solidFill>
                <a:latin typeface="Calibri" pitchFamily="34" charset="0"/>
                <a:ea typeface="Calibri" pitchFamily="34" charset="-122"/>
                <a:cs typeface="Calibri" pitchFamily="34" charset="-120"/>
              </a:rPr>
              <a:t>The programme about to introduce a second store of identity</a:t>
            </a:r>
            <a:endParaRPr lang="en-US" sz="1000" dirty="0"/>
          </a:p>
        </p:txBody>
      </p:sp>
      <p:sp>
        <p:nvSpPr>
          <p:cNvPr id="28" name="Text 26"/>
          <p:cNvSpPr/>
          <p:nvPr/>
        </p:nvSpPr>
        <p:spPr>
          <a:xfrm>
            <a:off x="6583680" y="4114800"/>
            <a:ext cx="173736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WHY IT MATTERS</a:t>
            </a:r>
            <a:endParaRPr lang="en-US" sz="850" dirty="0"/>
          </a:p>
        </p:txBody>
      </p:sp>
      <p:sp>
        <p:nvSpPr>
          <p:cNvPr id="29" name="Text 27"/>
          <p:cNvSpPr/>
          <p:nvPr/>
        </p:nvSpPr>
        <p:spPr>
          <a:xfrm>
            <a:off x="8412480" y="4078224"/>
            <a:ext cx="3063240" cy="457200"/>
          </a:xfrm>
          <a:prstGeom prst="rect">
            <a:avLst/>
          </a:prstGeom>
          <a:noFill/>
          <a:ln/>
        </p:spPr>
        <p:txBody>
          <a:bodyPr wrap="square" lIns="0" tIns="0" rIns="0" bIns="0" rtlCol="0" anchor="ctr"/>
          <a:lstStyle/>
          <a:p>
            <a:pPr indent="0" marL="0">
              <a:lnSpc>
                <a:spcPts val="1300"/>
              </a:lnSpc>
              <a:buNone/>
            </a:pPr>
            <a:r>
              <a:rPr lang="en-US" sz="1000" dirty="0">
                <a:solidFill>
                  <a:srgbClr val="57534E"/>
                </a:solidFill>
                <a:latin typeface="Calibri" pitchFamily="34" charset="0"/>
                <a:ea typeface="Calibri" pitchFamily="34" charset="-122"/>
                <a:cs typeface="Calibri" pitchFamily="34" charset="-120"/>
              </a:rPr>
              <a:t>The disagreement was invisible and was being re-argued quietly</a:t>
            </a:r>
            <a:endParaRPr lang="en-US" sz="1000" dirty="0"/>
          </a:p>
        </p:txBody>
      </p:sp>
      <p:sp>
        <p:nvSpPr>
          <p:cNvPr id="30" name="Shape 28"/>
          <p:cNvSpPr/>
          <p:nvPr/>
        </p:nvSpPr>
        <p:spPr>
          <a:xfrm>
            <a:off x="502920" y="4892040"/>
            <a:ext cx="11247120" cy="1417320"/>
          </a:xfrm>
          <a:prstGeom prst="roundRect">
            <a:avLst>
              <a:gd name="adj" fmla="val 5806"/>
            </a:avLst>
          </a:prstGeom>
          <a:solidFill>
            <a:srgbClr val="E7EFEE"/>
          </a:solidFill>
          <a:ln w="12700">
            <a:solidFill>
              <a:srgbClr val="BFD4D2"/>
            </a:solidFill>
            <a:prstDash val="solid"/>
          </a:ln>
        </p:spPr>
      </p:sp>
      <p:sp>
        <p:nvSpPr>
          <p:cNvPr id="31" name="Text 29"/>
          <p:cNvSpPr/>
          <p:nvPr/>
        </p:nvSpPr>
        <p:spPr>
          <a:xfrm>
            <a:off x="822960" y="5093208"/>
            <a:ext cx="6400800" cy="237744"/>
          </a:xfrm>
          <a:prstGeom prst="rect">
            <a:avLst/>
          </a:prstGeom>
          <a:noFill/>
          <a:ln/>
        </p:spPr>
        <p:txBody>
          <a:bodyPr wrap="square" lIns="0" tIns="0" rIns="0" bIns="0" rtlCol="0" anchor="ctr"/>
          <a:lstStyle/>
          <a:p>
            <a:pPr indent="0" marL="0">
              <a:buNone/>
            </a:pPr>
            <a:r>
              <a:rPr lang="en-US" sz="1000" b="1" spc="200" kern="0" dirty="0">
                <a:solidFill>
                  <a:srgbClr val="14606B"/>
                </a:solidFill>
                <a:latin typeface="Calibri" pitchFamily="34" charset="0"/>
                <a:ea typeface="Calibri" pitchFamily="34" charset="-122"/>
                <a:cs typeface="Calibri" pitchFamily="34" charset="-120"/>
              </a:rPr>
              <a:t>EIGHT TO TEN RECORDS BY DAY NINETY, AND ONE FIELD ON SOMEBODY ELSE'S FORM</a:t>
            </a:r>
            <a:endParaRPr lang="en-US" sz="1000" dirty="0"/>
          </a:p>
        </p:txBody>
      </p:sp>
      <p:sp>
        <p:nvSpPr>
          <p:cNvPr id="32" name="Text 30"/>
          <p:cNvSpPr/>
          <p:nvPr/>
        </p:nvSpPr>
        <p:spPr>
          <a:xfrm>
            <a:off x="822960" y="5376672"/>
            <a:ext cx="10607040" cy="868680"/>
          </a:xfrm>
          <a:prstGeom prst="rect">
            <a:avLst/>
          </a:prstGeom>
          <a:noFill/>
          <a:ln/>
        </p:spPr>
        <p:txBody>
          <a:bodyPr wrap="square" lIns="0" tIns="0" rIns="0" bIns="0" rtlCol="0" anchor="ctr"/>
          <a:lstStyle/>
          <a:p>
            <a:pPr indent="0" marL="0">
              <a:lnSpc>
                <a:spcPts val="1700"/>
              </a:lnSpc>
              <a:buNone/>
            </a:pPr>
            <a:r>
              <a:rPr lang="en-US" sz="1250" dirty="0">
                <a:solidFill>
                  <a:srgbClr val="57534E"/>
                </a:solidFill>
                <a:latin typeface="Calibri" pitchFamily="34" charset="0"/>
                <a:ea typeface="Calibri" pitchFamily="34" charset="-122"/>
                <a:cs typeface="Calibri" pitchFamily="34" charset="-120"/>
              </a:rPr>
              <a:t>Backfilling teaches the organization what a record is using decisions it already agrees with, so the practice arrives before the first argument. The contested one is the most valuable: it names a disagreement people were having anyway, without you having to take a side.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HOW TO BE IN THE ROOM</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Five moments, and the sentence underneath them</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You are joining rooms that were working fine without you</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572768"/>
          <a:ext cx="11247120" cy="914400"/>
        </p:xfrm>
        <a:graphic>
          <a:graphicData uri="http://schemas.openxmlformats.org/drawingml/2006/table">
            <a:tbl>
              <a:tblPr/>
              <a:tblGrid>
                <a:gridCol w="3017520"/>
                <a:gridCol w="3657600"/>
                <a:gridCol w="4572000"/>
              </a:tblGrid>
              <a:tr h="53035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Moment</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Loses the room</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Keeps it</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r>
              <a:tr h="530352">
                <a:tc>
                  <a:txBody>
                    <a:bodyPr/>
                    <a:lstStyle/>
                    <a:p>
                      <a:pPr indent="0" marL="0">
                        <a:buNone/>
                      </a:pPr>
                      <a:r>
                        <a:rPr lang="en-US" sz="1000" b="1" dirty="0">
                          <a:solidFill>
                            <a:srgbClr val="1C1917"/>
                          </a:solidFill>
                          <a:latin typeface="Calibri" pitchFamily="34" charset="0"/>
                          <a:ea typeface="Calibri" pitchFamily="34" charset="-122"/>
                          <a:cs typeface="Calibri" pitchFamily="34" charset="-120"/>
                        </a:rPr>
                        <a:t>Asking why something was built that way</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"Why did you choose that?"</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"I am trying to understand what constraints you were working within - what drove that?"</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530352">
                <a:tc>
                  <a:txBody>
                    <a:bodyPr/>
                    <a:lstStyle/>
                    <a:p>
                      <a:pPr indent="0" marL="0">
                        <a:buNone/>
                      </a:pPr>
                      <a:r>
                        <a:rPr lang="en-US" sz="1000" b="1" dirty="0">
                          <a:solidFill>
                            <a:srgbClr val="1C1917"/>
                          </a:solidFill>
                          <a:latin typeface="Calibri" pitchFamily="34" charset="0"/>
                          <a:ea typeface="Calibri" pitchFamily="34" charset="-122"/>
                          <a:cs typeface="Calibri" pitchFamily="34" charset="-120"/>
                        </a:rPr>
                        <a:t>You notice a problem nobody asked about</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Reviewing it and sending the findings</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"Would it help if I mapped what this touches?" An offer they can decline is a gift</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r h="530352">
                <a:tc>
                  <a:txBody>
                    <a:bodyPr/>
                    <a:lstStyle/>
                    <a:p>
                      <a:pPr indent="0" marL="0">
                        <a:buNone/>
                      </a:pPr>
                      <a:r>
                        <a:rPr lang="en-US" sz="1000" b="1" dirty="0">
                          <a:solidFill>
                            <a:srgbClr val="1C1917"/>
                          </a:solidFill>
                          <a:latin typeface="Calibri" pitchFamily="34" charset="0"/>
                          <a:ea typeface="Calibri" pitchFamily="34" charset="-122"/>
                          <a:cs typeface="Calibri" pitchFamily="34" charset="-120"/>
                        </a:rPr>
                        <a:t>You disagree with a design</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Giving your opinion on whether it is wise</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Bringing the list of what it touches. A list is a fact; an opinion is a fact only with authority</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530352">
                <a:tc>
                  <a:txBody>
                    <a:bodyPr/>
                    <a:lstStyle/>
                    <a:p>
                      <a:pPr indent="0" marL="0">
                        <a:buNone/>
                      </a:pPr>
                      <a:r>
                        <a:rPr lang="en-US" sz="1000" b="1" dirty="0">
                          <a:solidFill>
                            <a:srgbClr val="1C1917"/>
                          </a:solidFill>
                          <a:latin typeface="Calibri" pitchFamily="34" charset="0"/>
                          <a:ea typeface="Calibri" pitchFamily="34" charset="-122"/>
                          <a:cs typeface="Calibri" pitchFamily="34" charset="-120"/>
                        </a:rPr>
                        <a:t>Describing what you are building</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"We need governance"</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"Write it down", "who decides", "let us not decide that twice"</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r h="530352">
                <a:tc>
                  <a:txBody>
                    <a:bodyPr/>
                    <a:lstStyle/>
                    <a:p>
                      <a:pPr indent="0" marL="0">
                        <a:buNone/>
                      </a:pPr>
                      <a:r>
                        <a:rPr lang="en-US" sz="1000" b="1" dirty="0">
                          <a:solidFill>
                            <a:srgbClr val="1C1917"/>
                          </a:solidFill>
                          <a:latin typeface="Calibri" pitchFamily="34" charset="0"/>
                          <a:ea typeface="Calibri" pitchFamily="34" charset="-122"/>
                          <a:cs typeface="Calibri" pitchFamily="34" charset="-120"/>
                        </a:rPr>
                        <a:t>Something goes right</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Noting your contribution</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Crediting the team entirely</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5193792"/>
            <a:ext cx="11247120" cy="1097280"/>
          </a:xfrm>
          <a:prstGeom prst="roundRect">
            <a:avLst>
              <a:gd name="adj" fmla="val 7500"/>
            </a:avLst>
          </a:prstGeom>
          <a:solidFill>
            <a:srgbClr val="1C1917"/>
          </a:solidFill>
          <a:ln w="12700">
            <a:solidFill>
              <a:srgbClr val="1C1917"/>
            </a:solidFill>
            <a:prstDash val="solid"/>
          </a:ln>
        </p:spPr>
      </p:sp>
      <p:sp>
        <p:nvSpPr>
          <p:cNvPr id="8" name="Text 5"/>
          <p:cNvSpPr/>
          <p:nvPr/>
        </p:nvSpPr>
        <p:spPr>
          <a:xfrm>
            <a:off x="822960" y="5394960"/>
            <a:ext cx="10607040" cy="365760"/>
          </a:xfrm>
          <a:prstGeom prst="rect">
            <a:avLst/>
          </a:prstGeom>
          <a:noFill/>
          <a:ln/>
        </p:spPr>
        <p:txBody>
          <a:bodyPr wrap="square" lIns="0" tIns="0" rIns="0" bIns="0" rtlCol="0" anchor="ctr"/>
          <a:lstStyle/>
          <a:p>
            <a:pPr indent="0" marL="0">
              <a:buNone/>
            </a:pPr>
            <a:r>
              <a:rPr lang="en-US" sz="1550" b="1" dirty="0">
                <a:solidFill>
                  <a:srgbClr val="FAF9F6"/>
                </a:solidFill>
                <a:latin typeface="Cambria" pitchFamily="34" charset="0"/>
                <a:ea typeface="Cambria" pitchFamily="34" charset="-122"/>
                <a:cs typeface="Cambria" pitchFamily="34" charset="-120"/>
              </a:rPr>
              <a:t>"I have no authority here, and I would like to be useful. Here is what I noticed - do with it what you like."</a:t>
            </a:r>
            <a:endParaRPr lang="en-US" sz="1550" dirty="0"/>
          </a:p>
        </p:txBody>
      </p:sp>
      <p:sp>
        <p:nvSpPr>
          <p:cNvPr id="9" name="Text 6"/>
          <p:cNvSpPr/>
          <p:nvPr/>
        </p:nvSpPr>
        <p:spPr>
          <a:xfrm>
            <a:off x="822960" y="5815584"/>
            <a:ext cx="10607040" cy="320040"/>
          </a:xfrm>
          <a:prstGeom prst="rect">
            <a:avLst/>
          </a:prstGeom>
          <a:noFill/>
          <a:ln/>
        </p:spPr>
        <p:txBody>
          <a:bodyPr wrap="square" lIns="0" tIns="0" rIns="0" bIns="0" rtlCol="0" anchor="ctr"/>
          <a:lstStyle/>
          <a:p>
            <a:pPr indent="0" marL="0">
              <a:buNone/>
            </a:pPr>
            <a:r>
              <a:rPr lang="en-US" sz="1150" dirty="0">
                <a:solidFill>
                  <a:srgbClr val="CFC9BD"/>
                </a:solidFill>
                <a:latin typeface="Calibri" pitchFamily="34" charset="0"/>
                <a:ea typeface="Calibri" pitchFamily="34" charset="-122"/>
                <a:cs typeface="Calibri" pitchFamily="34" charset="-120"/>
              </a:rPr>
              <a:t>Saying the first half out loud costs nothing and disarms almost everybody, because the fear in the room is that you are there to judge them.</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FOUR VARIATIONS</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When the situation is not quite the default</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What changes, and what does not</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572768"/>
          <a:ext cx="11247120" cy="914400"/>
        </p:xfrm>
        <a:graphic>
          <a:graphicData uri="http://schemas.openxmlformats.org/drawingml/2006/table">
            <a:tbl>
              <a:tblPr/>
              <a:tblGrid>
                <a:gridCol w="2834640"/>
                <a:gridCol w="4937760"/>
                <a:gridCol w="3474720"/>
              </a:tblGrid>
              <a:tr h="7315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Situation</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changes</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does not</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r>
              <a:tr h="731520">
                <a:tc>
                  <a:txBody>
                    <a:bodyPr/>
                    <a:lstStyle/>
                    <a:p>
                      <a:pPr indent="0" marL="0">
                        <a:buNone/>
                      </a:pPr>
                      <a:r>
                        <a:rPr lang="en-US" sz="1000" b="1" dirty="0">
                          <a:solidFill>
                            <a:srgbClr val="1C1917"/>
                          </a:solidFill>
                          <a:latin typeface="Calibri" pitchFamily="34" charset="0"/>
                          <a:ea typeface="Calibri" pitchFamily="34" charset="-122"/>
                          <a:cs typeface="Calibri" pitchFamily="34" charset="-120"/>
                        </a:rPr>
                        <a:t>You are a consultant or contractor</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Say your end date out loud, early. Make the first artifact something that outlives you: their spreadsheet, their drive, their naming</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The order is identical, just compressed</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731520">
                <a:tc>
                  <a:txBody>
                    <a:bodyPr/>
                    <a:lstStyle/>
                    <a:p>
                      <a:pPr indent="0" marL="0">
                        <a:buNone/>
                      </a:pPr>
                      <a:r>
                        <a:rPr lang="en-US" sz="1000" b="1" dirty="0">
                          <a:solidFill>
                            <a:srgbClr val="1C1917"/>
                          </a:solidFill>
                          <a:latin typeface="Calibri" pitchFamily="34" charset="0"/>
                          <a:ea typeface="Calibri" pitchFamily="34" charset="-122"/>
                          <a:cs typeface="Calibri" pitchFamily="34" charset="-120"/>
                        </a:rPr>
                        <a:t>There is already a solution architect</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Find them in week one. Ask what they wish somebody would take off their plate. Draw the line out loud: they own designs inside projects, you own what happens between them</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You still start with the work in flight, alongside somebody who knows where the bodies are</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r h="731520">
                <a:tc>
                  <a:txBody>
                    <a:bodyPr/>
                    <a:lstStyle/>
                    <a:p>
                      <a:pPr indent="0" marL="0">
                        <a:buNone/>
                      </a:pPr>
                      <a:r>
                        <a:rPr lang="en-US" sz="1000" b="1" dirty="0">
                          <a:solidFill>
                            <a:srgbClr val="1C1917"/>
                          </a:solidFill>
                          <a:latin typeface="Calibri" pitchFamily="34" charset="0"/>
                          <a:ea typeface="Calibri" pitchFamily="34" charset="-122"/>
                          <a:cs typeface="Calibri" pitchFamily="34" charset="-120"/>
                        </a:rPr>
                        <a:t>The programme is already mid-flight</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Shift emphasis from the impact note to the decision log, and backfill the decisions still being argued about</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Do not reopen settled decisions to demonstrate value</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731520">
                <a:tc>
                  <a:txBody>
                    <a:bodyPr/>
                    <a:lstStyle/>
                    <a:p>
                      <a:pPr indent="0" marL="0">
                        <a:buNone/>
                      </a:pPr>
                      <a:r>
                        <a:rPr lang="en-US" sz="1000" b="1" dirty="0">
                          <a:solidFill>
                            <a:srgbClr val="1C1917"/>
                          </a:solidFill>
                          <a:latin typeface="Calibri" pitchFamily="34" charset="0"/>
                          <a:ea typeface="Calibri" pitchFamily="34" charset="-122"/>
                          <a:cs typeface="Calibri" pitchFamily="34" charset="-120"/>
                        </a:rPr>
                        <a:t>A sponsor wants a strategy deck by week three</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Give them one page on time: what you found, five decisions in flight, three risks, what you will do in sixty days</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000" dirty="0">
                          <a:solidFill>
                            <a:srgbClr val="57534E"/>
                          </a:solidFill>
                          <a:latin typeface="Calibri" pitchFamily="34" charset="0"/>
                          <a:ea typeface="Calibri" pitchFamily="34" charset="-122"/>
                          <a:cs typeface="Calibri" pitchFamily="34" charset="-120"/>
                        </a:rPr>
                        <a:t>Do not produce the estate-wide target they think they want</a:t>
                      </a:r>
                      <a:endParaRPr lang="en-US" sz="100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bl>
          </a:graphicData>
        </a:graphic>
      </p:graphicFrame>
      <p:sp>
        <p:nvSpPr>
          <p:cNvPr id="7" name="Shape 4"/>
          <p:cNvSpPr/>
          <p:nvPr/>
        </p:nvSpPr>
        <p:spPr>
          <a:xfrm>
            <a:off x="502920" y="5623560"/>
            <a:ext cx="11247120" cy="685800"/>
          </a:xfrm>
          <a:prstGeom prst="roundRect">
            <a:avLst>
              <a:gd name="adj" fmla="val 12000"/>
            </a:avLst>
          </a:prstGeom>
          <a:solidFill>
            <a:srgbClr val="E7EFEE"/>
          </a:solidFill>
          <a:ln w="12700">
            <a:solidFill>
              <a:srgbClr val="BFD4D2"/>
            </a:solidFill>
            <a:prstDash val="solid"/>
          </a:ln>
        </p:spPr>
      </p:sp>
      <p:sp>
        <p:nvSpPr>
          <p:cNvPr id="8" name="Text 5"/>
          <p:cNvSpPr/>
          <p:nvPr/>
        </p:nvSpPr>
        <p:spPr>
          <a:xfrm>
            <a:off x="822960" y="5815584"/>
            <a:ext cx="10607040" cy="365760"/>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In all four, the invitation is the same and so is the clock. What changes is only where you spend the first fortnight.</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WHAT NOT TO BUILD</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Six things a competent architect wants to do in month one</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Each one is at least a quarter too early</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sp>
        <p:nvSpPr>
          <p:cNvPr id="6" name="Shape 4"/>
          <p:cNvSpPr/>
          <p:nvPr/>
        </p:nvSpPr>
        <p:spPr>
          <a:xfrm>
            <a:off x="502920" y="1691640"/>
            <a:ext cx="3584448" cy="1920240"/>
          </a:xfrm>
          <a:prstGeom prst="roundRect">
            <a:avLst>
              <a:gd name="adj" fmla="val 4286"/>
            </a:avLst>
          </a:prstGeom>
          <a:solidFill>
            <a:srgbClr val="F2E4E0"/>
          </a:solidFill>
          <a:ln w="12700">
            <a:solidFill>
              <a:srgbClr val="C9998C"/>
            </a:solidFill>
            <a:prstDash val="dash"/>
          </a:ln>
        </p:spPr>
      </p:sp>
      <p:sp>
        <p:nvSpPr>
          <p:cNvPr id="7" name="Text 5"/>
          <p:cNvSpPr/>
          <p:nvPr/>
        </p:nvSpPr>
        <p:spPr>
          <a:xfrm>
            <a:off x="758952" y="1911096"/>
            <a:ext cx="3072384" cy="502920"/>
          </a:xfrm>
          <a:prstGeom prst="rect">
            <a:avLst/>
          </a:prstGeom>
          <a:noFill/>
          <a:ln/>
        </p:spPr>
        <p:txBody>
          <a:bodyPr wrap="square" lIns="0" tIns="0" rIns="0" bIns="0" rtlCol="0" anchor="ctr"/>
          <a:lstStyle/>
          <a:p>
            <a:pPr indent="0" marL="0">
              <a:lnSpc>
                <a:spcPts val="1900"/>
              </a:lnSpc>
              <a:buNone/>
            </a:pPr>
            <a:r>
              <a:rPr lang="en-US" sz="1500" b="1" dirty="0">
                <a:solidFill>
                  <a:srgbClr val="1C1917"/>
                </a:solidFill>
                <a:latin typeface="Cambria" pitchFamily="34" charset="0"/>
                <a:ea typeface="Cambria" pitchFamily="34" charset="-122"/>
                <a:cs typeface="Cambria" pitchFamily="34" charset="-120"/>
              </a:rPr>
              <a:t>The complete as-is</a:t>
            </a:r>
            <a:endParaRPr lang="en-US" sz="1500" dirty="0"/>
          </a:p>
        </p:txBody>
      </p:sp>
      <p:sp>
        <p:nvSpPr>
          <p:cNvPr id="8" name="Text 6"/>
          <p:cNvSpPr/>
          <p:nvPr/>
        </p:nvSpPr>
        <p:spPr>
          <a:xfrm>
            <a:off x="758952" y="2468880"/>
            <a:ext cx="3072384" cy="960120"/>
          </a:xfrm>
          <a:prstGeom prst="rect">
            <a:avLst/>
          </a:prstGeom>
          <a:noFill/>
          <a:ln/>
        </p:spPr>
        <p:txBody>
          <a:bodyPr wrap="square" lIns="0" tIns="0" rIns="0" bIns="0" rtlCol="0" anchor="ctr"/>
          <a:lstStyle/>
          <a:p>
            <a:pPr indent="0" marL="0">
              <a:lnSpc>
                <a:spcPts val="1500"/>
              </a:lnSpc>
              <a:buNone/>
            </a:pPr>
            <a:r>
              <a:rPr lang="en-US" sz="1100" dirty="0">
                <a:solidFill>
                  <a:srgbClr val="57534E"/>
                </a:solidFill>
                <a:latin typeface="Calibri" pitchFamily="34" charset="0"/>
                <a:ea typeface="Calibri" pitchFamily="34" charset="-122"/>
                <a:cs typeface="Calibri" pitchFamily="34" charset="-120"/>
              </a:rPr>
              <a:t>Six weeks, four hundred applications, obsolete on delivery, and you were absent while the decisions were made</a:t>
            </a:r>
            <a:endParaRPr lang="en-US" sz="1100" dirty="0"/>
          </a:p>
        </p:txBody>
      </p:sp>
      <p:sp>
        <p:nvSpPr>
          <p:cNvPr id="9" name="Shape 7"/>
          <p:cNvSpPr/>
          <p:nvPr/>
        </p:nvSpPr>
        <p:spPr>
          <a:xfrm>
            <a:off x="4315968" y="1691640"/>
            <a:ext cx="3584448" cy="1920240"/>
          </a:xfrm>
          <a:prstGeom prst="roundRect">
            <a:avLst>
              <a:gd name="adj" fmla="val 4286"/>
            </a:avLst>
          </a:prstGeom>
          <a:solidFill>
            <a:srgbClr val="F2E4E0"/>
          </a:solidFill>
          <a:ln w="12700">
            <a:solidFill>
              <a:srgbClr val="C9998C"/>
            </a:solidFill>
            <a:prstDash val="dash"/>
          </a:ln>
        </p:spPr>
      </p:sp>
      <p:sp>
        <p:nvSpPr>
          <p:cNvPr id="10" name="Text 8"/>
          <p:cNvSpPr/>
          <p:nvPr/>
        </p:nvSpPr>
        <p:spPr>
          <a:xfrm>
            <a:off x="4572000" y="1911096"/>
            <a:ext cx="3072384" cy="502920"/>
          </a:xfrm>
          <a:prstGeom prst="rect">
            <a:avLst/>
          </a:prstGeom>
          <a:noFill/>
          <a:ln/>
        </p:spPr>
        <p:txBody>
          <a:bodyPr wrap="square" lIns="0" tIns="0" rIns="0" bIns="0" rtlCol="0" anchor="ctr"/>
          <a:lstStyle/>
          <a:p>
            <a:pPr indent="0" marL="0">
              <a:lnSpc>
                <a:spcPts val="1900"/>
              </a:lnSpc>
              <a:buNone/>
            </a:pPr>
            <a:r>
              <a:rPr lang="en-US" sz="1500" b="1" dirty="0">
                <a:solidFill>
                  <a:srgbClr val="1C1917"/>
                </a:solidFill>
                <a:latin typeface="Cambria" pitchFamily="34" charset="0"/>
                <a:ea typeface="Cambria" pitchFamily="34" charset="-122"/>
                <a:cs typeface="Cambria" pitchFamily="34" charset="-120"/>
              </a:rPr>
              <a:t>The principles workshop</a:t>
            </a:r>
            <a:endParaRPr lang="en-US" sz="1500" dirty="0"/>
          </a:p>
        </p:txBody>
      </p:sp>
      <p:sp>
        <p:nvSpPr>
          <p:cNvPr id="11" name="Text 9"/>
          <p:cNvSpPr/>
          <p:nvPr/>
        </p:nvSpPr>
        <p:spPr>
          <a:xfrm>
            <a:off x="4572000" y="2468880"/>
            <a:ext cx="3072384" cy="960120"/>
          </a:xfrm>
          <a:prstGeom prst="rect">
            <a:avLst/>
          </a:prstGeom>
          <a:noFill/>
          <a:ln/>
        </p:spPr>
        <p:txBody>
          <a:bodyPr wrap="square" lIns="0" tIns="0" rIns="0" bIns="0" rtlCol="0" anchor="ctr"/>
          <a:lstStyle/>
          <a:p>
            <a:pPr indent="0" marL="0">
              <a:lnSpc>
                <a:spcPts val="1500"/>
              </a:lnSpc>
              <a:buNone/>
            </a:pPr>
            <a:r>
              <a:rPr lang="en-US" sz="1100" dirty="0">
                <a:solidFill>
                  <a:srgbClr val="57534E"/>
                </a:solidFill>
                <a:latin typeface="Calibri" pitchFamily="34" charset="0"/>
                <a:ea typeface="Calibri" pitchFamily="34" charset="-122"/>
                <a:cs typeface="Calibri" pitchFamily="34" charset="-120"/>
              </a:rPr>
              <a:t>No evidence of your own, so you produce framework principles. True, agreed, and inert</a:t>
            </a:r>
            <a:endParaRPr lang="en-US" sz="1100" dirty="0"/>
          </a:p>
        </p:txBody>
      </p:sp>
      <p:sp>
        <p:nvSpPr>
          <p:cNvPr id="12" name="Shape 10"/>
          <p:cNvSpPr/>
          <p:nvPr/>
        </p:nvSpPr>
        <p:spPr>
          <a:xfrm>
            <a:off x="8129016" y="1691640"/>
            <a:ext cx="3584448" cy="1920240"/>
          </a:xfrm>
          <a:prstGeom prst="roundRect">
            <a:avLst>
              <a:gd name="adj" fmla="val 4286"/>
            </a:avLst>
          </a:prstGeom>
          <a:solidFill>
            <a:srgbClr val="F2E4E0"/>
          </a:solidFill>
          <a:ln w="12700">
            <a:solidFill>
              <a:srgbClr val="C9998C"/>
            </a:solidFill>
            <a:prstDash val="dash"/>
          </a:ln>
        </p:spPr>
      </p:sp>
      <p:sp>
        <p:nvSpPr>
          <p:cNvPr id="13" name="Text 11"/>
          <p:cNvSpPr/>
          <p:nvPr/>
        </p:nvSpPr>
        <p:spPr>
          <a:xfrm>
            <a:off x="8385048" y="1911096"/>
            <a:ext cx="3072384" cy="502920"/>
          </a:xfrm>
          <a:prstGeom prst="rect">
            <a:avLst/>
          </a:prstGeom>
          <a:noFill/>
          <a:ln/>
        </p:spPr>
        <p:txBody>
          <a:bodyPr wrap="square" lIns="0" tIns="0" rIns="0" bIns="0" rtlCol="0" anchor="ctr"/>
          <a:lstStyle/>
          <a:p>
            <a:pPr indent="0" marL="0">
              <a:lnSpc>
                <a:spcPts val="1900"/>
              </a:lnSpc>
              <a:buNone/>
            </a:pPr>
            <a:r>
              <a:rPr lang="en-US" sz="1500" b="1" dirty="0">
                <a:solidFill>
                  <a:srgbClr val="1C1917"/>
                </a:solidFill>
                <a:latin typeface="Cambria" pitchFamily="34" charset="0"/>
                <a:ea typeface="Cambria" pitchFamily="34" charset="-122"/>
                <a:cs typeface="Cambria" pitchFamily="34" charset="-120"/>
              </a:rPr>
              <a:t>The tool business case</a:t>
            </a:r>
            <a:endParaRPr lang="en-US" sz="1500" dirty="0"/>
          </a:p>
        </p:txBody>
      </p:sp>
      <p:sp>
        <p:nvSpPr>
          <p:cNvPr id="14" name="Text 12"/>
          <p:cNvSpPr/>
          <p:nvPr/>
        </p:nvSpPr>
        <p:spPr>
          <a:xfrm>
            <a:off x="8385048" y="2468880"/>
            <a:ext cx="3072384" cy="960120"/>
          </a:xfrm>
          <a:prstGeom prst="rect">
            <a:avLst/>
          </a:prstGeom>
          <a:noFill/>
          <a:ln/>
        </p:spPr>
        <p:txBody>
          <a:bodyPr wrap="square" lIns="0" tIns="0" rIns="0" bIns="0" rtlCol="0" anchor="ctr"/>
          <a:lstStyle/>
          <a:p>
            <a:pPr indent="0" marL="0">
              <a:lnSpc>
                <a:spcPts val="1500"/>
              </a:lnSpc>
              <a:buNone/>
            </a:pPr>
            <a:r>
              <a:rPr lang="en-US" sz="1100" dirty="0">
                <a:solidFill>
                  <a:srgbClr val="57534E"/>
                </a:solidFill>
                <a:latin typeface="Calibri" pitchFamily="34" charset="0"/>
                <a:ea typeface="Calibri" pitchFamily="34" charset="-122"/>
                <a:cs typeface="Calibri" pitchFamily="34" charset="-120"/>
              </a:rPr>
              <a:t>You cannot yet say what it would hold or who would maintain it</a:t>
            </a:r>
            <a:endParaRPr lang="en-US" sz="1100" dirty="0"/>
          </a:p>
        </p:txBody>
      </p:sp>
      <p:sp>
        <p:nvSpPr>
          <p:cNvPr id="15" name="Shape 13"/>
          <p:cNvSpPr/>
          <p:nvPr/>
        </p:nvSpPr>
        <p:spPr>
          <a:xfrm>
            <a:off x="502920" y="3840480"/>
            <a:ext cx="3584448" cy="1920240"/>
          </a:xfrm>
          <a:prstGeom prst="roundRect">
            <a:avLst>
              <a:gd name="adj" fmla="val 4286"/>
            </a:avLst>
          </a:prstGeom>
          <a:solidFill>
            <a:srgbClr val="F2E4E0"/>
          </a:solidFill>
          <a:ln w="12700">
            <a:solidFill>
              <a:srgbClr val="C9998C"/>
            </a:solidFill>
            <a:prstDash val="dash"/>
          </a:ln>
        </p:spPr>
      </p:sp>
      <p:sp>
        <p:nvSpPr>
          <p:cNvPr id="16" name="Text 14"/>
          <p:cNvSpPr/>
          <p:nvPr/>
        </p:nvSpPr>
        <p:spPr>
          <a:xfrm>
            <a:off x="758952" y="4059936"/>
            <a:ext cx="3072384" cy="502920"/>
          </a:xfrm>
          <a:prstGeom prst="rect">
            <a:avLst/>
          </a:prstGeom>
          <a:noFill/>
          <a:ln/>
        </p:spPr>
        <p:txBody>
          <a:bodyPr wrap="square" lIns="0" tIns="0" rIns="0" bIns="0" rtlCol="0" anchor="ctr"/>
          <a:lstStyle/>
          <a:p>
            <a:pPr indent="0" marL="0">
              <a:lnSpc>
                <a:spcPts val="1900"/>
              </a:lnSpc>
              <a:buNone/>
            </a:pPr>
            <a:r>
              <a:rPr lang="en-US" sz="1500" b="1" dirty="0">
                <a:solidFill>
                  <a:srgbClr val="1C1917"/>
                </a:solidFill>
                <a:latin typeface="Cambria" pitchFamily="34" charset="0"/>
                <a:ea typeface="Cambria" pitchFamily="34" charset="-122"/>
                <a:cs typeface="Cambria" pitchFamily="34" charset="-120"/>
              </a:rPr>
              <a:t>The architecture board</a:t>
            </a:r>
            <a:endParaRPr lang="en-US" sz="1500" dirty="0"/>
          </a:p>
        </p:txBody>
      </p:sp>
      <p:sp>
        <p:nvSpPr>
          <p:cNvPr id="17" name="Text 15"/>
          <p:cNvSpPr/>
          <p:nvPr/>
        </p:nvSpPr>
        <p:spPr>
          <a:xfrm>
            <a:off x="758952" y="4617720"/>
            <a:ext cx="3072384" cy="960120"/>
          </a:xfrm>
          <a:prstGeom prst="rect">
            <a:avLst/>
          </a:prstGeom>
          <a:noFill/>
          <a:ln/>
        </p:spPr>
        <p:txBody>
          <a:bodyPr wrap="square" lIns="0" tIns="0" rIns="0" bIns="0" rtlCol="0" anchor="ctr"/>
          <a:lstStyle/>
          <a:p>
            <a:pPr indent="0" marL="0">
              <a:lnSpc>
                <a:spcPts val="1500"/>
              </a:lnSpc>
              <a:buNone/>
            </a:pPr>
            <a:r>
              <a:rPr lang="en-US" sz="1100" dirty="0">
                <a:solidFill>
                  <a:srgbClr val="57534E"/>
                </a:solidFill>
                <a:latin typeface="Calibri" pitchFamily="34" charset="0"/>
                <a:ea typeface="Calibri" pitchFamily="34" charset="-122"/>
                <a:cs typeface="Calibri" pitchFamily="34" charset="-120"/>
              </a:rPr>
              <a:t>An empty agenda teaches everyone that your meetings are optional</a:t>
            </a:r>
            <a:endParaRPr lang="en-US" sz="1100" dirty="0"/>
          </a:p>
        </p:txBody>
      </p:sp>
      <p:sp>
        <p:nvSpPr>
          <p:cNvPr id="18" name="Shape 16"/>
          <p:cNvSpPr/>
          <p:nvPr/>
        </p:nvSpPr>
        <p:spPr>
          <a:xfrm>
            <a:off x="4315968" y="3840480"/>
            <a:ext cx="3584448" cy="1920240"/>
          </a:xfrm>
          <a:prstGeom prst="roundRect">
            <a:avLst>
              <a:gd name="adj" fmla="val 4286"/>
            </a:avLst>
          </a:prstGeom>
          <a:solidFill>
            <a:srgbClr val="F2E4E0"/>
          </a:solidFill>
          <a:ln w="12700">
            <a:solidFill>
              <a:srgbClr val="C9998C"/>
            </a:solidFill>
            <a:prstDash val="dash"/>
          </a:ln>
        </p:spPr>
      </p:sp>
      <p:sp>
        <p:nvSpPr>
          <p:cNvPr id="19" name="Text 17"/>
          <p:cNvSpPr/>
          <p:nvPr/>
        </p:nvSpPr>
        <p:spPr>
          <a:xfrm>
            <a:off x="4572000" y="4059936"/>
            <a:ext cx="3072384" cy="502920"/>
          </a:xfrm>
          <a:prstGeom prst="rect">
            <a:avLst/>
          </a:prstGeom>
          <a:noFill/>
          <a:ln/>
        </p:spPr>
        <p:txBody>
          <a:bodyPr wrap="square" lIns="0" tIns="0" rIns="0" bIns="0" rtlCol="0" anchor="ctr"/>
          <a:lstStyle/>
          <a:p>
            <a:pPr indent="0" marL="0">
              <a:lnSpc>
                <a:spcPts val="1900"/>
              </a:lnSpc>
              <a:buNone/>
            </a:pPr>
            <a:r>
              <a:rPr lang="en-US" sz="1500" b="1" dirty="0">
                <a:solidFill>
                  <a:srgbClr val="1C1917"/>
                </a:solidFill>
                <a:latin typeface="Cambria" pitchFamily="34" charset="0"/>
                <a:ea typeface="Cambria" pitchFamily="34" charset="-122"/>
                <a:cs typeface="Cambria" pitchFamily="34" charset="-120"/>
              </a:rPr>
              <a:t>The estate-wide target</a:t>
            </a:r>
            <a:endParaRPr lang="en-US" sz="1500" dirty="0"/>
          </a:p>
        </p:txBody>
      </p:sp>
      <p:sp>
        <p:nvSpPr>
          <p:cNvPr id="20" name="Text 18"/>
          <p:cNvSpPr/>
          <p:nvPr/>
        </p:nvSpPr>
        <p:spPr>
          <a:xfrm>
            <a:off x="4572000" y="4617720"/>
            <a:ext cx="3072384" cy="960120"/>
          </a:xfrm>
          <a:prstGeom prst="rect">
            <a:avLst/>
          </a:prstGeom>
          <a:noFill/>
          <a:ln/>
        </p:spPr>
        <p:txBody>
          <a:bodyPr wrap="square" lIns="0" tIns="0" rIns="0" bIns="0" rtlCol="0" anchor="ctr"/>
          <a:lstStyle/>
          <a:p>
            <a:pPr indent="0" marL="0">
              <a:lnSpc>
                <a:spcPts val="1500"/>
              </a:lnSpc>
              <a:buNone/>
            </a:pPr>
            <a:r>
              <a:rPr lang="en-US" sz="1100" dirty="0">
                <a:solidFill>
                  <a:srgbClr val="57534E"/>
                </a:solidFill>
                <a:latin typeface="Calibri" pitchFamily="34" charset="0"/>
                <a:ea typeface="Calibri" pitchFamily="34" charset="-122"/>
                <a:cs typeface="Calibri" pitchFamily="34" charset="-120"/>
              </a:rPr>
              <a:t>Written before you know the constraints, and quoted back at you for years</a:t>
            </a:r>
            <a:endParaRPr lang="en-US" sz="1100" dirty="0"/>
          </a:p>
        </p:txBody>
      </p:sp>
      <p:sp>
        <p:nvSpPr>
          <p:cNvPr id="21" name="Shape 19"/>
          <p:cNvSpPr/>
          <p:nvPr/>
        </p:nvSpPr>
        <p:spPr>
          <a:xfrm>
            <a:off x="8129016" y="3840480"/>
            <a:ext cx="3584448" cy="1920240"/>
          </a:xfrm>
          <a:prstGeom prst="roundRect">
            <a:avLst>
              <a:gd name="adj" fmla="val 4286"/>
            </a:avLst>
          </a:prstGeom>
          <a:solidFill>
            <a:srgbClr val="F2E4E0"/>
          </a:solidFill>
          <a:ln w="12700">
            <a:solidFill>
              <a:srgbClr val="C9998C"/>
            </a:solidFill>
            <a:prstDash val="dash"/>
          </a:ln>
        </p:spPr>
      </p:sp>
      <p:sp>
        <p:nvSpPr>
          <p:cNvPr id="22" name="Text 20"/>
          <p:cNvSpPr/>
          <p:nvPr/>
        </p:nvSpPr>
        <p:spPr>
          <a:xfrm>
            <a:off x="8385048" y="4059936"/>
            <a:ext cx="3072384" cy="502920"/>
          </a:xfrm>
          <a:prstGeom prst="rect">
            <a:avLst/>
          </a:prstGeom>
          <a:noFill/>
          <a:ln/>
        </p:spPr>
        <p:txBody>
          <a:bodyPr wrap="square" lIns="0" tIns="0" rIns="0" bIns="0" rtlCol="0" anchor="ctr"/>
          <a:lstStyle/>
          <a:p>
            <a:pPr indent="0" marL="0">
              <a:lnSpc>
                <a:spcPts val="1900"/>
              </a:lnSpc>
              <a:buNone/>
            </a:pPr>
            <a:r>
              <a:rPr lang="en-US" sz="1500" b="1" dirty="0">
                <a:solidFill>
                  <a:srgbClr val="1C1917"/>
                </a:solidFill>
                <a:latin typeface="Cambria" pitchFamily="34" charset="0"/>
                <a:ea typeface="Cambria" pitchFamily="34" charset="-122"/>
                <a:cs typeface="Cambria" pitchFamily="34" charset="-120"/>
              </a:rPr>
              <a:t>The unrequested review</a:t>
            </a:r>
            <a:endParaRPr lang="en-US" sz="1500" dirty="0"/>
          </a:p>
        </p:txBody>
      </p:sp>
      <p:sp>
        <p:nvSpPr>
          <p:cNvPr id="23" name="Text 21"/>
          <p:cNvSpPr/>
          <p:nvPr/>
        </p:nvSpPr>
        <p:spPr>
          <a:xfrm>
            <a:off x="8385048" y="4617720"/>
            <a:ext cx="3072384" cy="960120"/>
          </a:xfrm>
          <a:prstGeom prst="rect">
            <a:avLst/>
          </a:prstGeom>
          <a:noFill/>
          <a:ln/>
        </p:spPr>
        <p:txBody>
          <a:bodyPr wrap="square" lIns="0" tIns="0" rIns="0" bIns="0" rtlCol="0" anchor="ctr"/>
          <a:lstStyle/>
          <a:p>
            <a:pPr indent="0" marL="0">
              <a:lnSpc>
                <a:spcPts val="1500"/>
              </a:lnSpc>
              <a:buNone/>
            </a:pPr>
            <a:r>
              <a:rPr lang="en-US" sz="1100" dirty="0">
                <a:solidFill>
                  <a:srgbClr val="57534E"/>
                </a:solidFill>
                <a:latin typeface="Calibri" pitchFamily="34" charset="0"/>
                <a:ea typeface="Calibri" pitchFamily="34" charset="-122"/>
                <a:cs typeface="Calibri" pitchFamily="34" charset="-120"/>
              </a:rPr>
              <a:t>The fastest way to convert an invitation into a closed door</a:t>
            </a:r>
            <a:endParaRPr lang="en-US" sz="1100" dirty="0"/>
          </a:p>
        </p:txBody>
      </p:sp>
      <p:sp>
        <p:nvSpPr>
          <p:cNvPr id="24" name="Shape 22"/>
          <p:cNvSpPr/>
          <p:nvPr/>
        </p:nvSpPr>
        <p:spPr>
          <a:xfrm>
            <a:off x="502920" y="5943600"/>
            <a:ext cx="11247120" cy="384048"/>
          </a:xfrm>
          <a:prstGeom prst="roundRect">
            <a:avLst>
              <a:gd name="adj" fmla="val 21429"/>
            </a:avLst>
          </a:prstGeom>
          <a:solidFill>
            <a:srgbClr val="FAF9F6"/>
          </a:solidFill>
          <a:ln w="12700">
            <a:solidFill>
              <a:srgbClr val="FAF9F6"/>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DID IT CONVERT?</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Five signals, and one that says it did not</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Month three to five, without you asking for any of them</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sp>
        <p:nvSpPr>
          <p:cNvPr id="6" name="Shape 4"/>
          <p:cNvSpPr/>
          <p:nvPr/>
        </p:nvSpPr>
        <p:spPr>
          <a:xfrm>
            <a:off x="502920" y="1645920"/>
            <a:ext cx="11247120" cy="658368"/>
          </a:xfrm>
          <a:prstGeom prst="roundRect">
            <a:avLst>
              <a:gd name="adj" fmla="val 12500"/>
            </a:avLst>
          </a:prstGeom>
          <a:solidFill>
            <a:srgbClr val="E3EFE7"/>
          </a:solidFill>
          <a:ln w="12700">
            <a:solidFill>
              <a:srgbClr val="9DC4AA"/>
            </a:solidFill>
            <a:prstDash val="solid"/>
          </a:ln>
        </p:spPr>
      </p:sp>
      <p:sp>
        <p:nvSpPr>
          <p:cNvPr id="7" name="Text 5"/>
          <p:cNvSpPr/>
          <p:nvPr/>
        </p:nvSpPr>
        <p:spPr>
          <a:xfrm>
            <a:off x="822960" y="1737360"/>
            <a:ext cx="6400800" cy="457200"/>
          </a:xfrm>
          <a:prstGeom prst="rect">
            <a:avLst/>
          </a:prstGeom>
          <a:noFill/>
          <a:ln/>
        </p:spPr>
        <p:txBody>
          <a:bodyPr wrap="square" lIns="0" tIns="0" rIns="0" bIns="0" rtlCol="0" anchor="ctr"/>
          <a:lstStyle/>
          <a:p>
            <a:pPr indent="0" marL="0">
              <a:buNone/>
            </a:pPr>
            <a:r>
              <a:rPr lang="en-US" sz="1250" b="1" dirty="0">
                <a:solidFill>
                  <a:srgbClr val="1C1917"/>
                </a:solidFill>
                <a:latin typeface="Calibri" pitchFamily="34" charset="0"/>
                <a:ea typeface="Calibri" pitchFamily="34" charset="-122"/>
                <a:cs typeface="Calibri" pitchFamily="34" charset="-120"/>
              </a:rPr>
              <a:t>Somebody invites you before the decision rather than after</a:t>
            </a:r>
            <a:endParaRPr lang="en-US" sz="1250" dirty="0"/>
          </a:p>
        </p:txBody>
      </p:sp>
      <p:sp>
        <p:nvSpPr>
          <p:cNvPr id="8" name="Text 6"/>
          <p:cNvSpPr/>
          <p:nvPr/>
        </p:nvSpPr>
        <p:spPr>
          <a:xfrm>
            <a:off x="7406640" y="1737360"/>
            <a:ext cx="4023360" cy="457200"/>
          </a:xfrm>
          <a:prstGeom prst="rect">
            <a:avLst/>
          </a:prstGeom>
          <a:noFill/>
          <a:ln/>
        </p:spPr>
        <p:txBody>
          <a:bodyPr wrap="square" lIns="0" tIns="0" rIns="0" bIns="0" rtlCol="0" anchor="ctr"/>
          <a:lstStyle/>
          <a:p>
            <a:pPr indent="0" marL="0">
              <a:buNone/>
            </a:pPr>
            <a:r>
              <a:rPr lang="en-US" sz="1100" dirty="0">
                <a:solidFill>
                  <a:srgbClr val="57534E"/>
                </a:solidFill>
                <a:latin typeface="Calibri" pitchFamily="34" charset="0"/>
                <a:ea typeface="Calibri" pitchFamily="34" charset="-122"/>
                <a:cs typeface="Calibri" pitchFamily="34" charset="-120"/>
              </a:rPr>
              <a:t>The one that counts</a:t>
            </a:r>
            <a:endParaRPr lang="en-US" sz="1100" dirty="0"/>
          </a:p>
        </p:txBody>
      </p:sp>
      <p:sp>
        <p:nvSpPr>
          <p:cNvPr id="9" name="Shape 7"/>
          <p:cNvSpPr/>
          <p:nvPr/>
        </p:nvSpPr>
        <p:spPr>
          <a:xfrm>
            <a:off x="502920" y="2404872"/>
            <a:ext cx="11247120" cy="658368"/>
          </a:xfrm>
          <a:prstGeom prst="roundRect">
            <a:avLst>
              <a:gd name="adj" fmla="val 12500"/>
            </a:avLst>
          </a:prstGeom>
          <a:solidFill>
            <a:srgbClr val="E3EFE7"/>
          </a:solidFill>
          <a:ln w="12700">
            <a:solidFill>
              <a:srgbClr val="9DC4AA"/>
            </a:solidFill>
            <a:prstDash val="solid"/>
          </a:ln>
        </p:spPr>
      </p:sp>
      <p:sp>
        <p:nvSpPr>
          <p:cNvPr id="10" name="Text 8"/>
          <p:cNvSpPr/>
          <p:nvPr/>
        </p:nvSpPr>
        <p:spPr>
          <a:xfrm>
            <a:off x="822960" y="2496312"/>
            <a:ext cx="6400800" cy="457200"/>
          </a:xfrm>
          <a:prstGeom prst="rect">
            <a:avLst/>
          </a:prstGeom>
          <a:noFill/>
          <a:ln/>
        </p:spPr>
        <p:txBody>
          <a:bodyPr wrap="square" lIns="0" tIns="0" rIns="0" bIns="0" rtlCol="0" anchor="ctr"/>
          <a:lstStyle/>
          <a:p>
            <a:pPr indent="0" marL="0">
              <a:buNone/>
            </a:pPr>
            <a:r>
              <a:rPr lang="en-US" sz="1250" b="1" dirty="0">
                <a:solidFill>
                  <a:srgbClr val="1C1917"/>
                </a:solidFill>
                <a:latin typeface="Calibri" pitchFamily="34" charset="0"/>
                <a:ea typeface="Calibri" pitchFamily="34" charset="-122"/>
                <a:cs typeface="Calibri" pitchFamily="34" charset="-120"/>
              </a:rPr>
              <a:t>A decision gets cited by number, without you prompting</a:t>
            </a:r>
            <a:endParaRPr lang="en-US" sz="1250" dirty="0"/>
          </a:p>
        </p:txBody>
      </p:sp>
      <p:sp>
        <p:nvSpPr>
          <p:cNvPr id="11" name="Text 9"/>
          <p:cNvSpPr/>
          <p:nvPr/>
        </p:nvSpPr>
        <p:spPr>
          <a:xfrm>
            <a:off x="7406640" y="2496312"/>
            <a:ext cx="4023360" cy="457200"/>
          </a:xfrm>
          <a:prstGeom prst="rect">
            <a:avLst/>
          </a:prstGeom>
          <a:noFill/>
          <a:ln/>
        </p:spPr>
        <p:txBody>
          <a:bodyPr wrap="square" lIns="0" tIns="0" rIns="0" bIns="0" rtlCol="0" anchor="ctr"/>
          <a:lstStyle/>
          <a:p>
            <a:pPr indent="0" marL="0">
              <a:buNone/>
            </a:pPr>
            <a:r>
              <a:rPr lang="en-US" sz="1100" dirty="0">
                <a:solidFill>
                  <a:srgbClr val="57534E"/>
                </a:solidFill>
                <a:latin typeface="Calibri" pitchFamily="34" charset="0"/>
                <a:ea typeface="Calibri" pitchFamily="34" charset="-122"/>
                <a:cs typeface="Calibri" pitchFamily="34" charset="-120"/>
              </a:rPr>
              <a:t>The log became a shared memory rather than your filing</a:t>
            </a:r>
            <a:endParaRPr lang="en-US" sz="1100" dirty="0"/>
          </a:p>
        </p:txBody>
      </p:sp>
      <p:sp>
        <p:nvSpPr>
          <p:cNvPr id="12" name="Shape 10"/>
          <p:cNvSpPr/>
          <p:nvPr/>
        </p:nvSpPr>
        <p:spPr>
          <a:xfrm>
            <a:off x="502920" y="3163824"/>
            <a:ext cx="11247120" cy="658368"/>
          </a:xfrm>
          <a:prstGeom prst="roundRect">
            <a:avLst>
              <a:gd name="adj" fmla="val 12500"/>
            </a:avLst>
          </a:prstGeom>
          <a:solidFill>
            <a:srgbClr val="E3EFE7"/>
          </a:solidFill>
          <a:ln w="12700">
            <a:solidFill>
              <a:srgbClr val="9DC4AA"/>
            </a:solidFill>
            <a:prstDash val="solid"/>
          </a:ln>
        </p:spPr>
      </p:sp>
      <p:sp>
        <p:nvSpPr>
          <p:cNvPr id="13" name="Text 11"/>
          <p:cNvSpPr/>
          <p:nvPr/>
        </p:nvSpPr>
        <p:spPr>
          <a:xfrm>
            <a:off x="822960" y="3255264"/>
            <a:ext cx="6400800" cy="457200"/>
          </a:xfrm>
          <a:prstGeom prst="rect">
            <a:avLst/>
          </a:prstGeom>
          <a:noFill/>
          <a:ln/>
        </p:spPr>
        <p:txBody>
          <a:bodyPr wrap="square" lIns="0" tIns="0" rIns="0" bIns="0" rtlCol="0" anchor="ctr"/>
          <a:lstStyle/>
          <a:p>
            <a:pPr indent="0" marL="0">
              <a:buNone/>
            </a:pPr>
            <a:r>
              <a:rPr lang="en-US" sz="1250" b="1" dirty="0">
                <a:solidFill>
                  <a:srgbClr val="1C1917"/>
                </a:solidFill>
                <a:latin typeface="Calibri" pitchFamily="34" charset="0"/>
                <a:ea typeface="Calibri" pitchFamily="34" charset="-122"/>
                <a:cs typeface="Calibri" pitchFamily="34" charset="-120"/>
              </a:rPr>
              <a:t>A second project manager adds you to their board, unprompted</a:t>
            </a:r>
            <a:endParaRPr lang="en-US" sz="1250" dirty="0"/>
          </a:p>
        </p:txBody>
      </p:sp>
      <p:sp>
        <p:nvSpPr>
          <p:cNvPr id="14" name="Text 12"/>
          <p:cNvSpPr/>
          <p:nvPr/>
        </p:nvSpPr>
        <p:spPr>
          <a:xfrm>
            <a:off x="7406640" y="3255264"/>
            <a:ext cx="4023360" cy="457200"/>
          </a:xfrm>
          <a:prstGeom prst="rect">
            <a:avLst/>
          </a:prstGeom>
          <a:noFill/>
          <a:ln/>
        </p:spPr>
        <p:txBody>
          <a:bodyPr wrap="square" lIns="0" tIns="0" rIns="0" bIns="0" rtlCol="0" anchor="ctr"/>
          <a:lstStyle/>
          <a:p>
            <a:pPr indent="0" marL="0">
              <a:buNone/>
            </a:pPr>
            <a:r>
              <a:rPr lang="en-US" sz="1100" dirty="0">
                <a:solidFill>
                  <a:srgbClr val="57534E"/>
                </a:solidFill>
                <a:latin typeface="Calibri" pitchFamily="34" charset="0"/>
                <a:ea typeface="Calibri" pitchFamily="34" charset="-122"/>
                <a:cs typeface="Calibri" pitchFamily="34" charset="-120"/>
              </a:rPr>
              <a:t>The invitation spread on its own</a:t>
            </a:r>
            <a:endParaRPr lang="en-US" sz="1100" dirty="0"/>
          </a:p>
        </p:txBody>
      </p:sp>
      <p:sp>
        <p:nvSpPr>
          <p:cNvPr id="15" name="Shape 13"/>
          <p:cNvSpPr/>
          <p:nvPr/>
        </p:nvSpPr>
        <p:spPr>
          <a:xfrm>
            <a:off x="502920" y="3922776"/>
            <a:ext cx="11247120" cy="658368"/>
          </a:xfrm>
          <a:prstGeom prst="roundRect">
            <a:avLst>
              <a:gd name="adj" fmla="val 12500"/>
            </a:avLst>
          </a:prstGeom>
          <a:solidFill>
            <a:srgbClr val="E3EFE7"/>
          </a:solidFill>
          <a:ln w="12700">
            <a:solidFill>
              <a:srgbClr val="9DC4AA"/>
            </a:solidFill>
            <a:prstDash val="solid"/>
          </a:ln>
        </p:spPr>
      </p:sp>
      <p:sp>
        <p:nvSpPr>
          <p:cNvPr id="16" name="Text 14"/>
          <p:cNvSpPr/>
          <p:nvPr/>
        </p:nvSpPr>
        <p:spPr>
          <a:xfrm>
            <a:off x="822960" y="4014216"/>
            <a:ext cx="6400800" cy="457200"/>
          </a:xfrm>
          <a:prstGeom prst="rect">
            <a:avLst/>
          </a:prstGeom>
          <a:noFill/>
          <a:ln/>
        </p:spPr>
        <p:txBody>
          <a:bodyPr wrap="square" lIns="0" tIns="0" rIns="0" bIns="0" rtlCol="0" anchor="ctr"/>
          <a:lstStyle/>
          <a:p>
            <a:pPr indent="0" marL="0">
              <a:buNone/>
            </a:pPr>
            <a:r>
              <a:rPr lang="en-US" sz="1250" b="1" dirty="0">
                <a:solidFill>
                  <a:srgbClr val="1C1917"/>
                </a:solidFill>
                <a:latin typeface="Calibri" pitchFamily="34" charset="0"/>
                <a:ea typeface="Calibri" pitchFamily="34" charset="-122"/>
                <a:cs typeface="Calibri" pitchFamily="34" charset="-120"/>
              </a:rPr>
              <a:t>The integration team forwards you a request rather than refusing it</a:t>
            </a:r>
            <a:endParaRPr lang="en-US" sz="1250" dirty="0"/>
          </a:p>
        </p:txBody>
      </p:sp>
      <p:sp>
        <p:nvSpPr>
          <p:cNvPr id="17" name="Text 15"/>
          <p:cNvSpPr/>
          <p:nvPr/>
        </p:nvSpPr>
        <p:spPr>
          <a:xfrm>
            <a:off x="7406640" y="4014216"/>
            <a:ext cx="4023360" cy="457200"/>
          </a:xfrm>
          <a:prstGeom prst="rect">
            <a:avLst/>
          </a:prstGeom>
          <a:noFill/>
          <a:ln/>
        </p:spPr>
        <p:txBody>
          <a:bodyPr wrap="square" lIns="0" tIns="0" rIns="0" bIns="0" rtlCol="0" anchor="ctr"/>
          <a:lstStyle/>
          <a:p>
            <a:pPr indent="0" marL="0">
              <a:buNone/>
            </a:pPr>
            <a:r>
              <a:rPr lang="en-US" sz="1100" dirty="0">
                <a:solidFill>
                  <a:srgbClr val="57534E"/>
                </a:solidFill>
                <a:latin typeface="Calibri" pitchFamily="34" charset="0"/>
                <a:ea typeface="Calibri" pitchFamily="34" charset="-122"/>
                <a:cs typeface="Calibri" pitchFamily="34" charset="-120"/>
              </a:rPr>
              <a:t>You became a route rather than a reviewer</a:t>
            </a:r>
            <a:endParaRPr lang="en-US" sz="1100" dirty="0"/>
          </a:p>
        </p:txBody>
      </p:sp>
      <p:sp>
        <p:nvSpPr>
          <p:cNvPr id="18" name="Shape 16"/>
          <p:cNvSpPr/>
          <p:nvPr/>
        </p:nvSpPr>
        <p:spPr>
          <a:xfrm>
            <a:off x="502920" y="4681728"/>
            <a:ext cx="11247120" cy="658368"/>
          </a:xfrm>
          <a:prstGeom prst="roundRect">
            <a:avLst>
              <a:gd name="adj" fmla="val 12500"/>
            </a:avLst>
          </a:prstGeom>
          <a:solidFill>
            <a:srgbClr val="E3EFE7"/>
          </a:solidFill>
          <a:ln w="12700">
            <a:solidFill>
              <a:srgbClr val="9DC4AA"/>
            </a:solidFill>
            <a:prstDash val="solid"/>
          </a:ln>
        </p:spPr>
      </p:sp>
      <p:sp>
        <p:nvSpPr>
          <p:cNvPr id="19" name="Text 17"/>
          <p:cNvSpPr/>
          <p:nvPr/>
        </p:nvSpPr>
        <p:spPr>
          <a:xfrm>
            <a:off x="822960" y="4773168"/>
            <a:ext cx="6400800" cy="457200"/>
          </a:xfrm>
          <a:prstGeom prst="rect">
            <a:avLst/>
          </a:prstGeom>
          <a:noFill/>
          <a:ln/>
        </p:spPr>
        <p:txBody>
          <a:bodyPr wrap="square" lIns="0" tIns="0" rIns="0" bIns="0" rtlCol="0" anchor="ctr"/>
          <a:lstStyle/>
          <a:p>
            <a:pPr indent="0" marL="0">
              <a:buNone/>
            </a:pPr>
            <a:r>
              <a:rPr lang="en-US" sz="1250" b="1" dirty="0">
                <a:solidFill>
                  <a:srgbClr val="1C1917"/>
                </a:solidFill>
                <a:latin typeface="Calibri" pitchFamily="34" charset="0"/>
                <a:ea typeface="Calibri" pitchFamily="34" charset="-122"/>
                <a:cs typeface="Calibri" pitchFamily="34" charset="-120"/>
              </a:rPr>
              <a:t>Your as-is appears in somebody's slide without attribution</a:t>
            </a:r>
            <a:endParaRPr lang="en-US" sz="1250" dirty="0"/>
          </a:p>
        </p:txBody>
      </p:sp>
      <p:sp>
        <p:nvSpPr>
          <p:cNvPr id="20" name="Text 18"/>
          <p:cNvSpPr/>
          <p:nvPr/>
        </p:nvSpPr>
        <p:spPr>
          <a:xfrm>
            <a:off x="7406640" y="4773168"/>
            <a:ext cx="4023360" cy="457200"/>
          </a:xfrm>
          <a:prstGeom prst="rect">
            <a:avLst/>
          </a:prstGeom>
          <a:noFill/>
          <a:ln/>
        </p:spPr>
        <p:txBody>
          <a:bodyPr wrap="square" lIns="0" tIns="0" rIns="0" bIns="0" rtlCol="0" anchor="ctr"/>
          <a:lstStyle/>
          <a:p>
            <a:pPr indent="0" marL="0">
              <a:buNone/>
            </a:pPr>
            <a:r>
              <a:rPr lang="en-US" sz="1100" dirty="0">
                <a:solidFill>
                  <a:srgbClr val="57534E"/>
                </a:solidFill>
                <a:latin typeface="Calibri" pitchFamily="34" charset="0"/>
                <a:ea typeface="Calibri" pitchFamily="34" charset="-122"/>
                <a:cs typeface="Calibri" pitchFamily="34" charset="-120"/>
              </a:rPr>
              <a:t>The highest compliment this work receives</a:t>
            </a:r>
            <a:endParaRPr lang="en-US" sz="1100" dirty="0"/>
          </a:p>
        </p:txBody>
      </p:sp>
      <p:sp>
        <p:nvSpPr>
          <p:cNvPr id="21" name="Shape 19"/>
          <p:cNvSpPr/>
          <p:nvPr/>
        </p:nvSpPr>
        <p:spPr>
          <a:xfrm>
            <a:off x="502920" y="5486400"/>
            <a:ext cx="11247120" cy="822960"/>
          </a:xfrm>
          <a:prstGeom prst="roundRect">
            <a:avLst>
              <a:gd name="adj" fmla="val 10000"/>
            </a:avLst>
          </a:prstGeom>
          <a:solidFill>
            <a:srgbClr val="F2E4E0"/>
          </a:solidFill>
          <a:ln w="12700">
            <a:solidFill>
              <a:srgbClr val="C9998C"/>
            </a:solidFill>
            <a:prstDash val="dash"/>
          </a:ln>
        </p:spPr>
      </p:sp>
      <p:sp>
        <p:nvSpPr>
          <p:cNvPr id="22" name="Text 20"/>
          <p:cNvSpPr/>
          <p:nvPr/>
        </p:nvSpPr>
        <p:spPr>
          <a:xfrm>
            <a:off x="822960" y="5650992"/>
            <a:ext cx="10607040" cy="274320"/>
          </a:xfrm>
          <a:prstGeom prst="rect">
            <a:avLst/>
          </a:prstGeom>
          <a:noFill/>
          <a:ln/>
        </p:spPr>
        <p:txBody>
          <a:bodyPr wrap="square" lIns="0" tIns="0" rIns="0" bIns="0" rtlCol="0" anchor="ctr"/>
          <a:lstStyle/>
          <a:p>
            <a:pPr indent="0" marL="0">
              <a:buNone/>
            </a:pPr>
            <a:r>
              <a:rPr lang="en-US" sz="1250" b="1" dirty="0">
                <a:solidFill>
                  <a:srgbClr val="1C1917"/>
                </a:solidFill>
                <a:latin typeface="Calibri" pitchFamily="34" charset="0"/>
                <a:ea typeface="Calibri" pitchFamily="34" charset="-122"/>
                <a:cs typeface="Calibri" pitchFamily="34" charset="-120"/>
              </a:rPr>
              <a:t>The negative signal: three months in, every conversation you are in was initiated by you.</a:t>
            </a:r>
            <a:endParaRPr lang="en-US" sz="1250" dirty="0"/>
          </a:p>
        </p:txBody>
      </p:sp>
      <p:sp>
        <p:nvSpPr>
          <p:cNvPr id="23" name="Text 21"/>
          <p:cNvSpPr/>
          <p:nvPr/>
        </p:nvSpPr>
        <p:spPr>
          <a:xfrm>
            <a:off x="822960" y="5943600"/>
            <a:ext cx="10607040" cy="274320"/>
          </a:xfrm>
          <a:prstGeom prst="rect">
            <a:avLst/>
          </a:prstGeom>
          <a:noFill/>
          <a:ln/>
        </p:spPr>
        <p:txBody>
          <a:bodyPr wrap="square" lIns="0" tIns="0" rIns="0" bIns="0" rtlCol="0" anchor="ctr"/>
          <a:lstStyle/>
          <a:p>
            <a:pPr indent="0" marL="0">
              <a:buNone/>
            </a:pPr>
            <a:r>
              <a:rPr lang="en-US" sz="1150" dirty="0">
                <a:solidFill>
                  <a:srgbClr val="57534E"/>
                </a:solidFill>
                <a:latin typeface="Calibri" pitchFamily="34" charset="0"/>
                <a:ea typeface="Calibri" pitchFamily="34" charset="-122"/>
                <a:cs typeface="Calibri" pitchFamily="34" charset="-120"/>
              </a:rPr>
              <a:t>The fix is almost always that you have been reviewing rather than helping. Go back to the impact note.</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C1917"/>
        </a:solidFill>
      </p:bgPr>
    </p:bg>
    <p:spTree>
      <p:nvGrpSpPr>
        <p:cNvPr id="1" name=""/>
        <p:cNvGrpSpPr/>
        <p:nvPr/>
      </p:nvGrpSpPr>
      <p:grpSpPr>
        <a:xfrm>
          <a:off x="0" y="0"/>
          <a:ext cx="0" cy="0"/>
          <a:chOff x="0" y="0"/>
          <a:chExt cx="0" cy="0"/>
        </a:xfrm>
      </p:grpSpPr>
      <p:sp>
        <p:nvSpPr>
          <p:cNvPr id="2" name="Text 0"/>
          <p:cNvSpPr/>
          <p:nvPr/>
        </p:nvSpPr>
        <p:spPr>
          <a:xfrm>
            <a:off x="822960" y="1371600"/>
            <a:ext cx="8229600" cy="365760"/>
          </a:xfrm>
          <a:prstGeom prst="rect">
            <a:avLst/>
          </a:prstGeom>
          <a:noFill/>
          <a:ln/>
        </p:spPr>
        <p:txBody>
          <a:bodyPr wrap="square" lIns="0" tIns="0" rIns="0" bIns="0" rtlCol="0" anchor="ctr"/>
          <a:lstStyle/>
          <a:p>
            <a:pPr indent="0" marL="0">
              <a:buNone/>
            </a:pPr>
            <a:r>
              <a:rPr lang="en-US" sz="1200" b="1" spc="400" kern="0" dirty="0">
                <a:solidFill>
                  <a:srgbClr val="8FB6BC"/>
                </a:solidFill>
                <a:latin typeface="Calibri" pitchFamily="34" charset="0"/>
                <a:ea typeface="Calibri" pitchFamily="34" charset="-122"/>
                <a:cs typeface="Calibri" pitchFamily="34" charset="-120"/>
              </a:rPr>
              <a:t>WHAT THE NINETY DAYS ARE FOR</a:t>
            </a:r>
            <a:endParaRPr lang="en-US" sz="1200" dirty="0"/>
          </a:p>
        </p:txBody>
      </p:sp>
      <p:sp>
        <p:nvSpPr>
          <p:cNvPr id="3" name="Text 1"/>
          <p:cNvSpPr/>
          <p:nvPr/>
        </p:nvSpPr>
        <p:spPr>
          <a:xfrm>
            <a:off x="822960" y="1828800"/>
            <a:ext cx="10058400" cy="1280160"/>
          </a:xfrm>
          <a:prstGeom prst="rect">
            <a:avLst/>
          </a:prstGeom>
          <a:noFill/>
          <a:ln/>
        </p:spPr>
        <p:txBody>
          <a:bodyPr wrap="square" lIns="0" tIns="0" rIns="0" bIns="0" rtlCol="0" anchor="ctr"/>
          <a:lstStyle/>
          <a:p>
            <a:pPr indent="0" marL="0">
              <a:lnSpc>
                <a:spcPts val="4200"/>
              </a:lnSpc>
              <a:buNone/>
            </a:pPr>
            <a:r>
              <a:rPr lang="en-US" sz="3200" b="1" dirty="0">
                <a:solidFill>
                  <a:srgbClr val="FAF9F6"/>
                </a:solidFill>
                <a:latin typeface="Cambria" pitchFamily="34" charset="0"/>
                <a:ea typeface="Cambria" pitchFamily="34" charset="-122"/>
                <a:cs typeface="Cambria" pitchFamily="34" charset="-120"/>
              </a:rPr>
              <a:t>You are not building an</a:t>
            </a:r>
            <a:endParaRPr lang="en-US" sz="3200" dirty="0"/>
          </a:p>
          <a:p>
            <a:pPr indent="0" marL="0">
              <a:lnSpc>
                <a:spcPts val="4200"/>
              </a:lnSpc>
              <a:buNone/>
            </a:pPr>
            <a:r>
              <a:rPr lang="en-US" sz="3200" b="1" dirty="0">
                <a:solidFill>
                  <a:srgbClr val="FAF9F6"/>
                </a:solidFill>
                <a:latin typeface="Cambria" pitchFamily="34" charset="0"/>
                <a:ea typeface="Cambria" pitchFamily="34" charset="-122"/>
                <a:cs typeface="Cambria" pitchFamily="34" charset="-120"/>
              </a:rPr>
              <a:t>architecture practice yet.</a:t>
            </a:r>
            <a:endParaRPr lang="en-US" sz="3200" dirty="0"/>
          </a:p>
        </p:txBody>
      </p:sp>
      <p:sp>
        <p:nvSpPr>
          <p:cNvPr id="4" name="Text 2"/>
          <p:cNvSpPr/>
          <p:nvPr/>
        </p:nvSpPr>
        <p:spPr>
          <a:xfrm>
            <a:off x="822960" y="3383280"/>
            <a:ext cx="9692640" cy="1463040"/>
          </a:xfrm>
          <a:prstGeom prst="rect">
            <a:avLst/>
          </a:prstGeom>
          <a:noFill/>
          <a:ln/>
        </p:spPr>
        <p:txBody>
          <a:bodyPr wrap="square" lIns="0" tIns="0" rIns="0" bIns="0" rtlCol="0" anchor="ctr"/>
          <a:lstStyle/>
          <a:p>
            <a:pPr indent="0" marL="0">
              <a:lnSpc>
                <a:spcPts val="2400"/>
              </a:lnSpc>
              <a:buNone/>
            </a:pPr>
            <a:r>
              <a:rPr lang="en-US" sz="1500" dirty="0">
                <a:solidFill>
                  <a:srgbClr val="CFC9BD"/>
                </a:solidFill>
                <a:latin typeface="Calibri" pitchFamily="34" charset="0"/>
                <a:ea typeface="Calibri" pitchFamily="34" charset="-122"/>
                <a:cs typeface="Calibri" pitchFamily="34" charset="-120"/>
              </a:rPr>
              <a:t>You are building the evidence that one is worth having, using decisions that were going to be taken anyway. The principles, the object model, the catalogue and the forum all come later, and they come easily once somebody in the building can point to a month where having you there saved them something.</a:t>
            </a:r>
            <a:endParaRPr lang="en-US" sz="1500" dirty="0"/>
          </a:p>
        </p:txBody>
      </p:sp>
      <p:sp>
        <p:nvSpPr>
          <p:cNvPr id="5" name="Shape 3"/>
          <p:cNvSpPr/>
          <p:nvPr/>
        </p:nvSpPr>
        <p:spPr>
          <a:xfrm>
            <a:off x="822960" y="5120640"/>
            <a:ext cx="2743200" cy="0"/>
          </a:xfrm>
          <a:prstGeom prst="line">
            <a:avLst/>
          </a:prstGeom>
          <a:noFill/>
          <a:ln w="25400">
            <a:solidFill>
              <a:srgbClr val="14606B"/>
            </a:solidFill>
            <a:prstDash val="solid"/>
          </a:ln>
        </p:spPr>
      </p:sp>
      <p:sp>
        <p:nvSpPr>
          <p:cNvPr id="6" name="Text 4"/>
          <p:cNvSpPr/>
          <p:nvPr/>
        </p:nvSpPr>
        <p:spPr>
          <a:xfrm>
            <a:off x="822960" y="5349240"/>
            <a:ext cx="8686800" cy="640080"/>
          </a:xfrm>
          <a:prstGeom prst="rect">
            <a:avLst/>
          </a:prstGeom>
          <a:noFill/>
          <a:ln/>
        </p:spPr>
        <p:txBody>
          <a:bodyPr wrap="square" lIns="0" tIns="0" rIns="0" bIns="0" rtlCol="0" anchor="ctr"/>
          <a:lstStyle/>
          <a:p>
            <a:pPr indent="0" marL="0">
              <a:lnSpc>
                <a:spcPts val="1800"/>
              </a:lnSpc>
              <a:buNone/>
            </a:pPr>
            <a:r>
              <a:rPr lang="en-US" sz="1200" dirty="0">
                <a:solidFill>
                  <a:srgbClr val="8D867E"/>
                </a:solidFill>
                <a:latin typeface="Calibri" pitchFamily="34" charset="0"/>
                <a:ea typeface="Calibri" pitchFamily="34" charset="-122"/>
                <a:cs typeface="Calibri" pitchFamily="34" charset="-120"/>
              </a:rPr>
              <a:t>The full piece, the ninety-day pack and the joining workbook:</a:t>
            </a:r>
            <a:endParaRPr lang="en-US" sz="1200" dirty="0"/>
          </a:p>
          <a:p>
            <a:pPr indent="0" marL="0">
              <a:lnSpc>
                <a:spcPts val="1800"/>
              </a:lnSpc>
              <a:buNone/>
            </a:pPr>
            <a:r>
              <a:rPr lang="en-US" sz="1200" dirty="0">
                <a:solidFill>
                  <a:srgbClr val="8D867E"/>
                </a:solidFill>
                <a:latin typeface="Calibri" pitchFamily="34" charset="0"/>
                <a:ea typeface="Calibri" pitchFamily="34" charset="-122"/>
                <a:cs typeface="Calibri" pitchFamily="34" charset="-120"/>
              </a:rPr>
              <a:t>mehdibamou.com/publications/joining-as-the-first-architect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2026-09-04T10:34:01Z</dcterms:created>
  <dcterms:modified xsi:type="dcterms:W3CDTF">2026-09-04T10:34:01Z</dcterms:modified>
</cp:coreProperties>
</file>