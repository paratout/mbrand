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9418320" y="1097280"/>
            <a:ext cx="1920240" cy="1920240"/>
          </a:xfrm>
          <a:prstGeom prst="rect">
            <a:avLst/>
          </a:prstGeom>
          <a:ln w="12700">
            <a:solidFill>
              <a:srgbClr val="3A3531"/>
            </a:solidFill>
            <a:prstDash val="solid"/>
          </a:ln>
        </p:spPr>
      </p:sp>
      <p:sp>
        <p:nvSpPr>
          <p:cNvPr id="3" name="Shape 1"/>
          <p:cNvSpPr/>
          <p:nvPr/>
        </p:nvSpPr>
        <p:spPr>
          <a:xfrm>
            <a:off x="9418320" y="2057400"/>
            <a:ext cx="1920240" cy="0"/>
          </a:xfrm>
          <a:prstGeom prst="line">
            <a:avLst/>
          </a:prstGeom>
          <a:noFill/>
          <a:ln w="25400">
            <a:solidFill>
              <a:srgbClr val="14606B"/>
            </a:solidFill>
            <a:prstDash val="solid"/>
          </a:ln>
        </p:spPr>
      </p:sp>
      <p:sp>
        <p:nvSpPr>
          <p:cNvPr id="4" name="Text 2"/>
          <p:cNvSpPr/>
          <p:nvPr/>
        </p:nvSpPr>
        <p:spPr>
          <a:xfrm>
            <a:off x="822960" y="2011680"/>
            <a:ext cx="8229600" cy="365760"/>
          </a:xfrm>
          <a:prstGeom prst="rect">
            <a:avLst/>
          </a:prstGeom>
          <a:noFill/>
          <a:ln/>
        </p:spPr>
        <p:txBody>
          <a:bodyPr wrap="square" lIns="0" tIns="0" rIns="0" bIns="0" rtlCol="0" anchor="ctr"/>
          <a:lstStyle/>
          <a:p>
            <a:pPr indent="0" marL="0">
              <a:buNone/>
            </a:pPr>
            <a:r>
              <a:rPr lang="en-US" sz="1400" b="1" spc="400" kern="0" dirty="0">
                <a:solidFill>
                  <a:srgbClr val="8FB6BC"/>
                </a:solidFill>
                <a:latin typeface="Calibri" pitchFamily="34" charset="0"/>
                <a:ea typeface="Calibri" pitchFamily="34" charset="-122"/>
                <a:cs typeface="Calibri" pitchFamily="34" charset="-120"/>
              </a:rPr>
              <a:t>BUILD AND BUY</a:t>
            </a:r>
            <a:endParaRPr lang="en-US" sz="1400" dirty="0"/>
          </a:p>
        </p:txBody>
      </p:sp>
      <p:sp>
        <p:nvSpPr>
          <p:cNvPr id="5" name="Text 3"/>
          <p:cNvSpPr/>
          <p:nvPr/>
        </p:nvSpPr>
        <p:spPr>
          <a:xfrm>
            <a:off x="822960" y="2377440"/>
            <a:ext cx="9692640" cy="1463040"/>
          </a:xfrm>
          <a:prstGeom prst="rect">
            <a:avLst/>
          </a:prstGeom>
          <a:noFill/>
          <a:ln/>
        </p:spPr>
        <p:txBody>
          <a:bodyPr wrap="square" lIns="0" tIns="0" rIns="0" bIns="0" rtlCol="0" anchor="ctr"/>
          <a:lstStyle/>
          <a:p>
            <a:pPr indent="0" marL="0">
              <a:lnSpc>
                <a:spcPts val="4200"/>
              </a:lnSpc>
              <a:buNone/>
            </a:pPr>
            <a:r>
              <a:rPr lang="en-US" sz="3400" b="1" dirty="0">
                <a:solidFill>
                  <a:srgbClr val="FAF9F6"/>
                </a:solidFill>
                <a:latin typeface="Cambria" pitchFamily="34" charset="0"/>
                <a:ea typeface="Cambria" pitchFamily="34" charset="-122"/>
                <a:cs typeface="Cambria" pitchFamily="34" charset="-120"/>
              </a:rPr>
              <a:t>Two tracks from one address,</a:t>
            </a:r>
            <a:endParaRPr lang="en-US" sz="3400" dirty="0"/>
          </a:p>
          <a:p>
            <a:pPr indent="0" marL="0">
              <a:lnSpc>
                <a:spcPts val="4200"/>
              </a:lnSpc>
              <a:buNone/>
            </a:pPr>
            <a:r>
              <a:rPr lang="en-US" sz="3400" b="1" dirty="0">
                <a:solidFill>
                  <a:srgbClr val="FAF9F6"/>
                </a:solidFill>
                <a:latin typeface="Cambria" pitchFamily="34" charset="0"/>
                <a:ea typeface="Cambria" pitchFamily="34" charset="-122"/>
                <a:cs typeface="Cambria" pitchFamily="34" charset="-120"/>
              </a:rPr>
              <a:t>and only one lets you change your mind</a:t>
            </a:r>
            <a:endParaRPr lang="en-US" sz="3400" dirty="0"/>
          </a:p>
        </p:txBody>
      </p:sp>
      <p:sp>
        <p:nvSpPr>
          <p:cNvPr id="6" name="Text 4"/>
          <p:cNvSpPr/>
          <p:nvPr/>
        </p:nvSpPr>
        <p:spPr>
          <a:xfrm>
            <a:off x="822960" y="4023360"/>
            <a:ext cx="8961120" cy="1097280"/>
          </a:xfrm>
          <a:prstGeom prst="rect">
            <a:avLst/>
          </a:prstGeom>
          <a:noFill/>
          <a:ln/>
        </p:spPr>
        <p:txBody>
          <a:bodyPr wrap="square" lIns="0" tIns="0" rIns="0" bIns="0" rtlCol="0" anchor="ctr"/>
          <a:lstStyle/>
          <a:p>
            <a:pPr indent="0" marL="0">
              <a:lnSpc>
                <a:spcPts val="2100"/>
              </a:lnSpc>
              <a:buNone/>
            </a:pPr>
            <a:r>
              <a:rPr lang="en-US" sz="1400" dirty="0">
                <a:solidFill>
                  <a:srgbClr val="CFC9BD"/>
                </a:solidFill>
                <a:latin typeface="Calibri" pitchFamily="34" charset="0"/>
                <a:ea typeface="Calibri" pitchFamily="34" charset="-122"/>
                <a:cs typeface="Calibri" pitchFamily="34" charset="-120"/>
              </a:rPr>
              <a:t>Where architecture speaks on each path, what it produces, the point of no return, the RFP architecture section with scoring anchors and evidence rules, the delivery constraint sheet, and the contract clauses worth arguing for before signature</a:t>
            </a:r>
            <a:endParaRPr lang="en-US" sz="1400" dirty="0"/>
          </a:p>
        </p:txBody>
      </p:sp>
      <p:sp>
        <p:nvSpPr>
          <p:cNvPr id="7" name="Text 5"/>
          <p:cNvSpPr/>
          <p:nvPr/>
        </p:nvSpPr>
        <p:spPr>
          <a:xfrm>
            <a:off x="822960" y="6035040"/>
            <a:ext cx="8686800" cy="274320"/>
          </a:xfrm>
          <a:prstGeom prst="rect">
            <a:avLst/>
          </a:prstGeom>
          <a:noFill/>
          <a:ln/>
        </p:spPr>
        <p:txBody>
          <a:bodyPr wrap="square" lIns="0" tIns="0" rIns="0" bIns="0" rtlCol="0" anchor="ctr"/>
          <a:lstStyle/>
          <a:p>
            <a:pPr indent="0" marL="0">
              <a:buNone/>
            </a:pPr>
            <a:r>
              <a:rPr lang="en-US" sz="1100" dirty="0">
                <a:solidFill>
                  <a:srgbClr val="8D867E"/>
                </a:solidFill>
                <a:latin typeface="Calibri" pitchFamily="34" charset="0"/>
                <a:ea typeface="Calibri" pitchFamily="34" charset="-122"/>
                <a:cs typeface="Calibri" pitchFamily="34" charset="-120"/>
              </a:rPr>
              <a:t>Companion to mehdibamou.com/publications/every-project-needs-an-address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BEFORE THE FORK</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Both paths share the first two touchpoints</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And the second one decides which path you are on</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737360"/>
            <a:ext cx="3566160" cy="2286000"/>
          </a:xfrm>
          <a:prstGeom prst="roundRect">
            <a:avLst>
              <a:gd name="adj" fmla="val 3600"/>
            </a:avLst>
          </a:prstGeom>
          <a:solidFill>
            <a:srgbClr val="E7EFEE"/>
          </a:solidFill>
          <a:ln w="12700">
            <a:solidFill>
              <a:srgbClr val="BFD4D2"/>
            </a:solidFill>
            <a:prstDash val="solid"/>
          </a:ln>
        </p:spPr>
      </p:sp>
      <p:sp>
        <p:nvSpPr>
          <p:cNvPr id="7" name="Shape 5"/>
          <p:cNvSpPr/>
          <p:nvPr/>
        </p:nvSpPr>
        <p:spPr>
          <a:xfrm>
            <a:off x="740664" y="1938528"/>
            <a:ext cx="402336" cy="402336"/>
          </a:xfrm>
          <a:prstGeom prst="ellipse">
            <a:avLst/>
          </a:prstGeom>
          <a:solidFill>
            <a:srgbClr val="14606B"/>
          </a:solidFill>
          <a:ln w="12700">
            <a:solidFill>
              <a:srgbClr val="14606B"/>
            </a:solidFill>
            <a:prstDash val="solid"/>
          </a:ln>
        </p:spPr>
      </p:sp>
      <p:sp>
        <p:nvSpPr>
          <p:cNvPr id="8" name="Text 6"/>
          <p:cNvSpPr/>
          <p:nvPr/>
        </p:nvSpPr>
        <p:spPr>
          <a:xfrm>
            <a:off x="740664"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740664" y="2450592"/>
            <a:ext cx="3108960" cy="36576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The address</a:t>
            </a:r>
            <a:endParaRPr lang="en-US" sz="1700" dirty="0"/>
          </a:p>
        </p:txBody>
      </p:sp>
      <p:sp>
        <p:nvSpPr>
          <p:cNvPr id="10" name="Text 8"/>
          <p:cNvSpPr/>
          <p:nvPr/>
        </p:nvSpPr>
        <p:spPr>
          <a:xfrm>
            <a:off x="740664" y="2889504"/>
            <a:ext cx="3108960" cy="100584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Primary domain assigned by an architect within two working days of intake. Four minutes of work</a:t>
            </a:r>
            <a:endParaRPr lang="en-US" sz="1150" dirty="0"/>
          </a:p>
        </p:txBody>
      </p:sp>
      <p:sp>
        <p:nvSpPr>
          <p:cNvPr id="11" name="Shape 9"/>
          <p:cNvSpPr/>
          <p:nvPr/>
        </p:nvSpPr>
        <p:spPr>
          <a:xfrm>
            <a:off x="4297680" y="1737360"/>
            <a:ext cx="3566160" cy="2286000"/>
          </a:xfrm>
          <a:prstGeom prst="roundRect">
            <a:avLst>
              <a:gd name="adj" fmla="val 3600"/>
            </a:avLst>
          </a:prstGeom>
          <a:solidFill>
            <a:srgbClr val="E7EFEE"/>
          </a:solidFill>
          <a:ln w="12700">
            <a:solidFill>
              <a:srgbClr val="BFD4D2"/>
            </a:solidFill>
            <a:prstDash val="solid"/>
          </a:ln>
        </p:spPr>
      </p:sp>
      <p:sp>
        <p:nvSpPr>
          <p:cNvPr id="12" name="Shape 10"/>
          <p:cNvSpPr/>
          <p:nvPr/>
        </p:nvSpPr>
        <p:spPr>
          <a:xfrm>
            <a:off x="4535424" y="1938528"/>
            <a:ext cx="402336" cy="402336"/>
          </a:xfrm>
          <a:prstGeom prst="ellipse">
            <a:avLst/>
          </a:prstGeom>
          <a:solidFill>
            <a:srgbClr val="14606B"/>
          </a:solidFill>
          <a:ln w="12700">
            <a:solidFill>
              <a:srgbClr val="14606B"/>
            </a:solidFill>
            <a:prstDash val="solid"/>
          </a:ln>
        </p:spPr>
      </p:sp>
      <p:sp>
        <p:nvSpPr>
          <p:cNvPr id="13" name="Text 11"/>
          <p:cNvSpPr/>
          <p:nvPr/>
        </p:nvSpPr>
        <p:spPr>
          <a:xfrm>
            <a:off x="4535424"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535424" y="2450592"/>
            <a:ext cx="3108960" cy="36576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The impact list</a:t>
            </a:r>
            <a:endParaRPr lang="en-US" sz="1700" dirty="0"/>
          </a:p>
        </p:txBody>
      </p:sp>
      <p:sp>
        <p:nvSpPr>
          <p:cNvPr id="15" name="Text 13"/>
          <p:cNvSpPr/>
          <p:nvPr/>
        </p:nvSpPr>
        <p:spPr>
          <a:xfrm>
            <a:off x="4535424" y="2889504"/>
            <a:ext cx="3108960" cy="100584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Cascaded from the repository in about an hour. Six applications, eleven interfaces, three objects, four markets, two open exceptions - all named</a:t>
            </a:r>
            <a:endParaRPr lang="en-US" sz="1150" dirty="0"/>
          </a:p>
        </p:txBody>
      </p:sp>
      <p:sp>
        <p:nvSpPr>
          <p:cNvPr id="16" name="Shape 14"/>
          <p:cNvSpPr/>
          <p:nvPr/>
        </p:nvSpPr>
        <p:spPr>
          <a:xfrm>
            <a:off x="8092440" y="1737360"/>
            <a:ext cx="3566160" cy="2286000"/>
          </a:xfrm>
          <a:prstGeom prst="roundRect">
            <a:avLst>
              <a:gd name="adj" fmla="val 3600"/>
            </a:avLst>
          </a:prstGeom>
          <a:solidFill>
            <a:srgbClr val="E3EFE7"/>
          </a:solidFill>
          <a:ln w="12700">
            <a:solidFill>
              <a:srgbClr val="9DC4AA"/>
            </a:solidFill>
            <a:prstDash val="solid"/>
          </a:ln>
        </p:spPr>
      </p:sp>
      <p:sp>
        <p:nvSpPr>
          <p:cNvPr id="17" name="Shape 15"/>
          <p:cNvSpPr/>
          <p:nvPr/>
        </p:nvSpPr>
        <p:spPr>
          <a:xfrm>
            <a:off x="8330184" y="1938528"/>
            <a:ext cx="402336" cy="402336"/>
          </a:xfrm>
          <a:prstGeom prst="ellipse">
            <a:avLst/>
          </a:prstGeom>
          <a:solidFill>
            <a:srgbClr val="2F7D4F"/>
          </a:solidFill>
          <a:ln w="12700">
            <a:solidFill>
              <a:srgbClr val="2F7D4F"/>
            </a:solidFill>
            <a:prstDash val="solid"/>
          </a:ln>
        </p:spPr>
      </p:sp>
      <p:sp>
        <p:nvSpPr>
          <p:cNvPr id="18" name="Text 16"/>
          <p:cNvSpPr/>
          <p:nvPr/>
        </p:nvSpPr>
        <p:spPr>
          <a:xfrm>
            <a:off x="8330184"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330184" y="2450592"/>
            <a:ext cx="3108960" cy="36576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The route</a:t>
            </a:r>
            <a:endParaRPr lang="en-US" sz="1700" dirty="0"/>
          </a:p>
        </p:txBody>
      </p:sp>
      <p:sp>
        <p:nvSpPr>
          <p:cNvPr id="20" name="Text 18"/>
          <p:cNvSpPr/>
          <p:nvPr/>
        </p:nvSpPr>
        <p:spPr>
          <a:xfrm>
            <a:off x="8330184" y="2889504"/>
            <a:ext cx="3108960" cy="100584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Build, buy, or extend what exists. Stated in writing, at the first funding decision, before there is a project team to disagree with</a:t>
            </a:r>
            <a:endParaRPr lang="en-US" sz="1150" dirty="0"/>
          </a:p>
        </p:txBody>
      </p:sp>
      <p:sp>
        <p:nvSpPr>
          <p:cNvPr id="21" name="Shape 19"/>
          <p:cNvSpPr/>
          <p:nvPr/>
        </p:nvSpPr>
        <p:spPr>
          <a:xfrm>
            <a:off x="502920" y="4343400"/>
            <a:ext cx="11247120" cy="960120"/>
          </a:xfrm>
          <a:prstGeom prst="roundRect">
            <a:avLst>
              <a:gd name="adj" fmla="val 8571"/>
            </a:avLst>
          </a:prstGeom>
          <a:solidFill>
            <a:srgbClr val="1C1917"/>
          </a:solidFill>
          <a:ln w="12700">
            <a:solidFill>
              <a:srgbClr val="1C1917"/>
            </a:solidFill>
            <a:prstDash val="solid"/>
          </a:ln>
        </p:spPr>
      </p:sp>
      <p:sp>
        <p:nvSpPr>
          <p:cNvPr id="22" name="Text 20"/>
          <p:cNvSpPr/>
          <p:nvPr/>
        </p:nvSpPr>
        <p:spPr>
          <a:xfrm>
            <a:off x="822960" y="4526280"/>
            <a:ext cx="5486400" cy="237744"/>
          </a:xfrm>
          <a:prstGeom prst="rect">
            <a:avLst/>
          </a:prstGeom>
          <a:noFill/>
          <a:ln/>
        </p:spPr>
        <p:txBody>
          <a:bodyPr wrap="square" lIns="0" tIns="0" rIns="0" bIns="0" rtlCol="0" anchor="ctr"/>
          <a:lstStyle/>
          <a:p>
            <a:pPr indent="0" marL="0">
              <a:buNone/>
            </a:pPr>
            <a:r>
              <a:rPr lang="en-US" sz="1000" b="1" spc="200" kern="0" dirty="0">
                <a:solidFill>
                  <a:srgbClr val="8FB6BC"/>
                </a:solidFill>
                <a:latin typeface="Calibri" pitchFamily="34" charset="0"/>
                <a:ea typeface="Calibri" pitchFamily="34" charset="-122"/>
                <a:cs typeface="Calibri" pitchFamily="34" charset="-120"/>
              </a:rPr>
              <a:t>THE FIVE QUESTIONS THE IMPACT LIST ANSWERS</a:t>
            </a:r>
            <a:endParaRPr lang="en-US" sz="1000" dirty="0"/>
          </a:p>
        </p:txBody>
      </p:sp>
      <p:sp>
        <p:nvSpPr>
          <p:cNvPr id="23" name="Text 21"/>
          <p:cNvSpPr/>
          <p:nvPr/>
        </p:nvSpPr>
        <p:spPr>
          <a:xfrm>
            <a:off x="822960" y="4800600"/>
            <a:ext cx="10607040" cy="457200"/>
          </a:xfrm>
          <a:prstGeom prst="rect">
            <a:avLst/>
          </a:prstGeom>
          <a:noFill/>
          <a:ln/>
        </p:spPr>
        <p:txBody>
          <a:bodyPr wrap="square" lIns="0" tIns="0" rIns="0" bIns="0" rtlCol="0" anchor="ctr"/>
          <a:lstStyle/>
          <a:p>
            <a:pPr indent="0" marL="0">
              <a:lnSpc>
                <a:spcPts val="1700"/>
              </a:lnSpc>
              <a:buNone/>
            </a:pPr>
            <a:r>
              <a:rPr lang="en-US" sz="1200" dirty="0">
                <a:solidFill>
                  <a:srgbClr val="CFC9BD"/>
                </a:solidFill>
                <a:latin typeface="Calibri" pitchFamily="34" charset="0"/>
                <a:ea typeface="Calibri" pitchFamily="34" charset="-122"/>
                <a:cs typeface="Calibri" pitchFamily="34" charset="-120"/>
              </a:rPr>
              <a:t>Does this create or change data it does not own?  -  Does it duplicate a capability that already has a system?  -  Which interfaces break, and who owns them?  -  Which markets are affected who do not yet know?  -  Is there already a registered exception here that this project should be closing rather than working around?</a:t>
            </a:r>
            <a:endParaRPr lang="en-US" sz="1200" dirty="0"/>
          </a:p>
        </p:txBody>
      </p:sp>
      <p:sp>
        <p:nvSpPr>
          <p:cNvPr id="24" name="Shape 22"/>
          <p:cNvSpPr/>
          <p:nvPr/>
        </p:nvSpPr>
        <p:spPr>
          <a:xfrm>
            <a:off x="502920" y="5532120"/>
            <a:ext cx="11247120" cy="777240"/>
          </a:xfrm>
          <a:prstGeom prst="roundRect">
            <a:avLst>
              <a:gd name="adj" fmla="val 10588"/>
            </a:avLst>
          </a:prstGeom>
          <a:solidFill>
            <a:srgbClr val="F5ECD7"/>
          </a:solidFill>
          <a:ln w="12700">
            <a:solidFill>
              <a:srgbClr val="D9BE85"/>
            </a:solidFill>
            <a:prstDash val="solid"/>
          </a:ln>
        </p:spPr>
      </p:sp>
      <p:sp>
        <p:nvSpPr>
          <p:cNvPr id="25" name="Text 23"/>
          <p:cNvSpPr/>
          <p:nvPr/>
        </p:nvSpPr>
        <p:spPr>
          <a:xfrm>
            <a:off x="822960" y="5715000"/>
            <a:ext cx="10607040" cy="45720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The third path is the most common and the least documented: extend what already exists. A meaningful share of projects that arrive as build or buy are neither, and the impact list is what reveals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FORK</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What actually differs</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Treating the two paths as one process is the second most common way this fails</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47120" cy="914400"/>
        </p:xfrm>
        <a:graphic>
          <a:graphicData uri="http://schemas.openxmlformats.org/drawingml/2006/table">
            <a:tbl>
              <a:tblPr/>
              <a:tblGrid>
                <a:gridCol w="2560320"/>
                <a:gridCol w="4343400"/>
                <a:gridCol w="4343400"/>
              </a:tblGrid>
              <a:tr h="566928">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Build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Buy</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When architecture speaks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Continuously, from definition through execution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Once, before the long list is drawn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What it produces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Design constraints with tests, pattern references, interface contracts, object impacts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RFP architecture section, weighted criteria with anchors, integration annex, exit clauses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Point of no return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Soft. Refactoring is expensive, not impossible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Contract signature. Absolute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What can still change after</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Most things, at a cost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Configuration, and whatever the contract says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Characteristic failure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Reviewing the design after the sprint that built it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Being invited after the shortlist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Cost of being late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 refactor, and a bruised relationship</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Three years of living with the softening</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5394960"/>
            <a:ext cx="11247120" cy="914400"/>
          </a:xfrm>
          <a:prstGeom prst="roundRect">
            <a:avLst>
              <a:gd name="adj" fmla="val 9000"/>
            </a:avLst>
          </a:prstGeom>
          <a:solidFill>
            <a:srgbClr val="1C1917"/>
          </a:solidFill>
          <a:ln w="12700">
            <a:solidFill>
              <a:srgbClr val="1C1917"/>
            </a:solidFill>
            <a:prstDash val="solid"/>
          </a:ln>
        </p:spPr>
      </p:sp>
      <p:sp>
        <p:nvSpPr>
          <p:cNvPr id="8" name="Text 5"/>
          <p:cNvSpPr/>
          <p:nvPr/>
        </p:nvSpPr>
        <p:spPr>
          <a:xfrm>
            <a:off x="822960" y="5559552"/>
            <a:ext cx="6400800" cy="237744"/>
          </a:xfrm>
          <a:prstGeom prst="rect">
            <a:avLst/>
          </a:prstGeom>
          <a:noFill/>
          <a:ln/>
        </p:spPr>
        <p:txBody>
          <a:bodyPr wrap="square" lIns="0" tIns="0" rIns="0" bIns="0" rtlCol="0" anchor="ctr"/>
          <a:lstStyle/>
          <a:p>
            <a:pPr indent="0" marL="0">
              <a:buNone/>
            </a:pPr>
            <a:r>
              <a:rPr lang="en-US" sz="1000" b="1" spc="200" kern="0" dirty="0">
                <a:solidFill>
                  <a:srgbClr val="8FB6BC"/>
                </a:solidFill>
                <a:latin typeface="Calibri" pitchFamily="34" charset="0"/>
                <a:ea typeface="Calibri" pitchFamily="34" charset="-122"/>
                <a:cs typeface="Calibri" pitchFamily="34" charset="-120"/>
              </a:rPr>
              <a:t>THE ASYMMETRY, FOR A STEERING COMMITTEE</a:t>
            </a:r>
            <a:endParaRPr lang="en-US" sz="1000" dirty="0"/>
          </a:p>
        </p:txBody>
      </p:sp>
      <p:sp>
        <p:nvSpPr>
          <p:cNvPr id="9" name="Text 6"/>
          <p:cNvSpPr/>
          <p:nvPr/>
        </p:nvSpPr>
        <p:spPr>
          <a:xfrm>
            <a:off x="822960" y="5815584"/>
            <a:ext cx="10607040" cy="457200"/>
          </a:xfrm>
          <a:prstGeom prst="rect">
            <a:avLst/>
          </a:prstGeom>
          <a:noFill/>
          <a:ln/>
        </p:spPr>
        <p:txBody>
          <a:bodyPr wrap="square" lIns="0" tIns="0" rIns="0" bIns="0" rtlCol="0" anchor="ctr"/>
          <a:lstStyle/>
          <a:p>
            <a:pPr indent="0" marL="0">
              <a:lnSpc>
                <a:spcPts val="1900"/>
              </a:lnSpc>
              <a:buNone/>
            </a:pPr>
            <a:r>
              <a:rPr lang="en-US" sz="1300" dirty="0">
                <a:solidFill>
                  <a:srgbClr val="CFC9BD"/>
                </a:solidFill>
                <a:latin typeface="Calibri" pitchFamily="34" charset="0"/>
                <a:ea typeface="Calibri" pitchFamily="34" charset="-122"/>
                <a:cs typeface="Calibri" pitchFamily="34" charset="-120"/>
              </a:rPr>
              <a:t>On the build path you can change your mind, and it costs money. On the buy path you get one attempt, it happens earlier than anyone expects, and after it your only remaining instrument is a change request priced by somebody who knows you have no alternative.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BUY PATH</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Be there before the long list</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Every week later costs leverage that cannot be bought back</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783080"/>
            <a:ext cx="1737360" cy="3291840"/>
          </a:xfrm>
          <a:prstGeom prst="roundRect">
            <a:avLst>
              <a:gd name="adj" fmla="val 4737"/>
            </a:avLst>
          </a:prstGeom>
          <a:solidFill>
            <a:srgbClr val="E3EFE7"/>
          </a:solidFill>
          <a:ln w="12700">
            <a:solidFill>
              <a:srgbClr val="9DC4AA"/>
            </a:solidFill>
            <a:prstDash val="solid"/>
          </a:ln>
        </p:spPr>
      </p:sp>
      <p:sp>
        <p:nvSpPr>
          <p:cNvPr id="7" name="Text 5"/>
          <p:cNvSpPr/>
          <p:nvPr/>
        </p:nvSpPr>
        <p:spPr>
          <a:xfrm>
            <a:off x="649224" y="1938528"/>
            <a:ext cx="1463040" cy="274320"/>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IN</a:t>
            </a:r>
            <a:endParaRPr lang="en-US" sz="1100" dirty="0"/>
          </a:p>
        </p:txBody>
      </p:sp>
      <p:sp>
        <p:nvSpPr>
          <p:cNvPr id="8" name="Text 6"/>
          <p:cNvSpPr/>
          <p:nvPr/>
        </p:nvSpPr>
        <p:spPr>
          <a:xfrm>
            <a:off x="649224" y="2249424"/>
            <a:ext cx="1463040" cy="640080"/>
          </a:xfrm>
          <a:prstGeom prst="rect">
            <a:avLst/>
          </a:prstGeom>
          <a:noFill/>
          <a:ln/>
        </p:spPr>
        <p:txBody>
          <a:bodyPr wrap="square" lIns="0" tIns="0" rIns="0" bIns="0" rtlCol="0" anchor="ctr"/>
          <a:lstStyle/>
          <a:p>
            <a:pPr indent="0" marL="0">
              <a:lnSpc>
                <a:spcPts val="1700"/>
              </a:lnSpc>
              <a:buNone/>
            </a:pPr>
            <a:r>
              <a:rPr lang="en-US" sz="1400" b="1" dirty="0">
                <a:solidFill>
                  <a:srgbClr val="1C1917"/>
                </a:solidFill>
                <a:latin typeface="Cambria" pitchFamily="34" charset="0"/>
                <a:ea typeface="Cambria" pitchFamily="34" charset="-122"/>
                <a:cs typeface="Cambria" pitchFamily="34" charset="-120"/>
              </a:rPr>
              <a:t>Requirements gathering</a:t>
            </a:r>
            <a:endParaRPr lang="en-US" sz="1400" dirty="0"/>
          </a:p>
        </p:txBody>
      </p:sp>
      <p:sp>
        <p:nvSpPr>
          <p:cNvPr id="9" name="Text 7"/>
          <p:cNvSpPr/>
          <p:nvPr/>
        </p:nvSpPr>
        <p:spPr>
          <a:xfrm>
            <a:off x="649224" y="2962656"/>
            <a:ext cx="1463040" cy="192024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Draft the architecture section. Two to four mandatory criteria, five weighted with anchors</a:t>
            </a:r>
            <a:endParaRPr lang="en-US" sz="1050" dirty="0"/>
          </a:p>
        </p:txBody>
      </p:sp>
      <p:sp>
        <p:nvSpPr>
          <p:cNvPr id="10" name="Shape 8"/>
          <p:cNvSpPr/>
          <p:nvPr/>
        </p:nvSpPr>
        <p:spPr>
          <a:xfrm>
            <a:off x="2386584" y="1783080"/>
            <a:ext cx="1737360" cy="3291840"/>
          </a:xfrm>
          <a:prstGeom prst="roundRect">
            <a:avLst>
              <a:gd name="adj" fmla="val 4737"/>
            </a:avLst>
          </a:prstGeom>
          <a:solidFill>
            <a:srgbClr val="E3EFE7"/>
          </a:solidFill>
          <a:ln w="12700">
            <a:solidFill>
              <a:srgbClr val="9DC4AA"/>
            </a:solidFill>
            <a:prstDash val="solid"/>
          </a:ln>
        </p:spPr>
      </p:sp>
      <p:sp>
        <p:nvSpPr>
          <p:cNvPr id="11" name="Text 9"/>
          <p:cNvSpPr/>
          <p:nvPr/>
        </p:nvSpPr>
        <p:spPr>
          <a:xfrm>
            <a:off x="2532888" y="1938528"/>
            <a:ext cx="1463040" cy="274320"/>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IN</a:t>
            </a:r>
            <a:endParaRPr lang="en-US" sz="1100" dirty="0"/>
          </a:p>
        </p:txBody>
      </p:sp>
      <p:sp>
        <p:nvSpPr>
          <p:cNvPr id="12" name="Text 10"/>
          <p:cNvSpPr/>
          <p:nvPr/>
        </p:nvSpPr>
        <p:spPr>
          <a:xfrm>
            <a:off x="2532888" y="2249424"/>
            <a:ext cx="1463040" cy="640080"/>
          </a:xfrm>
          <a:prstGeom prst="rect">
            <a:avLst/>
          </a:prstGeom>
          <a:noFill/>
          <a:ln/>
        </p:spPr>
        <p:txBody>
          <a:bodyPr wrap="square" lIns="0" tIns="0" rIns="0" bIns="0" rtlCol="0" anchor="ctr"/>
          <a:lstStyle/>
          <a:p>
            <a:pPr indent="0" marL="0">
              <a:lnSpc>
                <a:spcPts val="1700"/>
              </a:lnSpc>
              <a:buNone/>
            </a:pPr>
            <a:r>
              <a:rPr lang="en-US" sz="1400" b="1" dirty="0">
                <a:solidFill>
                  <a:srgbClr val="1C1917"/>
                </a:solidFill>
                <a:latin typeface="Cambria" pitchFamily="34" charset="0"/>
                <a:ea typeface="Cambria" pitchFamily="34" charset="-122"/>
                <a:cs typeface="Cambria" pitchFamily="34" charset="-120"/>
              </a:rPr>
              <a:t>Long list</a:t>
            </a:r>
            <a:endParaRPr lang="en-US" sz="1400" dirty="0"/>
          </a:p>
        </p:txBody>
      </p:sp>
      <p:sp>
        <p:nvSpPr>
          <p:cNvPr id="13" name="Text 11"/>
          <p:cNvSpPr/>
          <p:nvPr/>
        </p:nvSpPr>
        <p:spPr>
          <a:xfrm>
            <a:off x="2532888" y="2962656"/>
            <a:ext cx="1463040" cy="192024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Mandatory criteria applied. Vendors who cannot meet them are removed here, cheaply</a:t>
            </a:r>
            <a:endParaRPr lang="en-US" sz="1050" dirty="0"/>
          </a:p>
        </p:txBody>
      </p:sp>
      <p:sp>
        <p:nvSpPr>
          <p:cNvPr id="14" name="Shape 12"/>
          <p:cNvSpPr/>
          <p:nvPr/>
        </p:nvSpPr>
        <p:spPr>
          <a:xfrm>
            <a:off x="4270248" y="1783080"/>
            <a:ext cx="1737360" cy="3291840"/>
          </a:xfrm>
          <a:prstGeom prst="roundRect">
            <a:avLst>
              <a:gd name="adj" fmla="val 4737"/>
            </a:avLst>
          </a:prstGeom>
          <a:solidFill>
            <a:srgbClr val="F5ECD7"/>
          </a:solidFill>
          <a:ln w="12700">
            <a:solidFill>
              <a:srgbClr val="D9BE85"/>
            </a:solidFill>
            <a:prstDash val="solid"/>
          </a:ln>
        </p:spPr>
      </p:sp>
      <p:sp>
        <p:nvSpPr>
          <p:cNvPr id="15" name="Text 13"/>
          <p:cNvSpPr/>
          <p:nvPr/>
        </p:nvSpPr>
        <p:spPr>
          <a:xfrm>
            <a:off x="4416552" y="1938528"/>
            <a:ext cx="1463040" cy="274320"/>
          </a:xfrm>
          <a:prstGeom prst="rect">
            <a:avLst/>
          </a:prstGeom>
          <a:noFill/>
          <a:ln/>
        </p:spPr>
        <p:txBody>
          <a:bodyPr wrap="square" lIns="0" tIns="0" rIns="0" bIns="0" rtlCol="0" anchor="ctr"/>
          <a:lstStyle/>
          <a:p>
            <a:pPr indent="0" marL="0">
              <a:buNone/>
            </a:pPr>
            <a:r>
              <a:rPr lang="en-US" sz="1100" b="1" spc="200" kern="0" dirty="0">
                <a:solidFill>
                  <a:srgbClr val="B98A2E"/>
                </a:solidFill>
                <a:latin typeface="Calibri" pitchFamily="34" charset="0"/>
                <a:ea typeface="Calibri" pitchFamily="34" charset="-122"/>
                <a:cs typeface="Calibri" pitchFamily="34" charset="-120"/>
              </a:rPr>
              <a:t>LATE</a:t>
            </a:r>
            <a:endParaRPr lang="en-US" sz="1100" dirty="0"/>
          </a:p>
        </p:txBody>
      </p:sp>
      <p:sp>
        <p:nvSpPr>
          <p:cNvPr id="16" name="Text 14"/>
          <p:cNvSpPr/>
          <p:nvPr/>
        </p:nvSpPr>
        <p:spPr>
          <a:xfrm>
            <a:off x="4416552" y="2249424"/>
            <a:ext cx="1463040" cy="640080"/>
          </a:xfrm>
          <a:prstGeom prst="rect">
            <a:avLst/>
          </a:prstGeom>
          <a:noFill/>
          <a:ln/>
        </p:spPr>
        <p:txBody>
          <a:bodyPr wrap="square" lIns="0" tIns="0" rIns="0" bIns="0" rtlCol="0" anchor="ctr"/>
          <a:lstStyle/>
          <a:p>
            <a:pPr indent="0" marL="0">
              <a:lnSpc>
                <a:spcPts val="1700"/>
              </a:lnSpc>
              <a:buNone/>
            </a:pPr>
            <a:r>
              <a:rPr lang="en-US" sz="1400" b="1" dirty="0">
                <a:solidFill>
                  <a:srgbClr val="1C1917"/>
                </a:solidFill>
                <a:latin typeface="Cambria" pitchFamily="34" charset="0"/>
                <a:ea typeface="Cambria" pitchFamily="34" charset="-122"/>
                <a:cs typeface="Cambria" pitchFamily="34" charset="-120"/>
              </a:rPr>
              <a:t>Shortlist</a:t>
            </a:r>
            <a:endParaRPr lang="en-US" sz="1400" dirty="0"/>
          </a:p>
        </p:txBody>
      </p:sp>
      <p:sp>
        <p:nvSpPr>
          <p:cNvPr id="17" name="Text 15"/>
          <p:cNvSpPr/>
          <p:nvPr/>
        </p:nvSpPr>
        <p:spPr>
          <a:xfrm>
            <a:off x="4416552" y="2962656"/>
            <a:ext cx="1463040" cy="192024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Three vendors narrowed on commercial grounds. Saying "none of these fit" is now expensive</a:t>
            </a:r>
            <a:endParaRPr lang="en-US" sz="1050" dirty="0"/>
          </a:p>
        </p:txBody>
      </p:sp>
      <p:sp>
        <p:nvSpPr>
          <p:cNvPr id="18" name="Shape 16"/>
          <p:cNvSpPr/>
          <p:nvPr/>
        </p:nvSpPr>
        <p:spPr>
          <a:xfrm>
            <a:off x="6153912" y="1783080"/>
            <a:ext cx="1737360" cy="3291840"/>
          </a:xfrm>
          <a:prstGeom prst="roundRect">
            <a:avLst>
              <a:gd name="adj" fmla="val 4737"/>
            </a:avLst>
          </a:prstGeom>
          <a:solidFill>
            <a:srgbClr val="F5ECD7"/>
          </a:solidFill>
          <a:ln w="12700">
            <a:solidFill>
              <a:srgbClr val="D9BE85"/>
            </a:solidFill>
            <a:prstDash val="solid"/>
          </a:ln>
        </p:spPr>
      </p:sp>
      <p:sp>
        <p:nvSpPr>
          <p:cNvPr id="19" name="Text 17"/>
          <p:cNvSpPr/>
          <p:nvPr/>
        </p:nvSpPr>
        <p:spPr>
          <a:xfrm>
            <a:off x="6300216" y="1938528"/>
            <a:ext cx="1463040" cy="274320"/>
          </a:xfrm>
          <a:prstGeom prst="rect">
            <a:avLst/>
          </a:prstGeom>
          <a:noFill/>
          <a:ln/>
        </p:spPr>
        <p:txBody>
          <a:bodyPr wrap="square" lIns="0" tIns="0" rIns="0" bIns="0" rtlCol="0" anchor="ctr"/>
          <a:lstStyle/>
          <a:p>
            <a:pPr indent="0" marL="0">
              <a:buNone/>
            </a:pPr>
            <a:r>
              <a:rPr lang="en-US" sz="1100" b="1" spc="200" kern="0" dirty="0">
                <a:solidFill>
                  <a:srgbClr val="B98A2E"/>
                </a:solidFill>
                <a:latin typeface="Calibri" pitchFamily="34" charset="0"/>
                <a:ea typeface="Calibri" pitchFamily="34" charset="-122"/>
                <a:cs typeface="Calibri" pitchFamily="34" charset="-120"/>
              </a:rPr>
              <a:t>LATE</a:t>
            </a:r>
            <a:endParaRPr lang="en-US" sz="1100" dirty="0"/>
          </a:p>
        </p:txBody>
      </p:sp>
      <p:sp>
        <p:nvSpPr>
          <p:cNvPr id="20" name="Text 18"/>
          <p:cNvSpPr/>
          <p:nvPr/>
        </p:nvSpPr>
        <p:spPr>
          <a:xfrm>
            <a:off x="6300216" y="2249424"/>
            <a:ext cx="1463040" cy="640080"/>
          </a:xfrm>
          <a:prstGeom prst="rect">
            <a:avLst/>
          </a:prstGeom>
          <a:noFill/>
          <a:ln/>
        </p:spPr>
        <p:txBody>
          <a:bodyPr wrap="square" lIns="0" tIns="0" rIns="0" bIns="0" rtlCol="0" anchor="ctr"/>
          <a:lstStyle/>
          <a:p>
            <a:pPr indent="0" marL="0">
              <a:lnSpc>
                <a:spcPts val="1700"/>
              </a:lnSpc>
              <a:buNone/>
            </a:pPr>
            <a:r>
              <a:rPr lang="en-US" sz="1400" b="1" dirty="0">
                <a:solidFill>
                  <a:srgbClr val="1C1917"/>
                </a:solidFill>
                <a:latin typeface="Cambria" pitchFamily="34" charset="0"/>
                <a:ea typeface="Cambria" pitchFamily="34" charset="-122"/>
                <a:cs typeface="Cambria" pitchFamily="34" charset="-120"/>
              </a:rPr>
              <a:t>Demonstrations</a:t>
            </a:r>
            <a:endParaRPr lang="en-US" sz="1400" dirty="0"/>
          </a:p>
        </p:txBody>
      </p:sp>
      <p:sp>
        <p:nvSpPr>
          <p:cNvPr id="21" name="Text 19"/>
          <p:cNvSpPr/>
          <p:nvPr/>
        </p:nvSpPr>
        <p:spPr>
          <a:xfrm>
            <a:off x="6300216" y="2962656"/>
            <a:ext cx="1463040" cy="192024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You can still influence evidence, not criteria. Insist on live demos against your test instance</a:t>
            </a:r>
            <a:endParaRPr lang="en-US" sz="1050" dirty="0"/>
          </a:p>
        </p:txBody>
      </p:sp>
      <p:sp>
        <p:nvSpPr>
          <p:cNvPr id="22" name="Shape 20"/>
          <p:cNvSpPr/>
          <p:nvPr/>
        </p:nvSpPr>
        <p:spPr>
          <a:xfrm>
            <a:off x="8037576" y="1783080"/>
            <a:ext cx="1737360" cy="3291840"/>
          </a:xfrm>
          <a:prstGeom prst="roundRect">
            <a:avLst>
              <a:gd name="adj" fmla="val 4737"/>
            </a:avLst>
          </a:prstGeom>
          <a:solidFill>
            <a:srgbClr val="F2E4E0"/>
          </a:solidFill>
          <a:ln w="12700">
            <a:solidFill>
              <a:srgbClr val="C9998C"/>
            </a:solidFill>
            <a:prstDash val="solid"/>
          </a:ln>
        </p:spPr>
      </p:sp>
      <p:sp>
        <p:nvSpPr>
          <p:cNvPr id="23" name="Text 21"/>
          <p:cNvSpPr/>
          <p:nvPr/>
        </p:nvSpPr>
        <p:spPr>
          <a:xfrm>
            <a:off x="8183880" y="1938528"/>
            <a:ext cx="1463040" cy="274320"/>
          </a:xfrm>
          <a:prstGeom prst="rect">
            <a:avLst/>
          </a:prstGeom>
          <a:noFill/>
          <a:ln/>
        </p:spPr>
        <p:txBody>
          <a:bodyPr wrap="square" lIns="0" tIns="0" rIns="0" bIns="0" rtlCol="0" anchor="ctr"/>
          <a:lstStyle/>
          <a:p>
            <a:pPr indent="0" marL="0">
              <a:buNone/>
            </a:pPr>
            <a:r>
              <a:rPr lang="en-US" sz="1100" b="1" spc="200" kern="0" dirty="0">
                <a:solidFill>
                  <a:srgbClr val="9A4A3A"/>
                </a:solidFill>
                <a:latin typeface="Calibri" pitchFamily="34" charset="0"/>
                <a:ea typeface="Calibri" pitchFamily="34" charset="-122"/>
                <a:cs typeface="Calibri" pitchFamily="34" charset="-120"/>
              </a:rPr>
              <a:t>TOO LATE</a:t>
            </a:r>
            <a:endParaRPr lang="en-US" sz="1100" dirty="0"/>
          </a:p>
        </p:txBody>
      </p:sp>
      <p:sp>
        <p:nvSpPr>
          <p:cNvPr id="24" name="Text 22"/>
          <p:cNvSpPr/>
          <p:nvPr/>
        </p:nvSpPr>
        <p:spPr>
          <a:xfrm>
            <a:off x="8183880" y="2249424"/>
            <a:ext cx="1463040" cy="640080"/>
          </a:xfrm>
          <a:prstGeom prst="rect">
            <a:avLst/>
          </a:prstGeom>
          <a:noFill/>
          <a:ln/>
        </p:spPr>
        <p:txBody>
          <a:bodyPr wrap="square" lIns="0" tIns="0" rIns="0" bIns="0" rtlCol="0" anchor="ctr"/>
          <a:lstStyle/>
          <a:p>
            <a:pPr indent="0" marL="0">
              <a:lnSpc>
                <a:spcPts val="1700"/>
              </a:lnSpc>
              <a:buNone/>
            </a:pPr>
            <a:r>
              <a:rPr lang="en-US" sz="1400" b="1" dirty="0">
                <a:solidFill>
                  <a:srgbClr val="1C1917"/>
                </a:solidFill>
                <a:latin typeface="Cambria" pitchFamily="34" charset="0"/>
                <a:ea typeface="Cambria" pitchFamily="34" charset="-122"/>
                <a:cs typeface="Cambria" pitchFamily="34" charset="-120"/>
              </a:rPr>
              <a:t>Negotiation</a:t>
            </a:r>
            <a:endParaRPr lang="en-US" sz="1400" dirty="0"/>
          </a:p>
        </p:txBody>
      </p:sp>
      <p:sp>
        <p:nvSpPr>
          <p:cNvPr id="25" name="Text 23"/>
          <p:cNvSpPr/>
          <p:nvPr/>
        </p:nvSpPr>
        <p:spPr>
          <a:xfrm>
            <a:off x="8183880" y="2962656"/>
            <a:ext cx="1463040" cy="192024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Only clauses remain. Push the exit provision and the data extract</a:t>
            </a:r>
            <a:endParaRPr lang="en-US" sz="1050" dirty="0"/>
          </a:p>
        </p:txBody>
      </p:sp>
      <p:sp>
        <p:nvSpPr>
          <p:cNvPr id="26" name="Shape 24"/>
          <p:cNvSpPr/>
          <p:nvPr/>
        </p:nvSpPr>
        <p:spPr>
          <a:xfrm>
            <a:off x="9921240" y="1783080"/>
            <a:ext cx="1737360" cy="3291840"/>
          </a:xfrm>
          <a:prstGeom prst="roundRect">
            <a:avLst>
              <a:gd name="adj" fmla="val 4737"/>
            </a:avLst>
          </a:prstGeom>
          <a:solidFill>
            <a:srgbClr val="F2E4E0"/>
          </a:solidFill>
          <a:ln w="12700">
            <a:solidFill>
              <a:srgbClr val="C9998C"/>
            </a:solidFill>
            <a:prstDash val="solid"/>
          </a:ln>
        </p:spPr>
      </p:sp>
      <p:sp>
        <p:nvSpPr>
          <p:cNvPr id="27" name="Text 25"/>
          <p:cNvSpPr/>
          <p:nvPr/>
        </p:nvSpPr>
        <p:spPr>
          <a:xfrm>
            <a:off x="10067544" y="1938528"/>
            <a:ext cx="1463040" cy="274320"/>
          </a:xfrm>
          <a:prstGeom prst="rect">
            <a:avLst/>
          </a:prstGeom>
          <a:noFill/>
          <a:ln/>
        </p:spPr>
        <p:txBody>
          <a:bodyPr wrap="square" lIns="0" tIns="0" rIns="0" bIns="0" rtlCol="0" anchor="ctr"/>
          <a:lstStyle/>
          <a:p>
            <a:pPr indent="0" marL="0">
              <a:buNone/>
            </a:pPr>
            <a:r>
              <a:rPr lang="en-US" sz="1100" b="1" spc="200" kern="0" dirty="0">
                <a:solidFill>
                  <a:srgbClr val="9A4A3A"/>
                </a:solidFill>
                <a:latin typeface="Calibri" pitchFamily="34" charset="0"/>
                <a:ea typeface="Calibri" pitchFamily="34" charset="-122"/>
                <a:cs typeface="Calibri" pitchFamily="34" charset="-120"/>
              </a:rPr>
              <a:t>GONE</a:t>
            </a:r>
            <a:endParaRPr lang="en-US" sz="1100" dirty="0"/>
          </a:p>
        </p:txBody>
      </p:sp>
      <p:sp>
        <p:nvSpPr>
          <p:cNvPr id="28" name="Text 26"/>
          <p:cNvSpPr/>
          <p:nvPr/>
        </p:nvSpPr>
        <p:spPr>
          <a:xfrm>
            <a:off x="10067544" y="2249424"/>
            <a:ext cx="1463040" cy="640080"/>
          </a:xfrm>
          <a:prstGeom prst="rect">
            <a:avLst/>
          </a:prstGeom>
          <a:noFill/>
          <a:ln/>
        </p:spPr>
        <p:txBody>
          <a:bodyPr wrap="square" lIns="0" tIns="0" rIns="0" bIns="0" rtlCol="0" anchor="ctr"/>
          <a:lstStyle/>
          <a:p>
            <a:pPr indent="0" marL="0">
              <a:lnSpc>
                <a:spcPts val="1700"/>
              </a:lnSpc>
              <a:buNone/>
            </a:pPr>
            <a:r>
              <a:rPr lang="en-US" sz="1400" b="1" dirty="0">
                <a:solidFill>
                  <a:srgbClr val="1C1917"/>
                </a:solidFill>
                <a:latin typeface="Cambria" pitchFamily="34" charset="0"/>
                <a:ea typeface="Cambria" pitchFamily="34" charset="-122"/>
                <a:cs typeface="Cambria" pitchFamily="34" charset="-120"/>
              </a:rPr>
              <a:t>Signature</a:t>
            </a:r>
            <a:endParaRPr lang="en-US" sz="1400" dirty="0"/>
          </a:p>
        </p:txBody>
      </p:sp>
      <p:sp>
        <p:nvSpPr>
          <p:cNvPr id="29" name="Text 27"/>
          <p:cNvSpPr/>
          <p:nvPr/>
        </p:nvSpPr>
        <p:spPr>
          <a:xfrm>
            <a:off x="10067544" y="2962656"/>
            <a:ext cx="1463040" cy="192024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The leverage is spent. What follows is change requests at the vendor's price</a:t>
            </a:r>
            <a:endParaRPr lang="en-US" sz="1050" dirty="0"/>
          </a:p>
        </p:txBody>
      </p:sp>
      <p:sp>
        <p:nvSpPr>
          <p:cNvPr id="30" name="Shape 28"/>
          <p:cNvSpPr/>
          <p:nvPr/>
        </p:nvSpPr>
        <p:spPr>
          <a:xfrm>
            <a:off x="502920" y="5257800"/>
            <a:ext cx="11247120" cy="0"/>
          </a:xfrm>
          <a:prstGeom prst="line">
            <a:avLst/>
          </a:prstGeom>
          <a:noFill/>
          <a:ln w="25400">
            <a:solidFill>
              <a:srgbClr val="1C1917"/>
            </a:solidFill>
            <a:prstDash val="solid"/>
          </a:ln>
        </p:spPr>
      </p:sp>
      <p:sp>
        <p:nvSpPr>
          <p:cNvPr id="31" name="Shape 29"/>
          <p:cNvSpPr/>
          <p:nvPr/>
        </p:nvSpPr>
        <p:spPr>
          <a:xfrm>
            <a:off x="7863840" y="5074920"/>
            <a:ext cx="0" cy="365760"/>
          </a:xfrm>
          <a:prstGeom prst="line">
            <a:avLst/>
          </a:prstGeom>
          <a:noFill/>
          <a:ln w="38100">
            <a:solidFill>
              <a:srgbClr val="9A4A3A"/>
            </a:solidFill>
            <a:prstDash val="solid"/>
          </a:ln>
        </p:spPr>
      </p:sp>
      <p:sp>
        <p:nvSpPr>
          <p:cNvPr id="32" name="Text 30"/>
          <p:cNvSpPr/>
          <p:nvPr/>
        </p:nvSpPr>
        <p:spPr>
          <a:xfrm>
            <a:off x="7223760" y="5394960"/>
            <a:ext cx="2011680" cy="274320"/>
          </a:xfrm>
          <a:prstGeom prst="rect">
            <a:avLst/>
          </a:prstGeom>
          <a:noFill/>
          <a:ln/>
        </p:spPr>
        <p:txBody>
          <a:bodyPr wrap="square" lIns="0" tIns="0" rIns="0" bIns="0" rtlCol="0" anchor="ctr"/>
          <a:lstStyle/>
          <a:p>
            <a:pPr algn="ctr" indent="0" marL="0">
              <a:buNone/>
            </a:pPr>
            <a:r>
              <a:rPr lang="en-US" sz="1100" b="1" dirty="0">
                <a:solidFill>
                  <a:srgbClr val="9A4A3A"/>
                </a:solidFill>
                <a:latin typeface="Calibri" pitchFamily="34" charset="0"/>
                <a:ea typeface="Calibri" pitchFamily="34" charset="-122"/>
                <a:cs typeface="Calibri" pitchFamily="34" charset="-120"/>
              </a:rPr>
              <a:t>Point of no return</a:t>
            </a:r>
            <a:endParaRPr lang="en-US" sz="1100" dirty="0"/>
          </a:p>
        </p:txBody>
      </p:sp>
      <p:sp>
        <p:nvSpPr>
          <p:cNvPr id="33" name="Shape 31"/>
          <p:cNvSpPr/>
          <p:nvPr/>
        </p:nvSpPr>
        <p:spPr>
          <a:xfrm>
            <a:off x="502920" y="5760720"/>
            <a:ext cx="11247120" cy="548640"/>
          </a:xfrm>
          <a:prstGeom prst="roundRect">
            <a:avLst>
              <a:gd name="adj" fmla="val 15000"/>
            </a:avLst>
          </a:prstGeom>
          <a:solidFill>
            <a:srgbClr val="E7EFEE"/>
          </a:solidFill>
          <a:ln w="12700">
            <a:solidFill>
              <a:srgbClr val="BFD4D2"/>
            </a:solidFill>
            <a:prstDash val="solid"/>
          </a:ln>
        </p:spPr>
      </p:sp>
      <p:sp>
        <p:nvSpPr>
          <p:cNvPr id="34" name="Text 32"/>
          <p:cNvSpPr/>
          <p:nvPr/>
        </p:nvSpPr>
        <p:spPr>
          <a:xfrm>
            <a:off x="822960" y="5888736"/>
            <a:ext cx="10607040" cy="320040"/>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You cannot review your way into an integration capability the product does not have. Everything must be in the document that goes out.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BUILD PATH</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Presence, not submission</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An architect in the room beats a document in a queue, every time</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47120" cy="914400"/>
        </p:xfrm>
        <a:graphic>
          <a:graphicData uri="http://schemas.openxmlformats.org/drawingml/2006/table">
            <a:tbl>
              <a:tblPr/>
              <a:tblGrid>
                <a:gridCol w="1920240"/>
                <a:gridCol w="4206240"/>
                <a:gridCol w="3840480"/>
                <a:gridCol w="1280160"/>
              </a:tblGrid>
              <a:tr h="65836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architecture does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hands over</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Time cost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65836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Writes five to eight constraints, each with a test. Hands over design inputs in a conversation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constraint sheet, plus the target architecture and the patterns that already solve part of this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Half a day</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First design session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Attends. Answers questions. Says which of the constraints is likely to bite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Nothing written - the value is being present before the first sketch</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90 minutes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65836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Mid-build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Attends two or three sessions. Registers deviations as they arise, with expiry dates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Exception entries, not criticism</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2 hours a month</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Pre-deployment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Confirms the conformance checks in the definition of done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 tick, or a registered exception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30 minutes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65836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Closure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Accepts the repository delta</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Counts, checked by the PMO</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30 minutes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349240"/>
            <a:ext cx="5486400" cy="960120"/>
          </a:xfrm>
          <a:prstGeom prst="roundRect">
            <a:avLst>
              <a:gd name="adj" fmla="val 8571"/>
            </a:avLst>
          </a:prstGeom>
          <a:solidFill>
            <a:srgbClr val="F2E4E0"/>
          </a:solidFill>
          <a:ln w="12700">
            <a:solidFill>
              <a:srgbClr val="C9998C"/>
            </a:solidFill>
            <a:prstDash val="solid"/>
          </a:ln>
        </p:spPr>
      </p:sp>
      <p:sp>
        <p:nvSpPr>
          <p:cNvPr id="8" name="Text 5"/>
          <p:cNvSpPr/>
          <p:nvPr/>
        </p:nvSpPr>
        <p:spPr>
          <a:xfrm>
            <a:off x="777240" y="5513832"/>
            <a:ext cx="4572000" cy="237744"/>
          </a:xfrm>
          <a:prstGeom prst="rect">
            <a:avLst/>
          </a:prstGeom>
          <a:noFill/>
          <a:ln/>
        </p:spPr>
        <p:txBody>
          <a:bodyPr wrap="square" lIns="0" tIns="0" rIns="0" bIns="0" rtlCol="0" anchor="ctr"/>
          <a:lstStyle/>
          <a:p>
            <a:pPr indent="0" marL="0">
              <a:buNone/>
            </a:pPr>
            <a:r>
              <a:rPr lang="en-US" sz="1000" b="1" spc="200" kern="0" dirty="0">
                <a:solidFill>
                  <a:srgbClr val="9A4A3A"/>
                </a:solidFill>
                <a:latin typeface="Calibri" pitchFamily="34" charset="0"/>
                <a:ea typeface="Calibri" pitchFamily="34" charset="-122"/>
                <a:cs typeface="Calibri" pitchFamily="34" charset="-120"/>
              </a:rPr>
              <a:t>THE FAILURE TO AVOID</a:t>
            </a:r>
            <a:endParaRPr lang="en-US" sz="1000" dirty="0"/>
          </a:p>
        </p:txBody>
      </p:sp>
      <p:sp>
        <p:nvSpPr>
          <p:cNvPr id="9" name="Text 6"/>
          <p:cNvSpPr/>
          <p:nvPr/>
        </p:nvSpPr>
        <p:spPr>
          <a:xfrm>
            <a:off x="777240" y="5779008"/>
            <a:ext cx="4937760" cy="457200"/>
          </a:xfrm>
          <a:prstGeom prst="rect">
            <a:avLst/>
          </a:prstGeom>
          <a:noFill/>
          <a:ln/>
        </p:spPr>
        <p:txBody>
          <a:bodyPr wrap="square" lIns="0" tIns="0" rIns="0" bIns="0" rtlCol="0" anchor="ctr"/>
          <a:lstStyle/>
          <a:p>
            <a:pPr indent="0" marL="0">
              <a:lnSpc>
                <a:spcPts val="1600"/>
              </a:lnSpc>
              <a:buNone/>
            </a:pPr>
            <a:r>
              <a:rPr lang="en-US" sz="1200" dirty="0">
                <a:solidFill>
                  <a:srgbClr val="57534E"/>
                </a:solidFill>
                <a:latin typeface="Calibri" pitchFamily="34" charset="0"/>
                <a:ea typeface="Calibri" pitchFamily="34" charset="-122"/>
                <a:cs typeface="Calibri" pitchFamily="34" charset="-120"/>
              </a:rPr>
              <a:t>Reviewing the design after the sprint that built it. That converts advice into criticism and makes an enemy for no gain.</a:t>
            </a:r>
            <a:endParaRPr lang="en-US" sz="1200" dirty="0"/>
          </a:p>
        </p:txBody>
      </p:sp>
      <p:sp>
        <p:nvSpPr>
          <p:cNvPr id="10" name="Shape 7"/>
          <p:cNvSpPr/>
          <p:nvPr/>
        </p:nvSpPr>
        <p:spPr>
          <a:xfrm>
            <a:off x="6263640" y="5349240"/>
            <a:ext cx="5486400" cy="960120"/>
          </a:xfrm>
          <a:prstGeom prst="roundRect">
            <a:avLst>
              <a:gd name="adj" fmla="val 8571"/>
            </a:avLst>
          </a:prstGeom>
          <a:solidFill>
            <a:srgbClr val="E3EFE7"/>
          </a:solidFill>
          <a:ln w="12700">
            <a:solidFill>
              <a:srgbClr val="9DC4AA"/>
            </a:solidFill>
            <a:prstDash val="solid"/>
          </a:ln>
        </p:spPr>
      </p:sp>
      <p:sp>
        <p:nvSpPr>
          <p:cNvPr id="11" name="Text 8"/>
          <p:cNvSpPr/>
          <p:nvPr/>
        </p:nvSpPr>
        <p:spPr>
          <a:xfrm>
            <a:off x="6537960" y="5513832"/>
            <a:ext cx="457200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THE TOTAL ARCHITECTURE COST</a:t>
            </a:r>
            <a:endParaRPr lang="en-US" sz="1000" dirty="0"/>
          </a:p>
        </p:txBody>
      </p:sp>
      <p:sp>
        <p:nvSpPr>
          <p:cNvPr id="12" name="Text 9"/>
          <p:cNvSpPr/>
          <p:nvPr/>
        </p:nvSpPr>
        <p:spPr>
          <a:xfrm>
            <a:off x="6537960" y="5779008"/>
            <a:ext cx="4937760" cy="457200"/>
          </a:xfrm>
          <a:prstGeom prst="rect">
            <a:avLst/>
          </a:prstGeom>
          <a:noFill/>
          <a:ln/>
        </p:spPr>
        <p:txBody>
          <a:bodyPr wrap="square" lIns="0" tIns="0" rIns="0" bIns="0" rtlCol="0" anchor="ctr"/>
          <a:lstStyle/>
          <a:p>
            <a:pPr indent="0" marL="0">
              <a:lnSpc>
                <a:spcPts val="1600"/>
              </a:lnSpc>
              <a:buNone/>
            </a:pPr>
            <a:r>
              <a:rPr lang="en-US" sz="1200" dirty="0">
                <a:solidFill>
                  <a:srgbClr val="57534E"/>
                </a:solidFill>
                <a:latin typeface="Calibri" pitchFamily="34" charset="0"/>
                <a:ea typeface="Calibri" pitchFamily="34" charset="-122"/>
                <a:cs typeface="Calibri" pitchFamily="34" charset="-120"/>
              </a:rPr>
              <a:t>About six hours spread over four months, for a project of moderate size. That is the whole bill.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BUY PATH</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RFP architecture section, worked</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Two to four mandatory criteria, five weighted, anchors written before anyone sees a proposal</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47120" cy="914400"/>
        </p:xfrm>
        <a:graphic>
          <a:graphicData uri="http://schemas.openxmlformats.org/drawingml/2006/table">
            <a:tbl>
              <a:tblPr/>
              <a:tblGrid>
                <a:gridCol w="685800"/>
                <a:gridCol w="3246120"/>
                <a:gridCol w="1051560"/>
                <a:gridCol w="868680"/>
                <a:gridCol w="2743200"/>
                <a:gridCol w="2651760"/>
              </a:tblGrid>
              <a:tr h="42976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Ref</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Criterion</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Weight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 5 looks like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 2 looks like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42976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Operates against externally mastered core data without keeping its own authoritative copy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Mandatory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pass/fail</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Demonstrated live on our test instance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Data for named markets hosted in-country, contractually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Mandatory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pass/fail</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Named region in the draft contract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42976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Full data extract in a documented format within 30 days of termination</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Mandatory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pass/fail</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Clause offered before negotiation</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W-1</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Released, versioned APIs covering the objects we exchange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Weighted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Public docs, versioning policy, stated deprecation notice period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Bespoke endpoints per customer, no versioning</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42976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W-2</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Event publication for the objects we consume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Weighted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Native event stream with replay from a point in time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Polling only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W-3</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Configuration depth before code is required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Weighted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Our three known variants configurable, shown live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Two of three need vendor development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42976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W-4</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Identity integration with our standard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Weighted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Standards-based, self-service, demonstrated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Supported via a services engagement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W-5</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Upgrade cadence and customer control over timing</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Weighted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Published cadence, customer window, rehearsal environment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Forced upgrades with two weeks' notice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5577840"/>
            <a:ext cx="11247120" cy="731520"/>
          </a:xfrm>
          <a:prstGeom prst="roundRect">
            <a:avLst>
              <a:gd name="adj" fmla="val 11250"/>
            </a:avLst>
          </a:prstGeom>
          <a:solidFill>
            <a:srgbClr val="1C1917"/>
          </a:solidFill>
          <a:ln w="12700">
            <a:solidFill>
              <a:srgbClr val="1C1917"/>
            </a:solidFill>
            <a:prstDash val="solid"/>
          </a:ln>
        </p:spPr>
      </p:sp>
      <p:sp>
        <p:nvSpPr>
          <p:cNvPr id="8" name="Text 5"/>
          <p:cNvSpPr/>
          <p:nvPr/>
        </p:nvSpPr>
        <p:spPr>
          <a:xfrm>
            <a:off x="822960" y="5742432"/>
            <a:ext cx="10607040" cy="457200"/>
          </a:xfrm>
          <a:prstGeom prst="rect">
            <a:avLst/>
          </a:prstGeom>
          <a:noFill/>
          <a:ln/>
        </p:spPr>
        <p:txBody>
          <a:bodyPr wrap="square" lIns="0" tIns="0" rIns="0" bIns="0" rtlCol="0" anchor="ctr"/>
          <a:lstStyle/>
          <a:p>
            <a:pPr indent="0" marL="0">
              <a:buNone/>
            </a:pPr>
            <a:r>
              <a:rPr lang="en-US" sz="1250" dirty="0">
                <a:solidFill>
                  <a:srgbClr val="CFC9BD"/>
                </a:solidFill>
                <a:latin typeface="Calibri" pitchFamily="34" charset="0"/>
                <a:ea typeface="Calibri" pitchFamily="34" charset="-122"/>
                <a:cs typeface="Calibri" pitchFamily="34" charset="-120"/>
              </a:rPr>
              <a:t>A mandatory criterion removes a vendor rather than costing them points, which makes it worth more than any weight. I would trade five points of weighting for one more mandatory criterion any day of the week.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BUY PATH</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Evidence rules, and the weighting that decides</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A yes on a questionnaire is not evidence, and at ten per cent of the score neither is the assessment</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91640"/>
            <a:ext cx="5532120" cy="4023360"/>
          </a:xfrm>
          <a:prstGeom prst="roundRect">
            <a:avLst>
              <a:gd name="adj" fmla="val 2045"/>
            </a:avLst>
          </a:prstGeom>
          <a:solidFill>
            <a:srgbClr val="FFFFFF"/>
          </a:solidFill>
          <a:ln w="12700">
            <a:solidFill>
              <a:srgbClr val="E4E0D7"/>
            </a:solidFill>
            <a:prstDash val="solid"/>
          </a:ln>
        </p:spPr>
      </p:sp>
      <p:sp>
        <p:nvSpPr>
          <p:cNvPr id="7" name="Text 5"/>
          <p:cNvSpPr/>
          <p:nvPr/>
        </p:nvSpPr>
        <p:spPr>
          <a:xfrm>
            <a:off x="777240" y="1883664"/>
            <a:ext cx="45720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WHAT COUNTS AS EVIDENCE</a:t>
            </a:r>
            <a:endParaRPr lang="en-US" sz="1000" dirty="0"/>
          </a:p>
        </p:txBody>
      </p:sp>
      <p:sp>
        <p:nvSpPr>
          <p:cNvPr id="8" name="Text 6"/>
          <p:cNvSpPr/>
          <p:nvPr/>
        </p:nvSpPr>
        <p:spPr>
          <a:xfrm>
            <a:off x="777240" y="2212848"/>
            <a:ext cx="4937760" cy="256032"/>
          </a:xfrm>
          <a:prstGeom prst="rect">
            <a:avLst/>
          </a:prstGeom>
          <a:noFill/>
          <a:ln/>
        </p:spPr>
        <p:txBody>
          <a:bodyPr wrap="square" lIns="0" tIns="0" rIns="0" bIns="0" rtlCol="0" anchor="ctr"/>
          <a:lstStyle/>
          <a:p>
            <a:pPr indent="0" marL="0">
              <a:buNone/>
            </a:pPr>
            <a:r>
              <a:rPr lang="en-US" sz="1400" b="1" dirty="0">
                <a:solidFill>
                  <a:srgbClr val="1C1917"/>
                </a:solidFill>
                <a:latin typeface="Cambria" pitchFamily="34" charset="0"/>
                <a:ea typeface="Cambria" pitchFamily="34" charset="-122"/>
                <a:cs typeface="Cambria" pitchFamily="34" charset="-120"/>
              </a:rPr>
              <a:t>Live demonstration</a:t>
            </a:r>
            <a:endParaRPr lang="en-US" sz="1400" dirty="0"/>
          </a:p>
        </p:txBody>
      </p:sp>
      <p:sp>
        <p:nvSpPr>
          <p:cNvPr id="9" name="Text 7"/>
          <p:cNvSpPr/>
          <p:nvPr/>
        </p:nvSpPr>
        <p:spPr>
          <a:xfrm>
            <a:off x="777240" y="2487168"/>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On our test instance, with our data shapes. Not a recorded video, not a screenshot</a:t>
            </a:r>
            <a:endParaRPr lang="en-US" sz="1150" dirty="0"/>
          </a:p>
        </p:txBody>
      </p:sp>
      <p:sp>
        <p:nvSpPr>
          <p:cNvPr id="10" name="Text 8"/>
          <p:cNvSpPr/>
          <p:nvPr/>
        </p:nvSpPr>
        <p:spPr>
          <a:xfrm>
            <a:off x="777240" y="2926080"/>
            <a:ext cx="4937760" cy="256032"/>
          </a:xfrm>
          <a:prstGeom prst="rect">
            <a:avLst/>
          </a:prstGeom>
          <a:noFill/>
          <a:ln/>
        </p:spPr>
        <p:txBody>
          <a:bodyPr wrap="square" lIns="0" tIns="0" rIns="0" bIns="0" rtlCol="0" anchor="ctr"/>
          <a:lstStyle/>
          <a:p>
            <a:pPr indent="0" marL="0">
              <a:buNone/>
            </a:pPr>
            <a:r>
              <a:rPr lang="en-US" sz="1400" b="1" dirty="0">
                <a:solidFill>
                  <a:srgbClr val="1C1917"/>
                </a:solidFill>
                <a:latin typeface="Cambria" pitchFamily="34" charset="0"/>
                <a:ea typeface="Cambria" pitchFamily="34" charset="-122"/>
                <a:cs typeface="Cambria" pitchFamily="34" charset="-120"/>
              </a:rPr>
              <a:t>Published documentation</a:t>
            </a:r>
            <a:endParaRPr lang="en-US" sz="1400" dirty="0"/>
          </a:p>
        </p:txBody>
      </p:sp>
      <p:sp>
        <p:nvSpPr>
          <p:cNvPr id="11" name="Text 9"/>
          <p:cNvSpPr/>
          <p:nvPr/>
        </p:nvSpPr>
        <p:spPr>
          <a:xfrm>
            <a:off x="777240" y="3200400"/>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Public API reference, versioning policy, deprecation notice period</a:t>
            </a:r>
            <a:endParaRPr lang="en-US" sz="1150" dirty="0"/>
          </a:p>
        </p:txBody>
      </p:sp>
      <p:sp>
        <p:nvSpPr>
          <p:cNvPr id="12" name="Text 10"/>
          <p:cNvSpPr/>
          <p:nvPr/>
        </p:nvSpPr>
        <p:spPr>
          <a:xfrm>
            <a:off x="777240" y="3639312"/>
            <a:ext cx="4937760" cy="256032"/>
          </a:xfrm>
          <a:prstGeom prst="rect">
            <a:avLst/>
          </a:prstGeom>
          <a:noFill/>
          <a:ln/>
        </p:spPr>
        <p:txBody>
          <a:bodyPr wrap="square" lIns="0" tIns="0" rIns="0" bIns="0" rtlCol="0" anchor="ctr"/>
          <a:lstStyle/>
          <a:p>
            <a:pPr indent="0" marL="0">
              <a:buNone/>
            </a:pPr>
            <a:r>
              <a:rPr lang="en-US" sz="1400" b="1" dirty="0">
                <a:solidFill>
                  <a:srgbClr val="1C1917"/>
                </a:solidFill>
                <a:latin typeface="Cambria" pitchFamily="34" charset="0"/>
                <a:ea typeface="Cambria" pitchFamily="34" charset="-122"/>
                <a:cs typeface="Cambria" pitchFamily="34" charset="-120"/>
              </a:rPr>
              <a:t>Reference call</a:t>
            </a:r>
            <a:endParaRPr lang="en-US" sz="1400" dirty="0"/>
          </a:p>
        </p:txBody>
      </p:sp>
      <p:sp>
        <p:nvSpPr>
          <p:cNvPr id="13" name="Text 11"/>
          <p:cNvSpPr/>
          <p:nvPr/>
        </p:nvSpPr>
        <p:spPr>
          <a:xfrm>
            <a:off x="777240" y="3913632"/>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With a customer of similar shape and scale, chosen by us from a list, not by the vendor</a:t>
            </a:r>
            <a:endParaRPr lang="en-US" sz="1150" dirty="0"/>
          </a:p>
        </p:txBody>
      </p:sp>
      <p:sp>
        <p:nvSpPr>
          <p:cNvPr id="14" name="Text 12"/>
          <p:cNvSpPr/>
          <p:nvPr/>
        </p:nvSpPr>
        <p:spPr>
          <a:xfrm>
            <a:off x="777240" y="4352544"/>
            <a:ext cx="4937760" cy="256032"/>
          </a:xfrm>
          <a:prstGeom prst="rect">
            <a:avLst/>
          </a:prstGeom>
          <a:noFill/>
          <a:ln/>
        </p:spPr>
        <p:txBody>
          <a:bodyPr wrap="square" lIns="0" tIns="0" rIns="0" bIns="0" rtlCol="0" anchor="ctr"/>
          <a:lstStyle/>
          <a:p>
            <a:pPr indent="0" marL="0">
              <a:buNone/>
            </a:pPr>
            <a:r>
              <a:rPr lang="en-US" sz="1400" b="1" dirty="0">
                <a:solidFill>
                  <a:srgbClr val="1C1917"/>
                </a:solidFill>
                <a:latin typeface="Cambria" pitchFamily="34" charset="0"/>
                <a:ea typeface="Cambria" pitchFamily="34" charset="-122"/>
                <a:cs typeface="Cambria" pitchFamily="34" charset="-120"/>
              </a:rPr>
              <a:t>Contractual commitment</a:t>
            </a:r>
            <a:endParaRPr lang="en-US" sz="1400" dirty="0"/>
          </a:p>
        </p:txBody>
      </p:sp>
      <p:sp>
        <p:nvSpPr>
          <p:cNvPr id="15" name="Text 13"/>
          <p:cNvSpPr/>
          <p:nvPr/>
        </p:nvSpPr>
        <p:spPr>
          <a:xfrm>
            <a:off x="777240" y="4626864"/>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In the draft contract before negotiation, not promised in the proposal</a:t>
            </a:r>
            <a:endParaRPr lang="en-US" sz="1150" dirty="0"/>
          </a:p>
        </p:txBody>
      </p:sp>
      <p:sp>
        <p:nvSpPr>
          <p:cNvPr id="16" name="Text 14"/>
          <p:cNvSpPr/>
          <p:nvPr/>
        </p:nvSpPr>
        <p:spPr>
          <a:xfrm>
            <a:off x="777240" y="5065776"/>
            <a:ext cx="4937760" cy="256032"/>
          </a:xfrm>
          <a:prstGeom prst="rect">
            <a:avLst/>
          </a:prstGeom>
          <a:noFill/>
          <a:ln/>
        </p:spPr>
        <p:txBody>
          <a:bodyPr wrap="square" lIns="0" tIns="0" rIns="0" bIns="0" rtlCol="0" anchor="ctr"/>
          <a:lstStyle/>
          <a:p>
            <a:pPr indent="0" marL="0">
              <a:buNone/>
            </a:pPr>
            <a:r>
              <a:rPr lang="en-US" sz="1400" b="1" dirty="0">
                <a:solidFill>
                  <a:srgbClr val="9A4A3A"/>
                </a:solidFill>
                <a:latin typeface="Cambria" pitchFamily="34" charset="0"/>
                <a:ea typeface="Cambria" pitchFamily="34" charset="-122"/>
                <a:cs typeface="Cambria" pitchFamily="34" charset="-120"/>
              </a:rPr>
              <a:t>Not evidence</a:t>
            </a:r>
            <a:endParaRPr lang="en-US" sz="1400" dirty="0"/>
          </a:p>
        </p:txBody>
      </p:sp>
      <p:sp>
        <p:nvSpPr>
          <p:cNvPr id="17" name="Text 15"/>
          <p:cNvSpPr/>
          <p:nvPr/>
        </p:nvSpPr>
        <p:spPr>
          <a:xfrm>
            <a:off x="777240" y="5340096"/>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A yes on a questionnaire. Every vendor has answered that a thousand times, truthfully, and it separates nobody</a:t>
            </a:r>
            <a:endParaRPr lang="en-US" sz="1150" dirty="0"/>
          </a:p>
        </p:txBody>
      </p:sp>
      <p:sp>
        <p:nvSpPr>
          <p:cNvPr id="18" name="Shape 16"/>
          <p:cNvSpPr/>
          <p:nvPr/>
        </p:nvSpPr>
        <p:spPr>
          <a:xfrm>
            <a:off x="6309360" y="1691640"/>
            <a:ext cx="5440680" cy="4023360"/>
          </a:xfrm>
          <a:prstGeom prst="roundRect">
            <a:avLst>
              <a:gd name="adj" fmla="val 2045"/>
            </a:avLst>
          </a:prstGeom>
          <a:solidFill>
            <a:srgbClr val="E7EFEE"/>
          </a:solidFill>
          <a:ln w="12700">
            <a:solidFill>
              <a:srgbClr val="BFD4D2"/>
            </a:solidFill>
            <a:prstDash val="solid"/>
          </a:ln>
        </p:spPr>
      </p:sp>
      <p:sp>
        <p:nvSpPr>
          <p:cNvPr id="19" name="Text 17"/>
          <p:cNvSpPr/>
          <p:nvPr/>
        </p:nvSpPr>
        <p:spPr>
          <a:xfrm>
            <a:off x="6583680" y="1883664"/>
            <a:ext cx="45720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THE WEIGHTING CONVERSATION</a:t>
            </a:r>
            <a:endParaRPr lang="en-US" sz="1000" dirty="0"/>
          </a:p>
        </p:txBody>
      </p:sp>
      <p:sp>
        <p:nvSpPr>
          <p:cNvPr id="20" name="Text 18"/>
          <p:cNvSpPr/>
          <p:nvPr/>
        </p:nvSpPr>
        <p:spPr>
          <a:xfrm>
            <a:off x="6583680" y="2139696"/>
            <a:ext cx="4846320" cy="685800"/>
          </a:xfrm>
          <a:prstGeom prst="rect">
            <a:avLst/>
          </a:prstGeom>
          <a:noFill/>
          <a:ln/>
        </p:spPr>
        <p:txBody>
          <a:bodyPr wrap="square" lIns="0" tIns="0" rIns="0" bIns="0" rtlCol="0" anchor="ctr"/>
          <a:lstStyle/>
          <a:p>
            <a:pPr indent="0" marL="0">
              <a:buNone/>
            </a:pPr>
            <a:r>
              <a:rPr lang="en-US" sz="4400" b="1" dirty="0">
                <a:solidFill>
                  <a:srgbClr val="14606B"/>
                </a:solidFill>
                <a:latin typeface="Cambria" pitchFamily="34" charset="0"/>
                <a:ea typeface="Cambria" pitchFamily="34" charset="-122"/>
                <a:cs typeface="Cambria" pitchFamily="34" charset="-120"/>
              </a:rPr>
              <a:t>25-30%</a:t>
            </a:r>
            <a:endParaRPr lang="en-US" sz="4400" dirty="0"/>
          </a:p>
        </p:txBody>
      </p:sp>
      <p:sp>
        <p:nvSpPr>
          <p:cNvPr id="21" name="Text 19"/>
          <p:cNvSpPr/>
          <p:nvPr/>
        </p:nvSpPr>
        <p:spPr>
          <a:xfrm>
            <a:off x="6583680" y="2907792"/>
            <a:ext cx="4846320" cy="274320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Of the total evaluation score, or the architecture criteria do not matter and everyone in the room knows it.</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At ten per cent they are a rounding error with a seat at the table.</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Have this conversation with procurement before the criteria are written, not after the scores come back. It is a five-minute conversation at the start and an unwinnable one at the end.</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And keep architecture criteria separate from functional and commercial ones. Blending them produces a single misleading number that nobody can take apart afterwards.</a:t>
            </a:r>
            <a:endParaRPr lang="en-US" sz="1200" dirty="0"/>
          </a:p>
        </p:txBody>
      </p:sp>
      <p:sp>
        <p:nvSpPr>
          <p:cNvPr id="22" name="Shape 20"/>
          <p:cNvSpPr/>
          <p:nvPr/>
        </p:nvSpPr>
        <p:spPr>
          <a:xfrm>
            <a:off x="502920" y="5852160"/>
            <a:ext cx="11247120" cy="457200"/>
          </a:xfrm>
          <a:prstGeom prst="roundRect">
            <a:avLst>
              <a:gd name="adj" fmla="val 18000"/>
            </a:avLst>
          </a:prstGeom>
          <a:solidFill>
            <a:srgbClr val="F5ECD7"/>
          </a:solidFill>
          <a:ln w="12700">
            <a:solidFill>
              <a:srgbClr val="D9BE85"/>
            </a:solidFill>
            <a:prstDash val="solid"/>
          </a:ln>
        </p:spPr>
      </p:sp>
      <p:sp>
        <p:nvSpPr>
          <p:cNvPr id="23" name="Text 21"/>
          <p:cNvSpPr/>
          <p:nvPr/>
        </p:nvSpPr>
        <p:spPr>
          <a:xfrm>
            <a:off x="822960" y="5943600"/>
            <a:ext cx="10607040" cy="274320"/>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Never let procurement author the architecture criteria, and never let architecture set the commercial weighting. Both go wrong in predictable directions.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BUILD PATH</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delivery constraint sheet, worked</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Five to eight. Each one checkable alone, in five minutes, without a meeting</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47120" cy="914400"/>
        </p:xfrm>
        <a:graphic>
          <a:graphicData uri="http://schemas.openxmlformats.org/drawingml/2006/table">
            <a:tbl>
              <a:tblPr/>
              <a:tblGrid>
                <a:gridCol w="868680"/>
                <a:gridCol w="3291840"/>
                <a:gridCol w="4937760"/>
                <a:gridCol w="2148840"/>
              </a:tblGrid>
              <a:tr h="5257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Ref</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Constraint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52578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CON-01</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Every interface to the core uses a released API or event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Name the API or event for each integration point in your design. If you cannot name one, raise it now rather than at the review</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Integration standard rule 1</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2578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CON-02</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Supplier stays mastered by the core; this solution reads and proposes, it does not write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List every write in your design and name the object and its master. Any write to supplier is a deviation</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Principle P-01</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2578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CON-03</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Market D personal data stays in-country</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Name the component and region for every store of personal data</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Residency register</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2578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CON-04</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Use the existing onboarding workflow pattern rather than a new one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Point at the pattern reference, or state which of its constraints does not hold here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Pattern PAT-07</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2578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CON-05</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Close exception EXC-09 rather than extending it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Confirm at closure that EXC-09 is closed, not renewed</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Board decision ADR-071</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2578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CON-06</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No new local supplier store in any market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Does this design create a persistent supplier record outside the core or the two registered stores?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Principle P-03</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5440680"/>
            <a:ext cx="11247120" cy="822960"/>
          </a:xfrm>
          <a:prstGeom prst="roundRect">
            <a:avLst>
              <a:gd name="adj" fmla="val 10000"/>
            </a:avLst>
          </a:prstGeom>
          <a:solidFill>
            <a:srgbClr val="E7EFEE"/>
          </a:solidFill>
          <a:ln w="12700">
            <a:solidFill>
              <a:srgbClr val="BFD4D2"/>
            </a:solidFill>
            <a:prstDash val="solid"/>
          </a:ln>
        </p:spPr>
      </p:sp>
      <p:sp>
        <p:nvSpPr>
          <p:cNvPr id="8" name="Text 5"/>
          <p:cNvSpPr/>
          <p:nvPr/>
        </p:nvSpPr>
        <p:spPr>
          <a:xfrm>
            <a:off x="822960" y="5623560"/>
            <a:ext cx="10607040" cy="502920"/>
          </a:xfrm>
          <a:prstGeom prst="rect">
            <a:avLst/>
          </a:prstGeom>
          <a:noFill/>
          <a:ln/>
        </p:spPr>
        <p:txBody>
          <a:bodyPr wrap="square" lIns="0" tIns="0" rIns="0" bIns="0" rtlCol="0" anchor="ctr"/>
          <a:lstStyle/>
          <a:p>
            <a:pPr indent="0" marL="0">
              <a:lnSpc>
                <a:spcPts val="1800"/>
              </a:lnSpc>
              <a:buNone/>
            </a:pPr>
            <a:r>
              <a:rPr lang="en-US" sz="1250" dirty="0">
                <a:solidFill>
                  <a:srgbClr val="57534E"/>
                </a:solidFill>
                <a:latin typeface="Calibri" pitchFamily="34" charset="0"/>
                <a:ea typeface="Calibri" pitchFamily="34" charset="-122"/>
                <a:cs typeface="Calibri" pitchFamily="34" charset="-120"/>
              </a:rPr>
              <a:t>Attach the source to every one. A constraint that arrives with no source reads as personal preference and gets treated accordingly - and a team that disagrees needs to know exactly what to argue with.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TRANSLATION</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One constraint, three expressions</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single most useful page to hand a new architect</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45920"/>
            <a:ext cx="11247120" cy="1051560"/>
          </a:xfrm>
          <a:prstGeom prst="roundRect">
            <a:avLst>
              <a:gd name="adj" fmla="val 7826"/>
            </a:avLst>
          </a:prstGeom>
          <a:solidFill>
            <a:srgbClr val="1C1917"/>
          </a:solidFill>
          <a:ln w="12700">
            <a:solidFill>
              <a:srgbClr val="1C1917"/>
            </a:solidFill>
            <a:prstDash val="solid"/>
          </a:ln>
        </p:spPr>
      </p:sp>
      <p:sp>
        <p:nvSpPr>
          <p:cNvPr id="7" name="Text 5"/>
          <p:cNvSpPr/>
          <p:nvPr/>
        </p:nvSpPr>
        <p:spPr>
          <a:xfrm>
            <a:off x="822960" y="1828800"/>
            <a:ext cx="5486400" cy="237744"/>
          </a:xfrm>
          <a:prstGeom prst="rect">
            <a:avLst/>
          </a:prstGeom>
          <a:noFill/>
          <a:ln/>
        </p:spPr>
        <p:txBody>
          <a:bodyPr wrap="square" lIns="0" tIns="0" rIns="0" bIns="0" rtlCol="0" anchor="ctr"/>
          <a:lstStyle/>
          <a:p>
            <a:pPr indent="0" marL="0">
              <a:buNone/>
            </a:pPr>
            <a:r>
              <a:rPr lang="en-US" sz="1000" b="1" spc="200" kern="0" dirty="0">
                <a:solidFill>
                  <a:srgbClr val="8FB6BC"/>
                </a:solidFill>
                <a:latin typeface="Calibri" pitchFamily="34" charset="0"/>
                <a:ea typeface="Calibri" pitchFamily="34" charset="-122"/>
                <a:cs typeface="Calibri" pitchFamily="34" charset="-120"/>
              </a:rPr>
              <a:t>THE PRINCIPLE IT COMES FROM</a:t>
            </a:r>
            <a:endParaRPr lang="en-US" sz="1000" dirty="0"/>
          </a:p>
        </p:txBody>
      </p:sp>
      <p:sp>
        <p:nvSpPr>
          <p:cNvPr id="8" name="Text 6"/>
          <p:cNvSpPr/>
          <p:nvPr/>
        </p:nvSpPr>
        <p:spPr>
          <a:xfrm>
            <a:off x="822960" y="2084832"/>
            <a:ext cx="10607040" cy="457200"/>
          </a:xfrm>
          <a:prstGeom prst="rect">
            <a:avLst/>
          </a:prstGeom>
          <a:noFill/>
          <a:ln/>
        </p:spPr>
        <p:txBody>
          <a:bodyPr wrap="square" lIns="0" tIns="0" rIns="0" bIns="0" rtlCol="0" anchor="ctr"/>
          <a:lstStyle/>
          <a:p>
            <a:pPr indent="0" marL="0">
              <a:buNone/>
            </a:pPr>
            <a:r>
              <a:rPr lang="en-US" sz="2100" b="1" dirty="0">
                <a:solidFill>
                  <a:srgbClr val="FAF9F6"/>
                </a:solidFill>
                <a:latin typeface="Cambria" pitchFamily="34" charset="0"/>
                <a:ea typeface="Cambria" pitchFamily="34" charset="-122"/>
                <a:cs typeface="Cambria" pitchFamily="34" charset="-120"/>
              </a:rPr>
              <a:t>One system of record per object, even when a second copy would ship faster</a:t>
            </a:r>
            <a:endParaRPr lang="en-US" sz="2100" dirty="0"/>
          </a:p>
        </p:txBody>
      </p:sp>
      <p:sp>
        <p:nvSpPr>
          <p:cNvPr id="9" name="Shape 7"/>
          <p:cNvSpPr/>
          <p:nvPr/>
        </p:nvSpPr>
        <p:spPr>
          <a:xfrm>
            <a:off x="502920" y="2880360"/>
            <a:ext cx="5532120" cy="2834640"/>
          </a:xfrm>
          <a:prstGeom prst="roundRect">
            <a:avLst>
              <a:gd name="adj" fmla="val 2903"/>
            </a:avLst>
          </a:prstGeom>
          <a:solidFill>
            <a:srgbClr val="E7EFEE"/>
          </a:solidFill>
          <a:ln w="12700">
            <a:solidFill>
              <a:srgbClr val="BFD4D2"/>
            </a:solidFill>
            <a:prstDash val="solid"/>
          </a:ln>
        </p:spPr>
      </p:sp>
      <p:sp>
        <p:nvSpPr>
          <p:cNvPr id="10" name="Text 8"/>
          <p:cNvSpPr/>
          <p:nvPr/>
        </p:nvSpPr>
        <p:spPr>
          <a:xfrm>
            <a:off x="777240" y="3063240"/>
            <a:ext cx="45720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FOR THE DELIVERY TEAM</a:t>
            </a:r>
            <a:endParaRPr lang="en-US" sz="1000" dirty="0"/>
          </a:p>
        </p:txBody>
      </p:sp>
      <p:sp>
        <p:nvSpPr>
          <p:cNvPr id="11" name="Text 9"/>
          <p:cNvSpPr/>
          <p:nvPr/>
        </p:nvSpPr>
        <p:spPr>
          <a:xfrm>
            <a:off x="777240" y="3346704"/>
            <a:ext cx="4983480" cy="457200"/>
          </a:xfrm>
          <a:prstGeom prst="rect">
            <a:avLst/>
          </a:prstGeom>
          <a:noFill/>
          <a:ln/>
        </p:spPr>
        <p:txBody>
          <a:bodyPr wrap="square" lIns="0" tIns="0" rIns="0" bIns="0" rtlCol="0" anchor="ctr"/>
          <a:lstStyle/>
          <a:p>
            <a:pPr indent="0" marL="0">
              <a:lnSpc>
                <a:spcPts val="1800"/>
              </a:lnSpc>
              <a:buNone/>
            </a:pPr>
            <a:r>
              <a:rPr lang="en-US" sz="1150" i="1" dirty="0">
                <a:solidFill>
                  <a:srgbClr val="7D766E"/>
                </a:solidFill>
                <a:latin typeface="Calibri" pitchFamily="34" charset="0"/>
                <a:ea typeface="Calibri" pitchFamily="34" charset="-122"/>
                <a:cs typeface="Calibri" pitchFamily="34" charset="-120"/>
              </a:rPr>
              <a:t>A statement plus a test, checkable alone in five minutes</a:t>
            </a:r>
            <a:endParaRPr lang="en-US" sz="1150" dirty="0"/>
          </a:p>
        </p:txBody>
      </p:sp>
      <p:sp>
        <p:nvSpPr>
          <p:cNvPr id="12" name="Text 10"/>
          <p:cNvSpPr/>
          <p:nvPr/>
        </p:nvSpPr>
        <p:spPr>
          <a:xfrm>
            <a:off x="777240" y="3822192"/>
            <a:ext cx="4983480" cy="914400"/>
          </a:xfrm>
          <a:prstGeom prst="rect">
            <a:avLst/>
          </a:prstGeom>
          <a:noFill/>
          <a:ln/>
        </p:spPr>
        <p:txBody>
          <a:bodyPr wrap="square" lIns="0" tIns="0" rIns="0" bIns="0" rtlCol="0" anchor="ctr"/>
          <a:lstStyle/>
          <a:p>
            <a:pPr indent="0" marL="0">
              <a:lnSpc>
                <a:spcPts val="1900"/>
              </a:lnSpc>
              <a:buNone/>
            </a:pPr>
            <a:r>
              <a:rPr lang="en-US" sz="1300" dirty="0">
                <a:solidFill>
                  <a:srgbClr val="1C1917"/>
                </a:solidFill>
                <a:latin typeface="Calibri" pitchFamily="34" charset="0"/>
                <a:ea typeface="Calibri" pitchFamily="34" charset="-122"/>
                <a:cs typeface="Calibri" pitchFamily="34" charset="-120"/>
              </a:rPr>
              <a:t>Does this design create or update an object another system masters? Name the object and the owning system for every write in your design.</a:t>
            </a:r>
            <a:endParaRPr lang="en-US" sz="1300" dirty="0"/>
          </a:p>
        </p:txBody>
      </p:sp>
      <p:sp>
        <p:nvSpPr>
          <p:cNvPr id="13" name="Text 11"/>
          <p:cNvSpPr/>
          <p:nvPr/>
        </p:nvSpPr>
        <p:spPr>
          <a:xfrm>
            <a:off x="777240" y="4846320"/>
            <a:ext cx="4983480" cy="73152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Attach the source: Principle P-01. Five to eight per project - twenty means none get read.</a:t>
            </a:r>
            <a:endParaRPr lang="en-US" sz="1150" dirty="0"/>
          </a:p>
        </p:txBody>
      </p:sp>
      <p:sp>
        <p:nvSpPr>
          <p:cNvPr id="14" name="Shape 12"/>
          <p:cNvSpPr/>
          <p:nvPr/>
        </p:nvSpPr>
        <p:spPr>
          <a:xfrm>
            <a:off x="6309360" y="2880360"/>
            <a:ext cx="5440680" cy="2834640"/>
          </a:xfrm>
          <a:prstGeom prst="roundRect">
            <a:avLst>
              <a:gd name="adj" fmla="val 2903"/>
            </a:avLst>
          </a:prstGeom>
          <a:solidFill>
            <a:srgbClr val="F5ECD7"/>
          </a:solidFill>
          <a:ln w="12700">
            <a:solidFill>
              <a:srgbClr val="D9BE85"/>
            </a:solidFill>
            <a:prstDash val="solid"/>
          </a:ln>
        </p:spPr>
      </p:sp>
      <p:sp>
        <p:nvSpPr>
          <p:cNvPr id="15" name="Text 13"/>
          <p:cNvSpPr/>
          <p:nvPr/>
        </p:nvSpPr>
        <p:spPr>
          <a:xfrm>
            <a:off x="6583680" y="3063240"/>
            <a:ext cx="4572000" cy="237744"/>
          </a:xfrm>
          <a:prstGeom prst="rect">
            <a:avLst/>
          </a:prstGeom>
          <a:noFill/>
          <a:ln/>
        </p:spPr>
        <p:txBody>
          <a:bodyPr wrap="square" lIns="0" tIns="0" rIns="0" bIns="0" rtlCol="0" anchor="ctr"/>
          <a:lstStyle/>
          <a:p>
            <a:pPr indent="0" marL="0">
              <a:buNone/>
            </a:pPr>
            <a:r>
              <a:rPr lang="en-US" sz="1000" b="1" spc="200" kern="0" dirty="0">
                <a:solidFill>
                  <a:srgbClr val="B98A2E"/>
                </a:solidFill>
                <a:latin typeface="Calibri" pitchFamily="34" charset="0"/>
                <a:ea typeface="Calibri" pitchFamily="34" charset="-122"/>
                <a:cs typeface="Calibri" pitchFamily="34" charset="-120"/>
              </a:rPr>
              <a:t>FOR THE PROCUREMENT TEAM</a:t>
            </a:r>
            <a:endParaRPr lang="en-US" sz="1000" dirty="0"/>
          </a:p>
        </p:txBody>
      </p:sp>
      <p:sp>
        <p:nvSpPr>
          <p:cNvPr id="16" name="Text 14"/>
          <p:cNvSpPr/>
          <p:nvPr/>
        </p:nvSpPr>
        <p:spPr>
          <a:xfrm>
            <a:off x="6583680" y="3346704"/>
            <a:ext cx="4892040" cy="457200"/>
          </a:xfrm>
          <a:prstGeom prst="rect">
            <a:avLst/>
          </a:prstGeom>
          <a:noFill/>
          <a:ln/>
        </p:spPr>
        <p:txBody>
          <a:bodyPr wrap="square" lIns="0" tIns="0" rIns="0" bIns="0" rtlCol="0" anchor="ctr"/>
          <a:lstStyle/>
          <a:p>
            <a:pPr indent="0" marL="0">
              <a:lnSpc>
                <a:spcPts val="1800"/>
              </a:lnSpc>
              <a:buNone/>
            </a:pPr>
            <a:r>
              <a:rPr lang="en-US" sz="1150" i="1" dirty="0">
                <a:solidFill>
                  <a:srgbClr val="7D766E"/>
                </a:solidFill>
                <a:latin typeface="Calibri" pitchFamily="34" charset="0"/>
                <a:ea typeface="Calibri" pitchFamily="34" charset="-122"/>
                <a:cs typeface="Calibri" pitchFamily="34" charset="-120"/>
              </a:rPr>
              <a:t>Something they can score, with an evidence rule</a:t>
            </a:r>
            <a:endParaRPr lang="en-US" sz="1150" dirty="0"/>
          </a:p>
        </p:txBody>
      </p:sp>
      <p:sp>
        <p:nvSpPr>
          <p:cNvPr id="17" name="Text 15"/>
          <p:cNvSpPr/>
          <p:nvPr/>
        </p:nvSpPr>
        <p:spPr>
          <a:xfrm>
            <a:off x="6583680" y="3822192"/>
            <a:ext cx="4892040" cy="822960"/>
          </a:xfrm>
          <a:prstGeom prst="rect">
            <a:avLst/>
          </a:prstGeom>
          <a:noFill/>
          <a:ln/>
        </p:spPr>
        <p:txBody>
          <a:bodyPr wrap="square" lIns="0" tIns="0" rIns="0" bIns="0" rtlCol="0" anchor="ctr"/>
          <a:lstStyle/>
          <a:p>
            <a:pPr indent="0" marL="0">
              <a:lnSpc>
                <a:spcPts val="1900"/>
              </a:lnSpc>
              <a:buNone/>
            </a:pPr>
            <a:r>
              <a:rPr lang="en-US" sz="1300" dirty="0">
                <a:solidFill>
                  <a:srgbClr val="1C1917"/>
                </a:solidFill>
                <a:latin typeface="Calibri" pitchFamily="34" charset="0"/>
                <a:ea typeface="Calibri" pitchFamily="34" charset="-122"/>
                <a:cs typeface="Calibri" pitchFamily="34" charset="-120"/>
              </a:rPr>
              <a:t>Mandatory: the product can operate against externally mastered customer data without maintaining its own authoritative copy.</a:t>
            </a:r>
            <a:endParaRPr lang="en-US" sz="1300" dirty="0"/>
          </a:p>
        </p:txBody>
      </p:sp>
      <p:sp>
        <p:nvSpPr>
          <p:cNvPr id="18" name="Text 16"/>
          <p:cNvSpPr/>
          <p:nvPr/>
        </p:nvSpPr>
        <p:spPr>
          <a:xfrm>
            <a:off x="6583680" y="4754880"/>
            <a:ext cx="4892040" cy="8229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Evidence: live demonstration against our test instance, not a screenshot. Mandatory rather than weighted, because a copy cannot be removed later.</a:t>
            </a:r>
            <a:endParaRPr lang="en-US" sz="1150" dirty="0"/>
          </a:p>
        </p:txBody>
      </p:sp>
      <p:sp>
        <p:nvSpPr>
          <p:cNvPr id="19" name="Shape 17"/>
          <p:cNvSpPr/>
          <p:nvPr/>
        </p:nvSpPr>
        <p:spPr>
          <a:xfrm>
            <a:off x="502920" y="5852160"/>
            <a:ext cx="11247120" cy="457200"/>
          </a:xfrm>
          <a:prstGeom prst="roundRect">
            <a:avLst>
              <a:gd name="adj" fmla="val 18000"/>
            </a:avLst>
          </a:prstGeom>
          <a:solidFill>
            <a:srgbClr val="E3EFE7"/>
          </a:solidFill>
          <a:ln w="12700">
            <a:solidFill>
              <a:srgbClr val="9DC4AA"/>
            </a:solidFill>
            <a:prstDash val="solid"/>
          </a:ln>
        </p:spPr>
      </p:sp>
      <p:sp>
        <p:nvSpPr>
          <p:cNvPr id="20" name="Text 18"/>
          <p:cNvSpPr/>
          <p:nvPr/>
        </p:nvSpPr>
        <p:spPr>
          <a:xfrm>
            <a:off x="822960" y="5943600"/>
            <a:ext cx="10607040" cy="274320"/>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architect writes the constraint once, then translates it. Same underlying rule, two completely different documents, because the two audiences can do entirely different things with a sentence.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BUY PATH</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Clauses worth arguing for before signature</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Each of these is free before signature and expensive after</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47120" cy="914400"/>
        </p:xfrm>
        <a:graphic>
          <a:graphicData uri="http://schemas.openxmlformats.org/drawingml/2006/table">
            <a:tbl>
              <a:tblPr/>
              <a:tblGrid>
                <a:gridCol w="2103120"/>
                <a:gridCol w="4663440"/>
                <a:gridCol w="4480560"/>
              </a:tblGrid>
              <a:tr h="5486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Clause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it matters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happens without it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54864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Data extract on exit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Full extract in a documented format within 30 days of termination, at no additional charge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 previous exit took eleven months and cost more than a year of licence fees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Interface stability</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Published APIs remain compatible for a stated notice period; breaking changes carry 12 months' notice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Your integrations break on the vendor's schedule, not yours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4864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Upgrade window</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You choose the upgrade window within a stated range, and a rehearsal environment exists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Forced upgrades with two weeks' notice, during your peak season</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Hosting region</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Named region for named markets, changeable only with consent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Residency becomes a discovery exercise during an audit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4864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Test instance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 non-production instance with representative data, for the life of the contract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You cannot rehearse anything, including the upgrade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Roadmap commitment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Anything promised during evaluation is named in the contract with a date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"On the roadmap" is not a date and has never been one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5532120"/>
            <a:ext cx="11247120" cy="777240"/>
          </a:xfrm>
          <a:prstGeom prst="roundRect">
            <a:avLst>
              <a:gd name="adj" fmla="val 10588"/>
            </a:avLst>
          </a:prstGeom>
          <a:solidFill>
            <a:srgbClr val="1C1917"/>
          </a:solidFill>
          <a:ln w="12700">
            <a:solidFill>
              <a:srgbClr val="1C1917"/>
            </a:solidFill>
            <a:prstDash val="solid"/>
          </a:ln>
        </p:spPr>
      </p:sp>
      <p:sp>
        <p:nvSpPr>
          <p:cNvPr id="8" name="Text 5"/>
          <p:cNvSpPr/>
          <p:nvPr/>
        </p:nvSpPr>
        <p:spPr>
          <a:xfrm>
            <a:off x="822960" y="5742432"/>
            <a:ext cx="10607040" cy="411480"/>
          </a:xfrm>
          <a:prstGeom prst="rect">
            <a:avLst/>
          </a:prstGeom>
          <a:noFill/>
          <a:ln/>
        </p:spPr>
        <p:txBody>
          <a:bodyPr wrap="square" lIns="0" tIns="0" rIns="0" bIns="0" rtlCol="0" anchor="ctr"/>
          <a:lstStyle/>
          <a:p>
            <a:pPr indent="0" marL="0">
              <a:buNone/>
            </a:pPr>
            <a:r>
              <a:rPr lang="en-US" sz="1300" dirty="0">
                <a:solidFill>
                  <a:srgbClr val="CFC9BD"/>
                </a:solidFill>
                <a:latin typeface="Calibri" pitchFamily="34" charset="0"/>
                <a:ea typeface="Calibri" pitchFamily="34" charset="-122"/>
                <a:cs typeface="Calibri" pitchFamily="34" charset="-120"/>
              </a:rPr>
              <a:t>Architecture drafts these; procurement owns and negotiates them. Hand them over as a short list with a reason each, not as a legal opinion - the reason is what survives the negotiation.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RECOVERY</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If you were invited late</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Which happens, and pretending otherwise helps nobody</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91640"/>
            <a:ext cx="5532120" cy="4114800"/>
          </a:xfrm>
          <a:prstGeom prst="roundRect">
            <a:avLst>
              <a:gd name="adj" fmla="val 2000"/>
            </a:avLst>
          </a:prstGeom>
          <a:solidFill>
            <a:srgbClr val="E7EFEE"/>
          </a:solidFill>
          <a:ln w="12700">
            <a:solidFill>
              <a:srgbClr val="BFD4D2"/>
            </a:solidFill>
            <a:prstDash val="solid"/>
          </a:ln>
        </p:spPr>
      </p:sp>
      <p:sp>
        <p:nvSpPr>
          <p:cNvPr id="7" name="Text 5"/>
          <p:cNvSpPr/>
          <p:nvPr/>
        </p:nvSpPr>
        <p:spPr>
          <a:xfrm>
            <a:off x="777240" y="1901952"/>
            <a:ext cx="45720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DO</a:t>
            </a:r>
            <a:endParaRPr lang="en-US" sz="1000" dirty="0"/>
          </a:p>
        </p:txBody>
      </p:sp>
      <p:sp>
        <p:nvSpPr>
          <p:cNvPr id="8" name="Shape 6"/>
          <p:cNvSpPr/>
          <p:nvPr/>
        </p:nvSpPr>
        <p:spPr>
          <a:xfrm>
            <a:off x="822960" y="2286000"/>
            <a:ext cx="256032" cy="256032"/>
          </a:xfrm>
          <a:prstGeom prst="ellipse">
            <a:avLst/>
          </a:prstGeom>
          <a:solidFill>
            <a:srgbClr val="14606B"/>
          </a:solidFill>
          <a:ln w="12700">
            <a:solidFill>
              <a:srgbClr val="14606B"/>
            </a:solidFill>
            <a:prstDash val="solid"/>
          </a:ln>
        </p:spPr>
      </p:sp>
      <p:sp>
        <p:nvSpPr>
          <p:cNvPr id="9" name="Text 7"/>
          <p:cNvSpPr/>
          <p:nvPr/>
        </p:nvSpPr>
        <p:spPr>
          <a:xfrm>
            <a:off x="822960" y="228600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1207008" y="2267712"/>
            <a:ext cx="452628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Produce the impact list anyway. One hour, and it will contain at least one thing nobody had considered</a:t>
            </a:r>
            <a:endParaRPr lang="en-US" sz="1150" dirty="0"/>
          </a:p>
        </p:txBody>
      </p:sp>
      <p:sp>
        <p:nvSpPr>
          <p:cNvPr id="11" name="Shape 9"/>
          <p:cNvSpPr/>
          <p:nvPr/>
        </p:nvSpPr>
        <p:spPr>
          <a:xfrm>
            <a:off x="822960" y="2980944"/>
            <a:ext cx="256032" cy="256032"/>
          </a:xfrm>
          <a:prstGeom prst="ellipse">
            <a:avLst/>
          </a:prstGeom>
          <a:solidFill>
            <a:srgbClr val="14606B"/>
          </a:solidFill>
          <a:ln w="12700">
            <a:solidFill>
              <a:srgbClr val="14606B"/>
            </a:solidFill>
            <a:prstDash val="solid"/>
          </a:ln>
        </p:spPr>
      </p:sp>
      <p:sp>
        <p:nvSpPr>
          <p:cNvPr id="12" name="Text 10"/>
          <p:cNvSpPr/>
          <p:nvPr/>
        </p:nvSpPr>
        <p:spPr>
          <a:xfrm>
            <a:off x="822960" y="29809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1207008" y="2962656"/>
            <a:ext cx="452628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Convert what you can into mandatory criteria if the RFP is still open. One mandatory beats five weighted</a:t>
            </a:r>
            <a:endParaRPr lang="en-US" sz="1150" dirty="0"/>
          </a:p>
        </p:txBody>
      </p:sp>
      <p:sp>
        <p:nvSpPr>
          <p:cNvPr id="14" name="Shape 12"/>
          <p:cNvSpPr/>
          <p:nvPr/>
        </p:nvSpPr>
        <p:spPr>
          <a:xfrm>
            <a:off x="822960" y="3675888"/>
            <a:ext cx="256032" cy="256032"/>
          </a:xfrm>
          <a:prstGeom prst="ellipse">
            <a:avLst/>
          </a:prstGeom>
          <a:solidFill>
            <a:srgbClr val="14606B"/>
          </a:solidFill>
          <a:ln w="12700">
            <a:solidFill>
              <a:srgbClr val="14606B"/>
            </a:solidFill>
            <a:prstDash val="solid"/>
          </a:ln>
        </p:spPr>
      </p:sp>
      <p:sp>
        <p:nvSpPr>
          <p:cNvPr id="15" name="Text 13"/>
          <p:cNvSpPr/>
          <p:nvPr/>
        </p:nvSpPr>
        <p:spPr>
          <a:xfrm>
            <a:off x="822960" y="367588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1207008" y="3657600"/>
            <a:ext cx="452628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If the shortlist is fixed, move to the contract. Clauses are the last instrument and they are still real</a:t>
            </a:r>
            <a:endParaRPr lang="en-US" sz="1150" dirty="0"/>
          </a:p>
        </p:txBody>
      </p:sp>
      <p:sp>
        <p:nvSpPr>
          <p:cNvPr id="17" name="Shape 15"/>
          <p:cNvSpPr/>
          <p:nvPr/>
        </p:nvSpPr>
        <p:spPr>
          <a:xfrm>
            <a:off x="822960" y="4370832"/>
            <a:ext cx="256032" cy="256032"/>
          </a:xfrm>
          <a:prstGeom prst="ellipse">
            <a:avLst/>
          </a:prstGeom>
          <a:solidFill>
            <a:srgbClr val="14606B"/>
          </a:solidFill>
          <a:ln w="12700">
            <a:solidFill>
              <a:srgbClr val="14606B"/>
            </a:solidFill>
            <a:prstDash val="solid"/>
          </a:ln>
        </p:spPr>
      </p:sp>
      <p:sp>
        <p:nvSpPr>
          <p:cNvPr id="18" name="Text 16"/>
          <p:cNvSpPr/>
          <p:nvPr/>
        </p:nvSpPr>
        <p:spPr>
          <a:xfrm>
            <a:off x="822960" y="43708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9" name="Text 17"/>
          <p:cNvSpPr/>
          <p:nvPr/>
        </p:nvSpPr>
        <p:spPr>
          <a:xfrm>
            <a:off x="1207008" y="4352544"/>
            <a:ext cx="452628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Write down what you would have said, dated, and file it. Not to be right later - to make the next case for being invited earlier</a:t>
            </a:r>
            <a:endParaRPr lang="en-US" sz="1150" dirty="0"/>
          </a:p>
        </p:txBody>
      </p:sp>
      <p:sp>
        <p:nvSpPr>
          <p:cNvPr id="20" name="Shape 18"/>
          <p:cNvSpPr/>
          <p:nvPr/>
        </p:nvSpPr>
        <p:spPr>
          <a:xfrm>
            <a:off x="822960" y="5065776"/>
            <a:ext cx="256032" cy="256032"/>
          </a:xfrm>
          <a:prstGeom prst="ellipse">
            <a:avLst/>
          </a:prstGeom>
          <a:solidFill>
            <a:srgbClr val="14606B"/>
          </a:solidFill>
          <a:ln w="12700">
            <a:solidFill>
              <a:srgbClr val="14606B"/>
            </a:solidFill>
            <a:prstDash val="solid"/>
          </a:ln>
        </p:spPr>
      </p:sp>
      <p:sp>
        <p:nvSpPr>
          <p:cNvPr id="21" name="Text 19"/>
          <p:cNvSpPr/>
          <p:nvPr/>
        </p:nvSpPr>
        <p:spPr>
          <a:xfrm>
            <a:off x="822960" y="506577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2" name="Text 20"/>
          <p:cNvSpPr/>
          <p:nvPr/>
        </p:nvSpPr>
        <p:spPr>
          <a:xfrm>
            <a:off x="1207008" y="5047488"/>
            <a:ext cx="452628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Name the one thing that will actually hurt. Three concerns get averaged away; one gets addressed</a:t>
            </a:r>
            <a:endParaRPr lang="en-US" sz="1150" dirty="0"/>
          </a:p>
        </p:txBody>
      </p:sp>
      <p:sp>
        <p:nvSpPr>
          <p:cNvPr id="23" name="Shape 21"/>
          <p:cNvSpPr/>
          <p:nvPr/>
        </p:nvSpPr>
        <p:spPr>
          <a:xfrm>
            <a:off x="6309360" y="1691640"/>
            <a:ext cx="5440680" cy="4114800"/>
          </a:xfrm>
          <a:prstGeom prst="roundRect">
            <a:avLst>
              <a:gd name="adj" fmla="val 2000"/>
            </a:avLst>
          </a:prstGeom>
          <a:solidFill>
            <a:srgbClr val="FFFFFF"/>
          </a:solidFill>
          <a:ln w="12700">
            <a:solidFill>
              <a:srgbClr val="C9998C"/>
            </a:solidFill>
            <a:prstDash val="dash"/>
          </a:ln>
        </p:spPr>
      </p:sp>
      <p:sp>
        <p:nvSpPr>
          <p:cNvPr id="24" name="Text 22"/>
          <p:cNvSpPr/>
          <p:nvPr/>
        </p:nvSpPr>
        <p:spPr>
          <a:xfrm>
            <a:off x="6583680" y="1901952"/>
            <a:ext cx="4572000" cy="237744"/>
          </a:xfrm>
          <a:prstGeom prst="rect">
            <a:avLst/>
          </a:prstGeom>
          <a:noFill/>
          <a:ln/>
        </p:spPr>
        <p:txBody>
          <a:bodyPr wrap="square" lIns="0" tIns="0" rIns="0" bIns="0" rtlCol="0" anchor="ctr"/>
          <a:lstStyle/>
          <a:p>
            <a:pPr indent="0" marL="0">
              <a:buNone/>
            </a:pPr>
            <a:r>
              <a:rPr lang="en-US" sz="1000" b="1" spc="200" kern="0" dirty="0">
                <a:solidFill>
                  <a:srgbClr val="9A4A3A"/>
                </a:solidFill>
                <a:latin typeface="Calibri" pitchFamily="34" charset="0"/>
                <a:ea typeface="Calibri" pitchFamily="34" charset="-122"/>
                <a:cs typeface="Calibri" pitchFamily="34" charset="-120"/>
              </a:rPr>
              <a:t>DO NOT</a:t>
            </a:r>
            <a:endParaRPr lang="en-US" sz="1000" dirty="0"/>
          </a:p>
        </p:txBody>
      </p:sp>
      <p:sp>
        <p:nvSpPr>
          <p:cNvPr id="25" name="Text 23"/>
          <p:cNvSpPr/>
          <p:nvPr/>
        </p:nvSpPr>
        <p:spPr>
          <a:xfrm>
            <a:off x="6629400" y="2267712"/>
            <a:ext cx="256032" cy="256032"/>
          </a:xfrm>
          <a:prstGeom prst="rect">
            <a:avLst/>
          </a:prstGeom>
          <a:noFill/>
          <a:ln/>
        </p:spPr>
        <p:txBody>
          <a:bodyPr wrap="square" lIns="0" tIns="0" rIns="0" bIns="0" rtlCol="0" anchor="ctr"/>
          <a:lstStyle/>
          <a:p>
            <a:pPr algn="ctr" indent="0" marL="0">
              <a:buNone/>
            </a:pPr>
            <a:r>
              <a:rPr lang="en-US" sz="1400" b="1" dirty="0">
                <a:solidFill>
                  <a:srgbClr val="9A4A3A"/>
                </a:solidFill>
                <a:latin typeface="Calibri" pitchFamily="34" charset="0"/>
                <a:ea typeface="Calibri" pitchFamily="34" charset="-122"/>
                <a:cs typeface="Calibri" pitchFamily="34" charset="-120"/>
              </a:rPr>
              <a:t>x</a:t>
            </a:r>
            <a:endParaRPr lang="en-US" sz="1400" dirty="0"/>
          </a:p>
        </p:txBody>
      </p:sp>
      <p:sp>
        <p:nvSpPr>
          <p:cNvPr id="26" name="Text 24"/>
          <p:cNvSpPr/>
          <p:nvPr/>
        </p:nvSpPr>
        <p:spPr>
          <a:xfrm>
            <a:off x="6995160" y="2267712"/>
            <a:ext cx="448056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Do not soften the assessment because it is late. The softening is what everyone lives with for three years</a:t>
            </a:r>
            <a:endParaRPr lang="en-US" sz="1150" dirty="0"/>
          </a:p>
        </p:txBody>
      </p:sp>
      <p:sp>
        <p:nvSpPr>
          <p:cNvPr id="27" name="Text 25"/>
          <p:cNvSpPr/>
          <p:nvPr/>
        </p:nvSpPr>
        <p:spPr>
          <a:xfrm>
            <a:off x="6629400" y="2962656"/>
            <a:ext cx="256032" cy="256032"/>
          </a:xfrm>
          <a:prstGeom prst="rect">
            <a:avLst/>
          </a:prstGeom>
          <a:noFill/>
          <a:ln/>
        </p:spPr>
        <p:txBody>
          <a:bodyPr wrap="square" lIns="0" tIns="0" rIns="0" bIns="0" rtlCol="0" anchor="ctr"/>
          <a:lstStyle/>
          <a:p>
            <a:pPr algn="ctr" indent="0" marL="0">
              <a:buNone/>
            </a:pPr>
            <a:r>
              <a:rPr lang="en-US" sz="1400" b="1" dirty="0">
                <a:solidFill>
                  <a:srgbClr val="9A4A3A"/>
                </a:solidFill>
                <a:latin typeface="Calibri" pitchFamily="34" charset="0"/>
                <a:ea typeface="Calibri" pitchFamily="34" charset="-122"/>
                <a:cs typeface="Calibri" pitchFamily="34" charset="-120"/>
              </a:rPr>
              <a:t>x</a:t>
            </a:r>
            <a:endParaRPr lang="en-US" sz="1400" dirty="0"/>
          </a:p>
        </p:txBody>
      </p:sp>
      <p:sp>
        <p:nvSpPr>
          <p:cNvPr id="28" name="Text 26"/>
          <p:cNvSpPr/>
          <p:nvPr/>
        </p:nvSpPr>
        <p:spPr>
          <a:xfrm>
            <a:off x="6995160" y="2962656"/>
            <a:ext cx="448056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Do not refuse to engage on principle. A veto at the end is the least useful thing an architect can offer</a:t>
            </a:r>
            <a:endParaRPr lang="en-US" sz="1150" dirty="0"/>
          </a:p>
        </p:txBody>
      </p:sp>
      <p:sp>
        <p:nvSpPr>
          <p:cNvPr id="29" name="Text 27"/>
          <p:cNvSpPr/>
          <p:nvPr/>
        </p:nvSpPr>
        <p:spPr>
          <a:xfrm>
            <a:off x="6629400" y="3657600"/>
            <a:ext cx="256032" cy="256032"/>
          </a:xfrm>
          <a:prstGeom prst="rect">
            <a:avLst/>
          </a:prstGeom>
          <a:noFill/>
          <a:ln/>
        </p:spPr>
        <p:txBody>
          <a:bodyPr wrap="square" lIns="0" tIns="0" rIns="0" bIns="0" rtlCol="0" anchor="ctr"/>
          <a:lstStyle/>
          <a:p>
            <a:pPr algn="ctr" indent="0" marL="0">
              <a:buNone/>
            </a:pPr>
            <a:r>
              <a:rPr lang="en-US" sz="1400" b="1" dirty="0">
                <a:solidFill>
                  <a:srgbClr val="9A4A3A"/>
                </a:solidFill>
                <a:latin typeface="Calibri" pitchFamily="34" charset="0"/>
                <a:ea typeface="Calibri" pitchFamily="34" charset="-122"/>
                <a:cs typeface="Calibri" pitchFamily="34" charset="-120"/>
              </a:rPr>
              <a:t>x</a:t>
            </a:r>
            <a:endParaRPr lang="en-US" sz="1400" dirty="0"/>
          </a:p>
        </p:txBody>
      </p:sp>
      <p:sp>
        <p:nvSpPr>
          <p:cNvPr id="30" name="Text 28"/>
          <p:cNvSpPr/>
          <p:nvPr/>
        </p:nvSpPr>
        <p:spPr>
          <a:xfrm>
            <a:off x="6995160" y="3657600"/>
            <a:ext cx="448056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Do not raise ten concerns. They will be averaged into background noise and dismissed as a category</a:t>
            </a:r>
            <a:endParaRPr lang="en-US" sz="1150" dirty="0"/>
          </a:p>
        </p:txBody>
      </p:sp>
      <p:sp>
        <p:nvSpPr>
          <p:cNvPr id="31" name="Text 29"/>
          <p:cNvSpPr/>
          <p:nvPr/>
        </p:nvSpPr>
        <p:spPr>
          <a:xfrm>
            <a:off x="6629400" y="4352544"/>
            <a:ext cx="256032" cy="256032"/>
          </a:xfrm>
          <a:prstGeom prst="rect">
            <a:avLst/>
          </a:prstGeom>
          <a:noFill/>
          <a:ln/>
        </p:spPr>
        <p:txBody>
          <a:bodyPr wrap="square" lIns="0" tIns="0" rIns="0" bIns="0" rtlCol="0" anchor="ctr"/>
          <a:lstStyle/>
          <a:p>
            <a:pPr algn="ctr" indent="0" marL="0">
              <a:buNone/>
            </a:pPr>
            <a:r>
              <a:rPr lang="en-US" sz="1400" b="1" dirty="0">
                <a:solidFill>
                  <a:srgbClr val="9A4A3A"/>
                </a:solidFill>
                <a:latin typeface="Calibri" pitchFamily="34" charset="0"/>
                <a:ea typeface="Calibri" pitchFamily="34" charset="-122"/>
                <a:cs typeface="Calibri" pitchFamily="34" charset="-120"/>
              </a:rPr>
              <a:t>x</a:t>
            </a:r>
            <a:endParaRPr lang="en-US" sz="1400" dirty="0"/>
          </a:p>
        </p:txBody>
      </p:sp>
      <p:sp>
        <p:nvSpPr>
          <p:cNvPr id="32" name="Text 30"/>
          <p:cNvSpPr/>
          <p:nvPr/>
        </p:nvSpPr>
        <p:spPr>
          <a:xfrm>
            <a:off x="6995160" y="4352544"/>
            <a:ext cx="448056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Do not make it about process. "We should have been involved earlier" is true and completely unpersuasive in the moment</a:t>
            </a:r>
            <a:endParaRPr lang="en-US" sz="1150" dirty="0"/>
          </a:p>
        </p:txBody>
      </p:sp>
      <p:sp>
        <p:nvSpPr>
          <p:cNvPr id="33" name="Text 31"/>
          <p:cNvSpPr/>
          <p:nvPr/>
        </p:nvSpPr>
        <p:spPr>
          <a:xfrm>
            <a:off x="6629400" y="5047488"/>
            <a:ext cx="256032" cy="256032"/>
          </a:xfrm>
          <a:prstGeom prst="rect">
            <a:avLst/>
          </a:prstGeom>
          <a:noFill/>
          <a:ln/>
        </p:spPr>
        <p:txBody>
          <a:bodyPr wrap="square" lIns="0" tIns="0" rIns="0" bIns="0" rtlCol="0" anchor="ctr"/>
          <a:lstStyle/>
          <a:p>
            <a:pPr algn="ctr" indent="0" marL="0">
              <a:buNone/>
            </a:pPr>
            <a:r>
              <a:rPr lang="en-US" sz="1400" b="1" dirty="0">
                <a:solidFill>
                  <a:srgbClr val="9A4A3A"/>
                </a:solidFill>
                <a:latin typeface="Calibri" pitchFamily="34" charset="0"/>
                <a:ea typeface="Calibri" pitchFamily="34" charset="-122"/>
                <a:cs typeface="Calibri" pitchFamily="34" charset="-120"/>
              </a:rPr>
              <a:t>x</a:t>
            </a:r>
            <a:endParaRPr lang="en-US" sz="1400" dirty="0"/>
          </a:p>
        </p:txBody>
      </p:sp>
      <p:sp>
        <p:nvSpPr>
          <p:cNvPr id="34" name="Text 32"/>
          <p:cNvSpPr/>
          <p:nvPr/>
        </p:nvSpPr>
        <p:spPr>
          <a:xfrm>
            <a:off x="6995160" y="5047488"/>
            <a:ext cx="4480560" cy="640080"/>
          </a:xfrm>
          <a:prstGeom prst="rect">
            <a:avLst/>
          </a:prstGeom>
          <a:noFill/>
          <a:ln/>
        </p:spPr>
        <p:txBody>
          <a:bodyPr wrap="square" lIns="0" tIns="0" rIns="0" bIns="0" rtlCol="0" anchor="ctr"/>
          <a:lstStyle/>
          <a:p>
            <a:pPr indent="0" marL="0">
              <a:lnSpc>
                <a:spcPts val="1500"/>
              </a:lnSpc>
              <a:buNone/>
            </a:pPr>
            <a:r>
              <a:rPr lang="en-US" sz="1150" dirty="0">
                <a:solidFill>
                  <a:srgbClr val="57534E"/>
                </a:solidFill>
                <a:latin typeface="Calibri" pitchFamily="34" charset="0"/>
                <a:ea typeface="Calibri" pitchFamily="34" charset="-122"/>
                <a:cs typeface="Calibri" pitchFamily="34" charset="-120"/>
              </a:rPr>
              <a:t>Do not skip the retrospective. The address exists precisely so this stops happening, and one late case makes that argument for you</a:t>
            </a:r>
            <a:endParaRPr lang="en-US" sz="1150" dirty="0"/>
          </a:p>
        </p:txBody>
      </p:sp>
      <p:sp>
        <p:nvSpPr>
          <p:cNvPr id="35" name="Shape 33"/>
          <p:cNvSpPr/>
          <p:nvPr/>
        </p:nvSpPr>
        <p:spPr>
          <a:xfrm>
            <a:off x="502920" y="5897880"/>
            <a:ext cx="11247120" cy="457200"/>
          </a:xfrm>
          <a:prstGeom prst="roundRect">
            <a:avLst>
              <a:gd name="adj" fmla="val 18000"/>
            </a:avLst>
          </a:prstGeom>
          <a:solidFill>
            <a:srgbClr val="1C1917"/>
          </a:solidFill>
          <a:ln w="12700">
            <a:solidFill>
              <a:srgbClr val="1C1917"/>
            </a:solidFill>
            <a:prstDash val="solid"/>
          </a:ln>
        </p:spPr>
      </p:sp>
      <p:sp>
        <p:nvSpPr>
          <p:cNvPr id="36" name="Text 34"/>
          <p:cNvSpPr/>
          <p:nvPr/>
        </p:nvSpPr>
        <p:spPr>
          <a:xfrm>
            <a:off x="822960" y="5989320"/>
            <a:ext cx="10607040" cy="274320"/>
          </a:xfrm>
          <a:prstGeom prst="rect">
            <a:avLst/>
          </a:prstGeom>
          <a:noFill/>
          <a:ln/>
        </p:spPr>
        <p:txBody>
          <a:bodyPr wrap="square" lIns="0" tIns="0" rIns="0" bIns="0" rtlCol="0" anchor="ctr"/>
          <a:lstStyle/>
          <a:p>
            <a:pPr indent="0" marL="0">
              <a:buNone/>
            </a:pPr>
            <a:r>
              <a:rPr lang="en-US" sz="1250" dirty="0">
                <a:solidFill>
                  <a:srgbClr val="CFC9BD"/>
                </a:solidFill>
                <a:latin typeface="Calibri" pitchFamily="34" charset="0"/>
                <a:ea typeface="Calibri" pitchFamily="34" charset="-122"/>
                <a:cs typeface="Calibri" pitchFamily="34" charset="-120"/>
              </a:rPr>
              <a:t>Governance that arrives at the end is only ever a veto. Arrive at the beginning with a list of names, and you almost never need the veto at all.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2026-08-12T14:28:23Z</dcterms:created>
  <dcterms:modified xsi:type="dcterms:W3CDTF">2026-08-12T14:28:23Z</dcterms:modified>
</cp:coreProperties>
</file>