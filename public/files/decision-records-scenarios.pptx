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9418320" y="1097280"/>
            <a:ext cx="1920240" cy="1920240"/>
          </a:xfrm>
          <a:prstGeom prst="rect">
            <a:avLst/>
          </a:prstGeom>
          <a:ln w="12700">
            <a:solidFill>
              <a:srgbClr val="3A3531"/>
            </a:solidFill>
            <a:prstDash val="solid"/>
          </a:ln>
        </p:spPr>
      </p:sp>
      <p:sp>
        <p:nvSpPr>
          <p:cNvPr id="3" name="Shape 1"/>
          <p:cNvSpPr/>
          <p:nvPr/>
        </p:nvSpPr>
        <p:spPr>
          <a:xfrm>
            <a:off x="9418320" y="1737360"/>
            <a:ext cx="1920240" cy="0"/>
          </a:xfrm>
          <a:prstGeom prst="line">
            <a:avLst/>
          </a:prstGeom>
          <a:noFill/>
          <a:ln w="25400">
            <a:solidFill>
              <a:srgbClr val="14606B"/>
            </a:solidFill>
            <a:prstDash val="solid"/>
          </a:ln>
        </p:spPr>
      </p:sp>
      <p:sp>
        <p:nvSpPr>
          <p:cNvPr id="4" name="Shape 2"/>
          <p:cNvSpPr/>
          <p:nvPr/>
        </p:nvSpPr>
        <p:spPr>
          <a:xfrm>
            <a:off x="9418320" y="2286000"/>
            <a:ext cx="1920240" cy="0"/>
          </a:xfrm>
          <a:prstGeom prst="line">
            <a:avLst/>
          </a:prstGeom>
          <a:noFill/>
          <a:ln w="12700">
            <a:solidFill>
              <a:srgbClr val="3A3531"/>
            </a:solidFill>
            <a:prstDash val="solid"/>
          </a:ln>
        </p:spPr>
      </p:sp>
      <p:sp>
        <p:nvSpPr>
          <p:cNvPr id="5" name="Text 3"/>
          <p:cNvSpPr/>
          <p:nvPr/>
        </p:nvSpPr>
        <p:spPr>
          <a:xfrm>
            <a:off x="822960" y="2011680"/>
            <a:ext cx="8229600" cy="365760"/>
          </a:xfrm>
          <a:prstGeom prst="rect">
            <a:avLst/>
          </a:prstGeom>
          <a:noFill/>
          <a:ln/>
        </p:spPr>
        <p:txBody>
          <a:bodyPr wrap="square" lIns="0" tIns="0" rIns="0" bIns="0" rtlCol="0" anchor="ctr"/>
          <a:lstStyle/>
          <a:p>
            <a:pPr indent="0" marL="0">
              <a:buNone/>
            </a:pPr>
            <a:r>
              <a:rPr lang="en-US" sz="1300" b="1" spc="400" kern="0" dirty="0">
                <a:solidFill>
                  <a:srgbClr val="8FB6BC"/>
                </a:solidFill>
                <a:latin typeface="Calibri" pitchFamily="34" charset="0"/>
                <a:ea typeface="Calibri" pitchFamily="34" charset="-122"/>
                <a:cs typeface="Calibri" pitchFamily="34" charset="-120"/>
              </a:rPr>
              <a:t>DECISION RECORDS IN PRACTICE</a:t>
            </a:r>
            <a:endParaRPr lang="en-US" sz="1300" dirty="0"/>
          </a:p>
        </p:txBody>
      </p:sp>
      <p:sp>
        <p:nvSpPr>
          <p:cNvPr id="6" name="Text 4"/>
          <p:cNvSpPr/>
          <p:nvPr/>
        </p:nvSpPr>
        <p:spPr>
          <a:xfrm>
            <a:off x="822960" y="2377440"/>
            <a:ext cx="9692640" cy="1463040"/>
          </a:xfrm>
          <a:prstGeom prst="rect">
            <a:avLst/>
          </a:prstGeom>
          <a:noFill/>
          <a:ln/>
        </p:spPr>
        <p:txBody>
          <a:bodyPr wrap="square" lIns="0" tIns="0" rIns="0" bIns="0" rtlCol="0" anchor="ctr"/>
          <a:lstStyle/>
          <a:p>
            <a:pPr indent="0" marL="0">
              <a:lnSpc>
                <a:spcPts val="4200"/>
              </a:lnSpc>
              <a:buNone/>
            </a:pPr>
            <a:r>
              <a:rPr lang="en-US" sz="3400" b="1" dirty="0">
                <a:solidFill>
                  <a:srgbClr val="FAF9F6"/>
                </a:solidFill>
                <a:latin typeface="Cambria" pitchFamily="34" charset="0"/>
                <a:ea typeface="Cambria" pitchFamily="34" charset="-122"/>
                <a:cs typeface="Cambria" pitchFamily="34" charset="-120"/>
              </a:rPr>
              <a:t>Six situations, six records,</a:t>
            </a:r>
            <a:endParaRPr lang="en-US" sz="3400" dirty="0"/>
          </a:p>
          <a:p>
            <a:pPr indent="0" marL="0">
              <a:lnSpc>
                <a:spcPts val="4200"/>
              </a:lnSpc>
              <a:buNone/>
            </a:pPr>
            <a:r>
              <a:rPr lang="en-US" sz="3400" b="1" dirty="0">
                <a:solidFill>
                  <a:srgbClr val="FAF9F6"/>
                </a:solidFill>
                <a:latin typeface="Cambria" pitchFamily="34" charset="0"/>
                <a:ea typeface="Cambria" pitchFamily="34" charset="-122"/>
                <a:cs typeface="Cambria" pitchFamily="34" charset="-120"/>
              </a:rPr>
              <a:t>and what changes downstream</a:t>
            </a:r>
            <a:endParaRPr lang="en-US" sz="3400" dirty="0"/>
          </a:p>
        </p:txBody>
      </p:sp>
      <p:sp>
        <p:nvSpPr>
          <p:cNvPr id="7" name="Text 5"/>
          <p:cNvSpPr/>
          <p:nvPr/>
        </p:nvSpPr>
        <p:spPr>
          <a:xfrm>
            <a:off x="822960" y="4023360"/>
            <a:ext cx="8961120" cy="1097280"/>
          </a:xfrm>
          <a:prstGeom prst="rect">
            <a:avLst/>
          </a:prstGeom>
          <a:noFill/>
          <a:ln/>
        </p:spPr>
        <p:txBody>
          <a:bodyPr wrap="square" lIns="0" tIns="0" rIns="0" bIns="0" rtlCol="0" anchor="ctr"/>
          <a:lstStyle/>
          <a:p>
            <a:pPr indent="0" marL="0">
              <a:lnSpc>
                <a:spcPts val="2100"/>
              </a:lnSpc>
              <a:buNone/>
            </a:pPr>
            <a:r>
              <a:rPr lang="en-US" sz="1400" dirty="0">
                <a:solidFill>
                  <a:srgbClr val="CFC9BD"/>
                </a:solidFill>
                <a:latin typeface="Calibri" pitchFamily="34" charset="0"/>
                <a:ea typeface="Calibri" pitchFamily="34" charset="-122"/>
                <a:cs typeface="Calibri" pitchFamily="34" charset="-120"/>
              </a:rPr>
              <a:t>What a record is, why it is not only for design choices, the six kinds and their clocks, six worked cases, the gate paper that cites rather than re-argues, and the conversation to have when there is no record</a:t>
            </a:r>
            <a:endParaRPr lang="en-US" sz="1400" dirty="0"/>
          </a:p>
        </p:txBody>
      </p:sp>
      <p:sp>
        <p:nvSpPr>
          <p:cNvPr id="8" name="Text 6"/>
          <p:cNvSpPr/>
          <p:nvPr/>
        </p:nvSpPr>
        <p:spPr>
          <a:xfrm>
            <a:off x="822960" y="6035040"/>
            <a:ext cx="8686800" cy="274320"/>
          </a:xfrm>
          <a:prstGeom prst="rect">
            <a:avLst/>
          </a:prstGeom>
          <a:noFill/>
          <a:ln/>
        </p:spPr>
        <p:txBody>
          <a:bodyPr wrap="square" lIns="0" tIns="0" rIns="0" bIns="0" rtlCol="0" anchor="ctr"/>
          <a:lstStyle/>
          <a:p>
            <a:pPr indent="0" marL="0">
              <a:buNone/>
            </a:pPr>
            <a:r>
              <a:rPr lang="en-US" sz="1100" dirty="0">
                <a:solidFill>
                  <a:srgbClr val="8D867E"/>
                </a:solidFill>
                <a:latin typeface="Calibri" pitchFamily="34" charset="0"/>
                <a:ea typeface="Calibri" pitchFamily="34" charset="-122"/>
                <a:cs typeface="Calibri" pitchFamily="34" charset="-120"/>
              </a:rPr>
              <a:t>Companion to mehdibamou.com/publications/decision-records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BEFORE ANYTHING ELSE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Why "we tried ADRs and they died"</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Four reasons, none of which are about writing ability</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737360"/>
            <a:ext cx="5440680" cy="1737360"/>
          </a:xfrm>
          <a:prstGeom prst="roundRect">
            <a:avLst>
              <a:gd name="adj" fmla="val 4737"/>
            </a:avLst>
          </a:prstGeom>
          <a:solidFill>
            <a:srgbClr val="F2E4E0"/>
          </a:solidFill>
          <a:ln w="12700">
            <a:solidFill>
              <a:srgbClr val="C9998C"/>
            </a:solidFill>
            <a:prstDash val="dash"/>
          </a:ln>
        </p:spPr>
      </p:sp>
      <p:sp>
        <p:nvSpPr>
          <p:cNvPr id="7" name="Text 5"/>
          <p:cNvSpPr/>
          <p:nvPr/>
        </p:nvSpPr>
        <p:spPr>
          <a:xfrm>
            <a:off x="777240" y="1956816"/>
            <a:ext cx="4892040" cy="32004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Scope too narrow</a:t>
            </a:r>
            <a:endParaRPr lang="en-US" sz="1700" dirty="0"/>
          </a:p>
        </p:txBody>
      </p:sp>
      <p:sp>
        <p:nvSpPr>
          <p:cNvPr id="8" name="Text 6"/>
          <p:cNvSpPr/>
          <p:nvPr/>
        </p:nvSpPr>
        <p:spPr>
          <a:xfrm>
            <a:off x="777240" y="2377440"/>
            <a:ext cx="4892040" cy="96012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Filed mentally under design choices, so classifications, ratings, mastership and selections - the decisions people actually re-litigate - never got recorded at all</a:t>
            </a:r>
            <a:endParaRPr lang="en-US" sz="1200" dirty="0"/>
          </a:p>
        </p:txBody>
      </p:sp>
      <p:sp>
        <p:nvSpPr>
          <p:cNvPr id="9" name="Shape 7"/>
          <p:cNvSpPr/>
          <p:nvPr/>
        </p:nvSpPr>
        <p:spPr>
          <a:xfrm>
            <a:off x="6217920" y="1737360"/>
            <a:ext cx="5440680" cy="1737360"/>
          </a:xfrm>
          <a:prstGeom prst="roundRect">
            <a:avLst>
              <a:gd name="adj" fmla="val 4737"/>
            </a:avLst>
          </a:prstGeom>
          <a:solidFill>
            <a:srgbClr val="F2E4E0"/>
          </a:solidFill>
          <a:ln w="12700">
            <a:solidFill>
              <a:srgbClr val="C9998C"/>
            </a:solidFill>
            <a:prstDash val="dash"/>
          </a:ln>
        </p:spPr>
      </p:sp>
      <p:sp>
        <p:nvSpPr>
          <p:cNvPr id="10" name="Text 8"/>
          <p:cNvSpPr/>
          <p:nvPr/>
        </p:nvSpPr>
        <p:spPr>
          <a:xfrm>
            <a:off x="6492240" y="1956816"/>
            <a:ext cx="4892040" cy="32004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Outcomes without reasons</a:t>
            </a:r>
            <a:endParaRPr lang="en-US" sz="1700" dirty="0"/>
          </a:p>
        </p:txBody>
      </p:sp>
      <p:sp>
        <p:nvSpPr>
          <p:cNvPr id="11" name="Text 9"/>
          <p:cNvSpPr/>
          <p:nvPr/>
        </p:nvSpPr>
        <p:spPr>
          <a:xfrm>
            <a:off x="6492240" y="2377440"/>
            <a:ext cx="4892040" cy="96012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"We decided to use X." Useless in eighteen months, and worse than useless because it looks like a record and occupies the place where one should be</a:t>
            </a:r>
            <a:endParaRPr lang="en-US" sz="1200" dirty="0"/>
          </a:p>
        </p:txBody>
      </p:sp>
      <p:sp>
        <p:nvSpPr>
          <p:cNvPr id="12" name="Shape 10"/>
          <p:cNvSpPr/>
          <p:nvPr/>
        </p:nvSpPr>
        <p:spPr>
          <a:xfrm>
            <a:off x="502920" y="3703320"/>
            <a:ext cx="5440680" cy="1737360"/>
          </a:xfrm>
          <a:prstGeom prst="roundRect">
            <a:avLst>
              <a:gd name="adj" fmla="val 4737"/>
            </a:avLst>
          </a:prstGeom>
          <a:solidFill>
            <a:srgbClr val="F2E4E0"/>
          </a:solidFill>
          <a:ln w="12700">
            <a:solidFill>
              <a:srgbClr val="C9998C"/>
            </a:solidFill>
            <a:prstDash val="dash"/>
          </a:ln>
        </p:spPr>
      </p:sp>
      <p:sp>
        <p:nvSpPr>
          <p:cNvPr id="13" name="Text 11"/>
          <p:cNvSpPr/>
          <p:nvPr/>
        </p:nvSpPr>
        <p:spPr>
          <a:xfrm>
            <a:off x="777240" y="3922776"/>
            <a:ext cx="4892040" cy="32004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Written afterwards</a:t>
            </a:r>
            <a:endParaRPr lang="en-US" sz="1700" dirty="0"/>
          </a:p>
        </p:txBody>
      </p:sp>
      <p:sp>
        <p:nvSpPr>
          <p:cNvPr id="14" name="Text 12"/>
          <p:cNvSpPr/>
          <p:nvPr/>
        </p:nvSpPr>
        <p:spPr>
          <a:xfrm>
            <a:off x="777240" y="4343400"/>
            <a:ext cx="4892040" cy="96012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By somebody who was not there. Accurate outcome, invented reason. The real one decayed within days</a:t>
            </a:r>
            <a:endParaRPr lang="en-US" sz="1200" dirty="0"/>
          </a:p>
        </p:txBody>
      </p:sp>
      <p:sp>
        <p:nvSpPr>
          <p:cNvPr id="15" name="Shape 13"/>
          <p:cNvSpPr/>
          <p:nvPr/>
        </p:nvSpPr>
        <p:spPr>
          <a:xfrm>
            <a:off x="6217920" y="3703320"/>
            <a:ext cx="5440680" cy="1737360"/>
          </a:xfrm>
          <a:prstGeom prst="roundRect">
            <a:avLst>
              <a:gd name="adj" fmla="val 4737"/>
            </a:avLst>
          </a:prstGeom>
          <a:solidFill>
            <a:srgbClr val="F2E4E0"/>
          </a:solidFill>
          <a:ln w="12700">
            <a:solidFill>
              <a:srgbClr val="C9998C"/>
            </a:solidFill>
            <a:prstDash val="dash"/>
          </a:ln>
        </p:spPr>
      </p:sp>
      <p:sp>
        <p:nvSpPr>
          <p:cNvPr id="16" name="Text 14"/>
          <p:cNvSpPr/>
          <p:nvPr/>
        </p:nvSpPr>
        <p:spPr>
          <a:xfrm>
            <a:off x="6492240" y="3922776"/>
            <a:ext cx="4892040" cy="320040"/>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One register, mixed clocks</a:t>
            </a:r>
            <a:endParaRPr lang="en-US" sz="1700" dirty="0"/>
          </a:p>
        </p:txBody>
      </p:sp>
      <p:sp>
        <p:nvSpPr>
          <p:cNvPr id="17" name="Text 15"/>
          <p:cNvSpPr/>
          <p:nvPr/>
        </p:nvSpPr>
        <p:spPr>
          <a:xfrm>
            <a:off x="6492240" y="4343400"/>
            <a:ext cx="4892040" cy="96012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Exceptions expiring, assessments refreshing and directions running forever in one list. Reviewable as nothing</a:t>
            </a:r>
            <a:endParaRPr lang="en-US" sz="1200" dirty="0"/>
          </a:p>
        </p:txBody>
      </p:sp>
      <p:sp>
        <p:nvSpPr>
          <p:cNvPr id="18" name="Shape 16"/>
          <p:cNvSpPr/>
          <p:nvPr/>
        </p:nvSpPr>
        <p:spPr>
          <a:xfrm>
            <a:off x="502920" y="5715000"/>
            <a:ext cx="11247120" cy="658368"/>
          </a:xfrm>
          <a:prstGeom prst="roundRect">
            <a:avLst>
              <a:gd name="adj" fmla="val 12500"/>
            </a:avLst>
          </a:prstGeom>
          <a:solidFill>
            <a:srgbClr val="1C1917"/>
          </a:solidFill>
          <a:ln w="12700">
            <a:solidFill>
              <a:srgbClr val="1C1917"/>
            </a:solidFill>
            <a:prstDash val="solid"/>
          </a:ln>
        </p:spPr>
      </p:sp>
      <p:sp>
        <p:nvSpPr>
          <p:cNvPr id="19" name="Text 17"/>
          <p:cNvSpPr/>
          <p:nvPr/>
        </p:nvSpPr>
        <p:spPr>
          <a:xfrm>
            <a:off x="822960" y="5888736"/>
            <a:ext cx="10607040" cy="365760"/>
          </a:xfrm>
          <a:prstGeom prst="rect">
            <a:avLst/>
          </a:prstGeom>
          <a:noFill/>
          <a:ln/>
        </p:spPr>
        <p:txBody>
          <a:bodyPr wrap="square" lIns="0" tIns="0" rIns="0" bIns="0" rtlCol="0" anchor="ctr"/>
          <a:lstStyle/>
          <a:p>
            <a:pPr indent="0" marL="0">
              <a:buNone/>
            </a:pPr>
            <a:r>
              <a:rPr lang="en-US" sz="1350" dirty="0">
                <a:solidFill>
                  <a:srgbClr val="CFC9BD"/>
                </a:solidFill>
                <a:latin typeface="Calibri" pitchFamily="34" charset="0"/>
                <a:ea typeface="Calibri" pitchFamily="34" charset="-122"/>
                <a:cs typeface="Calibri" pitchFamily="34" charset="-120"/>
              </a:rPr>
              <a:t>All four are about scope and filing. None of them are solved by a better template.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SHAPE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Four fields carry the value</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other four take a minute</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47120" cy="914400"/>
        </p:xfrm>
        <a:graphic>
          <a:graphicData uri="http://schemas.openxmlformats.org/drawingml/2006/table">
            <a:tbl>
              <a:tblPr/>
              <a:tblGrid>
                <a:gridCol w="2011680"/>
                <a:gridCol w="4114800"/>
                <a:gridCol w="5120640"/>
              </a:tblGrid>
              <a:tr h="60350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goes in it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is there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603504">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Chose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decision in one sentence, past tense. The decision, not the topic</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"We will master supplier in the core", not "supplier mastership"</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Rejected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alternatives genuinely considered, named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most skipped field. Without it nobody can tell whether their idea was examined and dismissed, or never occurred to anybody</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603504">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reason as it was at the time, with the constraints true then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Not the justification you would give today</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Cost we accept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consequence being taken 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 decision with no stated cost was a preference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4846320"/>
            <a:ext cx="5532120" cy="1463040"/>
          </a:xfrm>
          <a:prstGeom prst="roundRect">
            <a:avLst>
              <a:gd name="adj" fmla="val 5625"/>
            </a:avLst>
          </a:prstGeom>
          <a:solidFill>
            <a:srgbClr val="E3EFE7"/>
          </a:solidFill>
          <a:ln w="12700">
            <a:solidFill>
              <a:srgbClr val="9DC4AA"/>
            </a:solidFill>
            <a:prstDash val="solid"/>
          </a:ln>
        </p:spPr>
      </p:sp>
      <p:sp>
        <p:nvSpPr>
          <p:cNvPr id="8" name="Text 5"/>
          <p:cNvSpPr/>
          <p:nvPr/>
        </p:nvSpPr>
        <p:spPr>
          <a:xfrm>
            <a:off x="777240" y="5029200"/>
            <a:ext cx="45720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THE TEST FOR A FINISHED RECORD</a:t>
            </a:r>
            <a:endParaRPr lang="en-US" sz="1000" dirty="0"/>
          </a:p>
        </p:txBody>
      </p:sp>
      <p:sp>
        <p:nvSpPr>
          <p:cNvPr id="9" name="Text 6"/>
          <p:cNvSpPr/>
          <p:nvPr/>
        </p:nvSpPr>
        <p:spPr>
          <a:xfrm>
            <a:off x="777240" y="5303520"/>
            <a:ext cx="4983480" cy="914400"/>
          </a:xfrm>
          <a:prstGeom prst="rect">
            <a:avLst/>
          </a:prstGeom>
          <a:noFill/>
          <a:ln/>
        </p:spPr>
        <p:txBody>
          <a:bodyPr wrap="square" lIns="0" tIns="0" rIns="0" bIns="0" rtlCol="0" anchor="ctr"/>
          <a:lstStyle/>
          <a:p>
            <a:pPr indent="0" marL="0">
              <a:lnSpc>
                <a:spcPts val="1600"/>
              </a:lnSpc>
              <a:buNone/>
            </a:pPr>
            <a:r>
              <a:rPr lang="en-US" sz="1200" dirty="0">
                <a:solidFill>
                  <a:srgbClr val="57534E"/>
                </a:solidFill>
                <a:latin typeface="Calibri" pitchFamily="34" charset="0"/>
                <a:ea typeface="Calibri" pitchFamily="34" charset="-122"/>
                <a:cs typeface="Calibri" pitchFamily="34" charset="-120"/>
              </a:rPr>
              <a:t>Could somebody who was not in the room reconstruct the reasoning well enough to disagree with it on the merits? If they can only accept it or resent it, the record has failed.</a:t>
            </a:r>
            <a:endParaRPr lang="en-US" sz="1200" dirty="0"/>
          </a:p>
        </p:txBody>
      </p:sp>
      <p:sp>
        <p:nvSpPr>
          <p:cNvPr id="10" name="Shape 7"/>
          <p:cNvSpPr/>
          <p:nvPr/>
        </p:nvSpPr>
        <p:spPr>
          <a:xfrm>
            <a:off x="6309360" y="4846320"/>
            <a:ext cx="5440680" cy="1463040"/>
          </a:xfrm>
          <a:prstGeom prst="roundRect">
            <a:avLst>
              <a:gd name="adj" fmla="val 5625"/>
            </a:avLst>
          </a:prstGeom>
          <a:solidFill>
            <a:srgbClr val="E7EFEE"/>
          </a:solidFill>
          <a:ln w="12700">
            <a:solidFill>
              <a:srgbClr val="BFD4D2"/>
            </a:solidFill>
            <a:prstDash val="solid"/>
          </a:ln>
        </p:spPr>
      </p:sp>
      <p:sp>
        <p:nvSpPr>
          <p:cNvPr id="11" name="Text 8"/>
          <p:cNvSpPr/>
          <p:nvPr/>
        </p:nvSpPr>
        <p:spPr>
          <a:xfrm>
            <a:off x="6583680" y="5029200"/>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THE TWENTY-MINUTE DIAGNOSTIC</a:t>
            </a:r>
            <a:endParaRPr lang="en-US" sz="1000" dirty="0"/>
          </a:p>
        </p:txBody>
      </p:sp>
      <p:sp>
        <p:nvSpPr>
          <p:cNvPr id="12" name="Text 9"/>
          <p:cNvSpPr/>
          <p:nvPr/>
        </p:nvSpPr>
        <p:spPr>
          <a:xfrm>
            <a:off x="6583680" y="5303520"/>
            <a:ext cx="4892040" cy="914400"/>
          </a:xfrm>
          <a:prstGeom prst="rect">
            <a:avLst/>
          </a:prstGeom>
          <a:noFill/>
          <a:ln/>
        </p:spPr>
        <p:txBody>
          <a:bodyPr wrap="square" lIns="0" tIns="0" rIns="0" bIns="0" rtlCol="0" anchor="ctr"/>
          <a:lstStyle/>
          <a:p>
            <a:pPr indent="0" marL="0">
              <a:lnSpc>
                <a:spcPts val="1600"/>
              </a:lnSpc>
              <a:buNone/>
            </a:pPr>
            <a:r>
              <a:rPr lang="en-US" sz="1200" dirty="0">
                <a:solidFill>
                  <a:srgbClr val="57534E"/>
                </a:solidFill>
                <a:latin typeface="Calibri" pitchFamily="34" charset="0"/>
                <a:ea typeface="Calibri" pitchFamily="34" charset="-122"/>
                <a:cs typeface="Calibri" pitchFamily="34" charset="-120"/>
              </a:rPr>
              <a:t>If the record takes longer than twenty minutes, the decision has not been made yet. Not a writing target - a signal to say so in the room.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THE TAXONOMY</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One shape, six kinds, filed by clock</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What varies is what it binds and how long it lives</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247120" cy="914400"/>
        </p:xfrm>
        <a:graphic>
          <a:graphicData uri="http://schemas.openxmlformats.org/drawingml/2006/table">
            <a:tbl>
              <a:tblPr/>
              <a:tblGrid>
                <a:gridCol w="1737360"/>
                <a:gridCol w="3017520"/>
                <a:gridCol w="2011680"/>
                <a:gridCol w="2468880"/>
                <a:gridCol w="2011680"/>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Kind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Binds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Lifetime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Filed in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Decided by</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Direction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Future designs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Until superseded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decision log</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Board or design forum</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Exception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 permitted violation of a rule still in force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To an expiry date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exception register</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body that set the rule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Classification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 value on a repository record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Until the fact changes</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On the record, rationale plus change log</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record's owner</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Assessment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 judgement at a point in time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To the next cycle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On the record, with rater and date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named rater</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Disposition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What we will do about a gap</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Until done, or review date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register owning that flow</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domain architect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Selection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A purchase, and a contract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contract term</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Decision log and procurement file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Steering body, on architecture's evidence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5577840"/>
            <a:ext cx="11247120" cy="731520"/>
          </a:xfrm>
          <a:prstGeom prst="roundRect">
            <a:avLst>
              <a:gd name="adj" fmla="val 11250"/>
            </a:avLst>
          </a:prstGeom>
          <a:solidFill>
            <a:srgbClr val="1C1917"/>
          </a:solidFill>
          <a:ln w="12700">
            <a:solidFill>
              <a:srgbClr val="1C1917"/>
            </a:solidFill>
            <a:prstDash val="solid"/>
          </a:ln>
        </p:spPr>
      </p:sp>
      <p:sp>
        <p:nvSpPr>
          <p:cNvPr id="8" name="Text 5"/>
          <p:cNvSpPr/>
          <p:nvPr/>
        </p:nvSpPr>
        <p:spPr>
          <a:xfrm>
            <a:off x="822960" y="5760720"/>
            <a:ext cx="10607040" cy="411480"/>
          </a:xfrm>
          <a:prstGeom prst="rect">
            <a:avLst/>
          </a:prstGeom>
          <a:noFill/>
          <a:ln/>
        </p:spPr>
        <p:txBody>
          <a:bodyPr wrap="square" lIns="0" tIns="0" rIns="0" bIns="0" rtlCol="0" anchor="ctr"/>
          <a:lstStyle/>
          <a:p>
            <a:pPr indent="0" marL="0">
              <a:buNone/>
            </a:pPr>
            <a:r>
              <a:rPr lang="en-US" sz="1300" dirty="0">
                <a:solidFill>
                  <a:srgbClr val="CFC9BD"/>
                </a:solidFill>
                <a:latin typeface="Calibri" pitchFamily="34" charset="0"/>
                <a:ea typeface="Calibri" pitchFamily="34" charset="-122"/>
                <a:cs typeface="Calibri" pitchFamily="34" charset="-120"/>
              </a:rPr>
              <a:t>Why not one register: their clocks differ, and a register expiring on four clocks cannot be reviewed as one thing. Why not six templates: then nobody can mine them for the argument that keeps coming back.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CASE ONE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A classification call</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dull one, and the one with the longest tail</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45920"/>
            <a:ext cx="6766560" cy="2286000"/>
          </a:xfrm>
          <a:prstGeom prst="roundRect">
            <a:avLst>
              <a:gd name="adj" fmla="val 3600"/>
            </a:avLst>
          </a:prstGeom>
          <a:solidFill>
            <a:srgbClr val="E7EFEE"/>
          </a:solidFill>
          <a:ln w="12700">
            <a:solidFill>
              <a:srgbClr val="14606B"/>
            </a:solidFill>
            <a:prstDash val="solid"/>
          </a:ln>
        </p:spPr>
      </p:sp>
      <p:sp>
        <p:nvSpPr>
          <p:cNvPr id="7" name="Text 5"/>
          <p:cNvSpPr/>
          <p:nvPr/>
        </p:nvSpPr>
        <p:spPr>
          <a:xfrm>
            <a:off x="722376" y="1792224"/>
            <a:ext cx="6309360" cy="237744"/>
          </a:xfrm>
          <a:prstGeom prst="rect">
            <a:avLst/>
          </a:prstGeom>
          <a:noFill/>
          <a:ln/>
        </p:spPr>
        <p:txBody>
          <a:bodyPr wrap="square" lIns="0" tIns="0" rIns="0" bIns="0" rtlCol="0" anchor="ctr"/>
          <a:lstStyle/>
          <a:p>
            <a:pPr indent="0" marL="0">
              <a:buNone/>
            </a:pPr>
            <a:r>
              <a:rPr lang="en-US" sz="1050" b="1" spc="200" kern="0" dirty="0">
                <a:solidFill>
                  <a:srgbClr val="14606B"/>
                </a:solidFill>
                <a:latin typeface="Calibri" pitchFamily="34" charset="0"/>
                <a:ea typeface="Calibri" pitchFamily="34" charset="-122"/>
                <a:cs typeface="Calibri" pitchFamily="34" charset="-120"/>
              </a:rPr>
              <a:t>CLS-014</a:t>
            </a:r>
            <a:endParaRPr lang="en-US" sz="1050" dirty="0"/>
          </a:p>
        </p:txBody>
      </p:sp>
      <p:sp>
        <p:nvSpPr>
          <p:cNvPr id="8" name="Text 6"/>
          <p:cNvSpPr/>
          <p:nvPr/>
        </p:nvSpPr>
        <p:spPr>
          <a:xfrm>
            <a:off x="722376" y="1993392"/>
            <a:ext cx="630936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classification  -  2026-02-11  -  portfolio owner</a:t>
            </a:r>
            <a:endParaRPr lang="en-US" sz="950" dirty="0"/>
          </a:p>
        </p:txBody>
      </p:sp>
      <p:sp>
        <p:nvSpPr>
          <p:cNvPr id="9" name="Text 7"/>
          <p:cNvSpPr/>
          <p:nvPr/>
        </p:nvSpPr>
        <p:spPr>
          <a:xfrm>
            <a:off x="722376" y="2249424"/>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CHOSE</a:t>
            </a:r>
            <a:endParaRPr lang="en-US" sz="850" dirty="0"/>
          </a:p>
        </p:txBody>
      </p:sp>
      <p:sp>
        <p:nvSpPr>
          <p:cNvPr id="10" name="Text 8"/>
          <p:cNvSpPr/>
          <p:nvPr/>
        </p:nvSpPr>
        <p:spPr>
          <a:xfrm>
            <a:off x="2002536" y="2221992"/>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The group reporting layer is recorded as one application, not three IT components</a:t>
            </a:r>
            <a:endParaRPr lang="en-US" sz="1050" dirty="0"/>
          </a:p>
        </p:txBody>
      </p:sp>
      <p:sp>
        <p:nvSpPr>
          <p:cNvPr id="11" name="Text 9"/>
          <p:cNvSpPr/>
          <p:nvPr/>
        </p:nvSpPr>
        <p:spPr>
          <a:xfrm>
            <a:off x="722376" y="2651760"/>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REJECTED</a:t>
            </a:r>
            <a:endParaRPr lang="en-US" sz="850" dirty="0"/>
          </a:p>
        </p:txBody>
      </p:sp>
      <p:sp>
        <p:nvSpPr>
          <p:cNvPr id="12" name="Text 10"/>
          <p:cNvSpPr/>
          <p:nvPr/>
        </p:nvSpPr>
        <p:spPr>
          <a:xfrm>
            <a:off x="2002536" y="2624328"/>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Recording the query engine, semantic layer and scheduler separately under a notional parent</a:t>
            </a:r>
            <a:endParaRPr lang="en-US" sz="1050" dirty="0"/>
          </a:p>
        </p:txBody>
      </p:sp>
      <p:sp>
        <p:nvSpPr>
          <p:cNvPr id="13" name="Text 11"/>
          <p:cNvSpPr/>
          <p:nvPr/>
        </p:nvSpPr>
        <p:spPr>
          <a:xfrm>
            <a:off x="722376" y="3054096"/>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WHY</a:t>
            </a:r>
            <a:endParaRPr lang="en-US" sz="850" dirty="0"/>
          </a:p>
        </p:txBody>
      </p:sp>
      <p:sp>
        <p:nvSpPr>
          <p:cNvPr id="14" name="Text 12"/>
          <p:cNvSpPr/>
          <p:nvPr/>
        </p:nvSpPr>
        <p:spPr>
          <a:xfrm>
            <a:off x="2002536" y="3026664"/>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Business users interact with it directly, which is the line we apply everywhere. The parts have no independent lifecycle and no separate owner</a:t>
            </a:r>
            <a:endParaRPr lang="en-US" sz="1050" dirty="0"/>
          </a:p>
        </p:txBody>
      </p:sp>
      <p:sp>
        <p:nvSpPr>
          <p:cNvPr id="15" name="Text 13"/>
          <p:cNvSpPr/>
          <p:nvPr/>
        </p:nvSpPr>
        <p:spPr>
          <a:xfrm>
            <a:off x="722376" y="3456432"/>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COST</a:t>
            </a:r>
            <a:endParaRPr lang="en-US" sz="850" dirty="0"/>
          </a:p>
        </p:txBody>
      </p:sp>
      <p:sp>
        <p:nvSpPr>
          <p:cNvPr id="16" name="Text 14"/>
          <p:cNvSpPr/>
          <p:nvPr/>
        </p:nvSpPr>
        <p:spPr>
          <a:xfrm>
            <a:off x="2002536" y="3429000"/>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Per-part end-of-support reporting moves to a note until the components model is extended</a:t>
            </a:r>
            <a:endParaRPr lang="en-US" sz="1050" dirty="0"/>
          </a:p>
        </p:txBody>
      </p:sp>
      <p:sp>
        <p:nvSpPr>
          <p:cNvPr id="17" name="Shape 15"/>
          <p:cNvSpPr/>
          <p:nvPr/>
        </p:nvSpPr>
        <p:spPr>
          <a:xfrm>
            <a:off x="7589520" y="1645920"/>
            <a:ext cx="4160520" cy="2788920"/>
          </a:xfrm>
          <a:prstGeom prst="roundRect">
            <a:avLst>
              <a:gd name="adj" fmla="val 2951"/>
            </a:avLst>
          </a:prstGeom>
          <a:solidFill>
            <a:srgbClr val="FFFFFF"/>
          </a:solidFill>
          <a:ln w="12700">
            <a:solidFill>
              <a:srgbClr val="E4E0D7"/>
            </a:solidFill>
            <a:prstDash val="solid"/>
          </a:ln>
        </p:spPr>
      </p:sp>
      <p:sp>
        <p:nvSpPr>
          <p:cNvPr id="18" name="Text 16"/>
          <p:cNvSpPr/>
          <p:nvPr/>
        </p:nvSpPr>
        <p:spPr>
          <a:xfrm>
            <a:off x="7863840" y="1847088"/>
            <a:ext cx="36576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WHAT THIS ONE CALL CHANGES</a:t>
            </a:r>
            <a:endParaRPr lang="en-US" sz="1000" dirty="0"/>
          </a:p>
        </p:txBody>
      </p:sp>
      <p:sp>
        <p:nvSpPr>
          <p:cNvPr id="19" name="Text 17"/>
          <p:cNvSpPr/>
          <p:nvPr/>
        </p:nvSpPr>
        <p:spPr>
          <a:xfrm>
            <a:off x="7863840" y="2148840"/>
            <a:ext cx="3611880" cy="219456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The application count.</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Who receives the attestation.</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Whose budget carries it.</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How it appears in every quality report from now on.</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Written in four minutes.</a:t>
            </a:r>
            <a:endParaRPr lang="en-US" sz="1200" dirty="0"/>
          </a:p>
        </p:txBody>
      </p:sp>
      <p:sp>
        <p:nvSpPr>
          <p:cNvPr id="20" name="Shape 18"/>
          <p:cNvSpPr/>
          <p:nvPr/>
        </p:nvSpPr>
        <p:spPr>
          <a:xfrm>
            <a:off x="502920" y="4709160"/>
            <a:ext cx="11247120" cy="1051560"/>
          </a:xfrm>
          <a:prstGeom prst="roundRect">
            <a:avLst>
              <a:gd name="adj" fmla="val 7826"/>
            </a:avLst>
          </a:prstGeom>
          <a:solidFill>
            <a:srgbClr val="E3EFE7"/>
          </a:solidFill>
          <a:ln w="12700">
            <a:solidFill>
              <a:srgbClr val="9DC4AA"/>
            </a:solidFill>
            <a:prstDash val="solid"/>
          </a:ln>
        </p:spPr>
      </p:sp>
      <p:sp>
        <p:nvSpPr>
          <p:cNvPr id="21" name="Text 19"/>
          <p:cNvSpPr/>
          <p:nvPr/>
        </p:nvSpPr>
        <p:spPr>
          <a:xfrm>
            <a:off x="822960" y="4892040"/>
            <a:ext cx="54864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WHY THIS IS A DECISION AND NOT A FACT</a:t>
            </a:r>
            <a:endParaRPr lang="en-US" sz="1000" dirty="0"/>
          </a:p>
        </p:txBody>
      </p:sp>
      <p:sp>
        <p:nvSpPr>
          <p:cNvPr id="22" name="Text 20"/>
          <p:cNvSpPr/>
          <p:nvPr/>
        </p:nvSpPr>
        <p:spPr>
          <a:xfrm>
            <a:off x="822960" y="5175504"/>
            <a:ext cx="10607040" cy="502920"/>
          </a:xfrm>
          <a:prstGeom prst="rect">
            <a:avLst/>
          </a:prstGeom>
          <a:noFill/>
          <a:ln/>
        </p:spPr>
        <p:txBody>
          <a:bodyPr wrap="square" lIns="0" tIns="0" rIns="0" bIns="0" rtlCol="0" anchor="ctr"/>
          <a:lstStyle/>
          <a:p>
            <a:pPr indent="0" marL="0">
              <a:lnSpc>
                <a:spcPts val="1800"/>
              </a:lnSpc>
              <a:buNone/>
            </a:pPr>
            <a:r>
              <a:rPr lang="en-US" sz="1300" dirty="0">
                <a:solidFill>
                  <a:srgbClr val="57534E"/>
                </a:solidFill>
                <a:latin typeface="Calibri" pitchFamily="34" charset="0"/>
                <a:ea typeface="Calibri" pitchFamily="34" charset="-122"/>
                <a:cs typeface="Calibri" pitchFamily="34" charset="-120"/>
              </a:rPr>
              <a:t>Two competent people genuinely differ on it. That is the test: if two people with the same information could have decided differently, it is a decision. If there was only one possible answer, it is a fact and it belongs in a field.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CASE TWO</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One event, two records, two clocks</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A mastership move is the clearest case, and the one most often filed as a single entry</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45920"/>
            <a:ext cx="5532120" cy="2688336"/>
          </a:xfrm>
          <a:prstGeom prst="roundRect">
            <a:avLst>
              <a:gd name="adj" fmla="val 3061"/>
            </a:avLst>
          </a:prstGeom>
          <a:solidFill>
            <a:srgbClr val="E7EFEE"/>
          </a:solidFill>
          <a:ln w="12700">
            <a:solidFill>
              <a:srgbClr val="14606B"/>
            </a:solidFill>
            <a:prstDash val="solid"/>
          </a:ln>
        </p:spPr>
      </p:sp>
      <p:sp>
        <p:nvSpPr>
          <p:cNvPr id="7" name="Text 5"/>
          <p:cNvSpPr/>
          <p:nvPr/>
        </p:nvSpPr>
        <p:spPr>
          <a:xfrm>
            <a:off x="722376" y="1792224"/>
            <a:ext cx="5074920" cy="237744"/>
          </a:xfrm>
          <a:prstGeom prst="rect">
            <a:avLst/>
          </a:prstGeom>
          <a:noFill/>
          <a:ln/>
        </p:spPr>
        <p:txBody>
          <a:bodyPr wrap="square" lIns="0" tIns="0" rIns="0" bIns="0" rtlCol="0" anchor="ctr"/>
          <a:lstStyle/>
          <a:p>
            <a:pPr indent="0" marL="0">
              <a:buNone/>
            </a:pPr>
            <a:r>
              <a:rPr lang="en-US" sz="1050" b="1" spc="200" kern="0" dirty="0">
                <a:solidFill>
                  <a:srgbClr val="14606B"/>
                </a:solidFill>
                <a:latin typeface="Calibri" pitchFamily="34" charset="0"/>
                <a:ea typeface="Calibri" pitchFamily="34" charset="-122"/>
                <a:cs typeface="Calibri" pitchFamily="34" charset="-120"/>
              </a:rPr>
              <a:t>ADR-092</a:t>
            </a:r>
            <a:endParaRPr lang="en-US" sz="1050" dirty="0"/>
          </a:p>
        </p:txBody>
      </p:sp>
      <p:sp>
        <p:nvSpPr>
          <p:cNvPr id="8" name="Text 6"/>
          <p:cNvSpPr/>
          <p:nvPr/>
        </p:nvSpPr>
        <p:spPr>
          <a:xfrm>
            <a:off x="722376" y="1993392"/>
            <a:ext cx="507492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direction  -  2026-06-09  -  architecture board</a:t>
            </a:r>
            <a:endParaRPr lang="en-US" sz="950" dirty="0"/>
          </a:p>
        </p:txBody>
      </p:sp>
      <p:sp>
        <p:nvSpPr>
          <p:cNvPr id="9" name="Text 7"/>
          <p:cNvSpPr/>
          <p:nvPr/>
        </p:nvSpPr>
        <p:spPr>
          <a:xfrm>
            <a:off x="722376" y="2249424"/>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CHOSE</a:t>
            </a:r>
            <a:endParaRPr lang="en-US" sz="850" dirty="0"/>
          </a:p>
        </p:txBody>
      </p:sp>
      <p:sp>
        <p:nvSpPr>
          <p:cNvPr id="10" name="Text 8"/>
          <p:cNvSpPr/>
          <p:nvPr/>
        </p:nvSpPr>
        <p:spPr>
          <a:xfrm>
            <a:off x="2002536" y="2221992"/>
            <a:ext cx="379476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Price is mastered by the side-by-side pricing service from the Q4 cutover</a:t>
            </a:r>
            <a:endParaRPr lang="en-US" sz="1050" dirty="0"/>
          </a:p>
        </p:txBody>
      </p:sp>
      <p:sp>
        <p:nvSpPr>
          <p:cNvPr id="11" name="Text 9"/>
          <p:cNvSpPr/>
          <p:nvPr/>
        </p:nvSpPr>
        <p:spPr>
          <a:xfrm>
            <a:off x="722376" y="2651760"/>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REJECTED</a:t>
            </a:r>
            <a:endParaRPr lang="en-US" sz="850" dirty="0"/>
          </a:p>
        </p:txBody>
      </p:sp>
      <p:sp>
        <p:nvSpPr>
          <p:cNvPr id="12" name="Text 10"/>
          <p:cNvSpPr/>
          <p:nvPr/>
        </p:nvSpPr>
        <p:spPr>
          <a:xfrm>
            <a:off x="2002536" y="2624328"/>
            <a:ext cx="379476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Extending the condition technique in the core. Mastering price in commerce, dismissed because commerce consumes every other object</a:t>
            </a:r>
            <a:endParaRPr lang="en-US" sz="1050" dirty="0"/>
          </a:p>
        </p:txBody>
      </p:sp>
      <p:sp>
        <p:nvSpPr>
          <p:cNvPr id="13" name="Text 11"/>
          <p:cNvSpPr/>
          <p:nvPr/>
        </p:nvSpPr>
        <p:spPr>
          <a:xfrm>
            <a:off x="722376" y="3054096"/>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WHY</a:t>
            </a:r>
            <a:endParaRPr lang="en-US" sz="850" dirty="0"/>
          </a:p>
        </p:txBody>
      </p:sp>
      <p:sp>
        <p:nvSpPr>
          <p:cNvPr id="14" name="Text 12"/>
          <p:cNvSpPr/>
          <p:nvPr/>
        </p:nvSpPr>
        <p:spPr>
          <a:xfrm>
            <a:off x="2002536" y="3026664"/>
            <a:ext cx="379476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The rules the business needs cannot be expressed without a core modification, and we are counting those down</a:t>
            </a:r>
            <a:endParaRPr lang="en-US" sz="1050" dirty="0"/>
          </a:p>
        </p:txBody>
      </p:sp>
      <p:sp>
        <p:nvSpPr>
          <p:cNvPr id="15" name="Text 13"/>
          <p:cNvSpPr/>
          <p:nvPr/>
        </p:nvSpPr>
        <p:spPr>
          <a:xfrm>
            <a:off x="722376" y="3456432"/>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COST</a:t>
            </a:r>
            <a:endParaRPr lang="en-US" sz="850" dirty="0"/>
          </a:p>
        </p:txBody>
      </p:sp>
      <p:sp>
        <p:nvSpPr>
          <p:cNvPr id="16" name="Text 14"/>
          <p:cNvSpPr/>
          <p:nvPr/>
        </p:nvSpPr>
        <p:spPr>
          <a:xfrm>
            <a:off x="2002536" y="3429000"/>
            <a:ext cx="379476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Eight weeks of dual write and a reconciliation nobody wants to run</a:t>
            </a:r>
            <a:endParaRPr lang="en-US" sz="1050" dirty="0"/>
          </a:p>
        </p:txBody>
      </p:sp>
      <p:sp>
        <p:nvSpPr>
          <p:cNvPr id="17" name="Text 15"/>
          <p:cNvSpPr/>
          <p:nvPr/>
        </p:nvSpPr>
        <p:spPr>
          <a:xfrm>
            <a:off x="722376" y="3858768"/>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LIFETIME</a:t>
            </a:r>
            <a:endParaRPr lang="en-US" sz="850" dirty="0"/>
          </a:p>
        </p:txBody>
      </p:sp>
      <p:sp>
        <p:nvSpPr>
          <p:cNvPr id="18" name="Text 16"/>
          <p:cNvSpPr/>
          <p:nvPr/>
        </p:nvSpPr>
        <p:spPr>
          <a:xfrm>
            <a:off x="2002536" y="3831336"/>
            <a:ext cx="379476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Until superseded. Supersedes ADR-041</a:t>
            </a:r>
            <a:endParaRPr lang="en-US" sz="1050" dirty="0"/>
          </a:p>
        </p:txBody>
      </p:sp>
      <p:sp>
        <p:nvSpPr>
          <p:cNvPr id="19" name="Shape 17"/>
          <p:cNvSpPr/>
          <p:nvPr/>
        </p:nvSpPr>
        <p:spPr>
          <a:xfrm>
            <a:off x="6263640" y="1645920"/>
            <a:ext cx="5486400" cy="2688336"/>
          </a:xfrm>
          <a:prstGeom prst="roundRect">
            <a:avLst>
              <a:gd name="adj" fmla="val 3061"/>
            </a:avLst>
          </a:prstGeom>
          <a:solidFill>
            <a:srgbClr val="F5ECD7"/>
          </a:solidFill>
          <a:ln w="12700">
            <a:solidFill>
              <a:srgbClr val="B98A2E"/>
            </a:solidFill>
            <a:prstDash val="solid"/>
          </a:ln>
        </p:spPr>
      </p:sp>
      <p:sp>
        <p:nvSpPr>
          <p:cNvPr id="20" name="Text 18"/>
          <p:cNvSpPr/>
          <p:nvPr/>
        </p:nvSpPr>
        <p:spPr>
          <a:xfrm>
            <a:off x="6483096" y="1792224"/>
            <a:ext cx="5029200" cy="237744"/>
          </a:xfrm>
          <a:prstGeom prst="rect">
            <a:avLst/>
          </a:prstGeom>
          <a:noFill/>
          <a:ln/>
        </p:spPr>
        <p:txBody>
          <a:bodyPr wrap="square" lIns="0" tIns="0" rIns="0" bIns="0" rtlCol="0" anchor="ctr"/>
          <a:lstStyle/>
          <a:p>
            <a:pPr indent="0" marL="0">
              <a:buNone/>
            </a:pPr>
            <a:r>
              <a:rPr lang="en-US" sz="1050" b="1" spc="200" kern="0" dirty="0">
                <a:solidFill>
                  <a:srgbClr val="B98A2E"/>
                </a:solidFill>
                <a:latin typeface="Calibri" pitchFamily="34" charset="0"/>
                <a:ea typeface="Calibri" pitchFamily="34" charset="-122"/>
                <a:cs typeface="Calibri" pitchFamily="34" charset="-120"/>
              </a:rPr>
              <a:t>EXC-11</a:t>
            </a:r>
            <a:endParaRPr lang="en-US" sz="1050" dirty="0"/>
          </a:p>
        </p:txBody>
      </p:sp>
      <p:sp>
        <p:nvSpPr>
          <p:cNvPr id="21" name="Text 19"/>
          <p:cNvSpPr/>
          <p:nvPr/>
        </p:nvSpPr>
        <p:spPr>
          <a:xfrm>
            <a:off x="6483096" y="1993392"/>
            <a:ext cx="502920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exception  -  2026-06-09  -  architecture board</a:t>
            </a:r>
            <a:endParaRPr lang="en-US" sz="950" dirty="0"/>
          </a:p>
        </p:txBody>
      </p:sp>
      <p:sp>
        <p:nvSpPr>
          <p:cNvPr id="22" name="Text 20"/>
          <p:cNvSpPr/>
          <p:nvPr/>
        </p:nvSpPr>
        <p:spPr>
          <a:xfrm>
            <a:off x="6483096" y="2249424"/>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DEVIATES</a:t>
            </a:r>
            <a:endParaRPr lang="en-US" sz="850" dirty="0"/>
          </a:p>
        </p:txBody>
      </p:sp>
      <p:sp>
        <p:nvSpPr>
          <p:cNvPr id="23" name="Text 21"/>
          <p:cNvSpPr/>
          <p:nvPr/>
        </p:nvSpPr>
        <p:spPr>
          <a:xfrm>
            <a:off x="7763256" y="2221992"/>
            <a:ext cx="374904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One system of record per object (P-01)</a:t>
            </a:r>
            <a:endParaRPr lang="en-US" sz="1050" dirty="0"/>
          </a:p>
        </p:txBody>
      </p:sp>
      <p:sp>
        <p:nvSpPr>
          <p:cNvPr id="24" name="Text 22"/>
          <p:cNvSpPr/>
          <p:nvPr/>
        </p:nvSpPr>
        <p:spPr>
          <a:xfrm>
            <a:off x="6483096" y="2651760"/>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WHY</a:t>
            </a:r>
            <a:endParaRPr lang="en-US" sz="850" dirty="0"/>
          </a:p>
        </p:txBody>
      </p:sp>
      <p:sp>
        <p:nvSpPr>
          <p:cNvPr id="25" name="Text 23"/>
          <p:cNvSpPr/>
          <p:nvPr/>
        </p:nvSpPr>
        <p:spPr>
          <a:xfrm>
            <a:off x="7763256" y="2624328"/>
            <a:ext cx="374904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The cutover requires dual write for eight weeks</a:t>
            </a:r>
            <a:endParaRPr lang="en-US" sz="1050" dirty="0"/>
          </a:p>
        </p:txBody>
      </p:sp>
      <p:sp>
        <p:nvSpPr>
          <p:cNvPr id="26" name="Text 24"/>
          <p:cNvSpPr/>
          <p:nvPr/>
        </p:nvSpPr>
        <p:spPr>
          <a:xfrm>
            <a:off x="6483096" y="3054096"/>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CLOSURE</a:t>
            </a:r>
            <a:endParaRPr lang="en-US" sz="850" dirty="0"/>
          </a:p>
        </p:txBody>
      </p:sp>
      <p:sp>
        <p:nvSpPr>
          <p:cNvPr id="27" name="Text 25"/>
          <p:cNvSpPr/>
          <p:nvPr/>
        </p:nvSpPr>
        <p:spPr>
          <a:xfrm>
            <a:off x="7763256" y="3026664"/>
            <a:ext cx="374904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Old write path off, confirmed by the object owner</a:t>
            </a:r>
            <a:endParaRPr lang="en-US" sz="1050" dirty="0"/>
          </a:p>
        </p:txBody>
      </p:sp>
      <p:sp>
        <p:nvSpPr>
          <p:cNvPr id="28" name="Text 26"/>
          <p:cNvSpPr/>
          <p:nvPr/>
        </p:nvSpPr>
        <p:spPr>
          <a:xfrm>
            <a:off x="6483096" y="3456432"/>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EXPIRY</a:t>
            </a:r>
            <a:endParaRPr lang="en-US" sz="850" dirty="0"/>
          </a:p>
        </p:txBody>
      </p:sp>
      <p:sp>
        <p:nvSpPr>
          <p:cNvPr id="29" name="Text 27"/>
          <p:cNvSpPr/>
          <p:nvPr/>
        </p:nvSpPr>
        <p:spPr>
          <a:xfrm>
            <a:off x="7763256" y="3429000"/>
            <a:ext cx="374904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2026-12-24</a:t>
            </a:r>
            <a:endParaRPr lang="en-US" sz="1050" dirty="0"/>
          </a:p>
        </p:txBody>
      </p:sp>
      <p:sp>
        <p:nvSpPr>
          <p:cNvPr id="30" name="Text 28"/>
          <p:cNvSpPr/>
          <p:nvPr/>
        </p:nvSpPr>
        <p:spPr>
          <a:xfrm>
            <a:off x="6483096" y="3858768"/>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LIFETIME</a:t>
            </a:r>
            <a:endParaRPr lang="en-US" sz="850" dirty="0"/>
          </a:p>
        </p:txBody>
      </p:sp>
      <p:sp>
        <p:nvSpPr>
          <p:cNvPr id="31" name="Text 29"/>
          <p:cNvSpPr/>
          <p:nvPr/>
        </p:nvSpPr>
        <p:spPr>
          <a:xfrm>
            <a:off x="7763256" y="3831336"/>
            <a:ext cx="374904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On every quarterly agenda until it closes, unprompted</a:t>
            </a:r>
            <a:endParaRPr lang="en-US" sz="1050" dirty="0"/>
          </a:p>
        </p:txBody>
      </p:sp>
      <p:sp>
        <p:nvSpPr>
          <p:cNvPr id="32" name="Shape 30"/>
          <p:cNvSpPr/>
          <p:nvPr/>
        </p:nvSpPr>
        <p:spPr>
          <a:xfrm>
            <a:off x="502920" y="5029200"/>
            <a:ext cx="11247120" cy="1051560"/>
          </a:xfrm>
          <a:prstGeom prst="roundRect">
            <a:avLst>
              <a:gd name="adj" fmla="val 7826"/>
            </a:avLst>
          </a:prstGeom>
          <a:solidFill>
            <a:srgbClr val="F2E4E0"/>
          </a:solidFill>
          <a:ln w="12700">
            <a:solidFill>
              <a:srgbClr val="C9998C"/>
            </a:solidFill>
            <a:prstDash val="solid"/>
          </a:ln>
        </p:spPr>
      </p:sp>
      <p:sp>
        <p:nvSpPr>
          <p:cNvPr id="33" name="Text 31"/>
          <p:cNvSpPr/>
          <p:nvPr/>
        </p:nvSpPr>
        <p:spPr>
          <a:xfrm>
            <a:off x="822960" y="5212080"/>
            <a:ext cx="54864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WHY NOT ONE ENTRY</a:t>
            </a:r>
            <a:endParaRPr lang="en-US" sz="1000" dirty="0"/>
          </a:p>
        </p:txBody>
      </p:sp>
      <p:sp>
        <p:nvSpPr>
          <p:cNvPr id="34" name="Text 32"/>
          <p:cNvSpPr/>
          <p:nvPr/>
        </p:nvSpPr>
        <p:spPr>
          <a:xfrm>
            <a:off x="822960" y="5486400"/>
            <a:ext cx="10607040" cy="45720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Filing them together means either the direction expires, which is wrong, or the dual-write window never expires - which is how a three-week arrangement once ran for two years.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CASE THREE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An assessment somebody disputed</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record that turns a political argument into a technical one</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45920"/>
            <a:ext cx="6766560" cy="2688336"/>
          </a:xfrm>
          <a:prstGeom prst="roundRect">
            <a:avLst>
              <a:gd name="adj" fmla="val 3061"/>
            </a:avLst>
          </a:prstGeom>
          <a:solidFill>
            <a:srgbClr val="E7EFEE"/>
          </a:solidFill>
          <a:ln w="12700">
            <a:solidFill>
              <a:srgbClr val="14606B"/>
            </a:solidFill>
            <a:prstDash val="solid"/>
          </a:ln>
        </p:spPr>
      </p:sp>
      <p:sp>
        <p:nvSpPr>
          <p:cNvPr id="7" name="Text 5"/>
          <p:cNvSpPr/>
          <p:nvPr/>
        </p:nvSpPr>
        <p:spPr>
          <a:xfrm>
            <a:off x="722376" y="1792224"/>
            <a:ext cx="6309360" cy="237744"/>
          </a:xfrm>
          <a:prstGeom prst="rect">
            <a:avLst/>
          </a:prstGeom>
          <a:noFill/>
          <a:ln/>
        </p:spPr>
        <p:txBody>
          <a:bodyPr wrap="square" lIns="0" tIns="0" rIns="0" bIns="0" rtlCol="0" anchor="ctr"/>
          <a:lstStyle/>
          <a:p>
            <a:pPr indent="0" marL="0">
              <a:buNone/>
            </a:pPr>
            <a:r>
              <a:rPr lang="en-US" sz="1050" b="1" spc="200" kern="0" dirty="0">
                <a:solidFill>
                  <a:srgbClr val="14606B"/>
                </a:solidFill>
                <a:latin typeface="Calibri" pitchFamily="34" charset="0"/>
                <a:ea typeface="Calibri" pitchFamily="34" charset="-122"/>
                <a:cs typeface="Calibri" pitchFamily="34" charset="-120"/>
              </a:rPr>
              <a:t>ASM-2026-Q2-APP-118</a:t>
            </a:r>
            <a:endParaRPr lang="en-US" sz="1050" dirty="0"/>
          </a:p>
        </p:txBody>
      </p:sp>
      <p:sp>
        <p:nvSpPr>
          <p:cNvPr id="8" name="Text 6"/>
          <p:cNvSpPr/>
          <p:nvPr/>
        </p:nvSpPr>
        <p:spPr>
          <a:xfrm>
            <a:off x="722376" y="1993392"/>
            <a:ext cx="630936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assessment  -  2026-05-04  -  head of procurement operations</a:t>
            </a:r>
            <a:endParaRPr lang="en-US" sz="950" dirty="0"/>
          </a:p>
        </p:txBody>
      </p:sp>
      <p:sp>
        <p:nvSpPr>
          <p:cNvPr id="9" name="Text 7"/>
          <p:cNvSpPr/>
          <p:nvPr/>
        </p:nvSpPr>
        <p:spPr>
          <a:xfrm>
            <a:off x="722376" y="2249424"/>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CHOSE</a:t>
            </a:r>
            <a:endParaRPr lang="en-US" sz="850" dirty="0"/>
          </a:p>
        </p:txBody>
      </p:sp>
      <p:sp>
        <p:nvSpPr>
          <p:cNvPr id="10" name="Text 8"/>
          <p:cNvSpPr/>
          <p:nvPr/>
        </p:nvSpPr>
        <p:spPr>
          <a:xfrm>
            <a:off x="2002536" y="2221992"/>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Business fit 2</a:t>
            </a:r>
            <a:endParaRPr lang="en-US" sz="1050" dirty="0"/>
          </a:p>
        </p:txBody>
      </p:sp>
      <p:sp>
        <p:nvSpPr>
          <p:cNvPr id="11" name="Text 9"/>
          <p:cNvSpPr/>
          <p:nvPr/>
        </p:nvSpPr>
        <p:spPr>
          <a:xfrm>
            <a:off x="722376" y="2651760"/>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REJECTED</a:t>
            </a:r>
            <a:endParaRPr lang="en-US" sz="850" dirty="0"/>
          </a:p>
        </p:txBody>
      </p:sp>
      <p:sp>
        <p:nvSpPr>
          <p:cNvPr id="12" name="Text 10"/>
          <p:cNvSpPr/>
          <p:nvPr/>
        </p:nvSpPr>
        <p:spPr>
          <a:xfrm>
            <a:off x="2002536" y="2624328"/>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3, which the sponsoring market argued for</a:t>
            </a:r>
            <a:endParaRPr lang="en-US" sz="1050" dirty="0"/>
          </a:p>
        </p:txBody>
      </p:sp>
      <p:sp>
        <p:nvSpPr>
          <p:cNvPr id="13" name="Text 11"/>
          <p:cNvSpPr/>
          <p:nvPr/>
        </p:nvSpPr>
        <p:spPr>
          <a:xfrm>
            <a:off x="722376" y="3054096"/>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ANCHOR</a:t>
            </a:r>
            <a:endParaRPr lang="en-US" sz="850" dirty="0"/>
          </a:p>
        </p:txBody>
      </p:sp>
      <p:sp>
        <p:nvSpPr>
          <p:cNvPr id="14" name="Text 12"/>
          <p:cNvSpPr/>
          <p:nvPr/>
        </p:nvSpPr>
        <p:spPr>
          <a:xfrm>
            <a:off x="2002536" y="3026664"/>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"Does the job with accepted workarounds" is the published anchor for 3</a:t>
            </a:r>
            <a:endParaRPr lang="en-US" sz="1050" dirty="0"/>
          </a:p>
        </p:txBody>
      </p:sp>
      <p:sp>
        <p:nvSpPr>
          <p:cNvPr id="15" name="Text 13"/>
          <p:cNvSpPr/>
          <p:nvPr/>
        </p:nvSpPr>
        <p:spPr>
          <a:xfrm>
            <a:off x="722376" y="3456432"/>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WHY</a:t>
            </a:r>
            <a:endParaRPr lang="en-US" sz="850" dirty="0"/>
          </a:p>
        </p:txBody>
      </p:sp>
      <p:sp>
        <p:nvSpPr>
          <p:cNvPr id="16" name="Text 14"/>
          <p:cNvSpPr/>
          <p:nvPr/>
        </p:nvSpPr>
        <p:spPr>
          <a:xfrm>
            <a:off x="2002536" y="3429000"/>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Two of four core steps are done outside the system, in a spreadsheet maintained by one person. A core gap filled by a shadow tool is the anchor for 2</a:t>
            </a:r>
            <a:endParaRPr lang="en-US" sz="1050" dirty="0"/>
          </a:p>
        </p:txBody>
      </p:sp>
      <p:sp>
        <p:nvSpPr>
          <p:cNvPr id="17" name="Text 15"/>
          <p:cNvSpPr/>
          <p:nvPr/>
        </p:nvSpPr>
        <p:spPr>
          <a:xfrm>
            <a:off x="722376" y="3858768"/>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COST</a:t>
            </a:r>
            <a:endParaRPr lang="en-US" sz="850" dirty="0"/>
          </a:p>
        </p:txBody>
      </p:sp>
      <p:sp>
        <p:nvSpPr>
          <p:cNvPr id="18" name="Text 16"/>
          <p:cNvSpPr/>
          <p:nvPr/>
        </p:nvSpPr>
        <p:spPr>
          <a:xfrm>
            <a:off x="2002536" y="3831336"/>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The market reads this as criticism. The record names the anchor rather than an opinion</a:t>
            </a:r>
            <a:endParaRPr lang="en-US" sz="1050" dirty="0"/>
          </a:p>
        </p:txBody>
      </p:sp>
      <p:sp>
        <p:nvSpPr>
          <p:cNvPr id="19" name="Shape 17"/>
          <p:cNvSpPr/>
          <p:nvPr/>
        </p:nvSpPr>
        <p:spPr>
          <a:xfrm>
            <a:off x="7589520" y="1645920"/>
            <a:ext cx="4160520" cy="3200400"/>
          </a:xfrm>
          <a:prstGeom prst="roundRect">
            <a:avLst>
              <a:gd name="adj" fmla="val 2571"/>
            </a:avLst>
          </a:prstGeom>
          <a:solidFill>
            <a:srgbClr val="E3EFE7"/>
          </a:solidFill>
          <a:ln w="12700">
            <a:solidFill>
              <a:srgbClr val="9DC4AA"/>
            </a:solidFill>
            <a:prstDash val="solid"/>
          </a:ln>
        </p:spPr>
      </p:sp>
      <p:sp>
        <p:nvSpPr>
          <p:cNvPr id="20" name="Text 18"/>
          <p:cNvSpPr/>
          <p:nvPr/>
        </p:nvSpPr>
        <p:spPr>
          <a:xfrm>
            <a:off x="7863840" y="1847088"/>
            <a:ext cx="36576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WHAT THE RECORD BUYS</a:t>
            </a:r>
            <a:endParaRPr lang="en-US" sz="1000" dirty="0"/>
          </a:p>
        </p:txBody>
      </p:sp>
      <p:sp>
        <p:nvSpPr>
          <p:cNvPr id="21" name="Text 19"/>
          <p:cNvSpPr/>
          <p:nvPr/>
        </p:nvSpPr>
        <p:spPr>
          <a:xfrm>
            <a:off x="7863840" y="2148840"/>
            <a:ext cx="3611880" cy="260604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The sponsor can still disagree.</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But now they have to disagree with the anchor, and anchors are published in advance for exactly that reason.</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Disputed assessments are not a problem. They are evidence the anchors are doing their job.</a:t>
            </a:r>
            <a:endParaRPr lang="en-US" sz="1200" dirty="0"/>
          </a:p>
        </p:txBody>
      </p:sp>
      <p:sp>
        <p:nvSpPr>
          <p:cNvPr id="22" name="Shape 20"/>
          <p:cNvSpPr/>
          <p:nvPr/>
        </p:nvSpPr>
        <p:spPr>
          <a:xfrm>
            <a:off x="502920" y="5120640"/>
            <a:ext cx="11247120" cy="960120"/>
          </a:xfrm>
          <a:prstGeom prst="roundRect">
            <a:avLst>
              <a:gd name="adj" fmla="val 8571"/>
            </a:avLst>
          </a:prstGeom>
          <a:solidFill>
            <a:srgbClr val="E7EFEE"/>
          </a:solidFill>
          <a:ln w="12700">
            <a:solidFill>
              <a:srgbClr val="BFD4D2"/>
            </a:solidFill>
            <a:prstDash val="solid"/>
          </a:ln>
        </p:spPr>
      </p:sp>
      <p:sp>
        <p:nvSpPr>
          <p:cNvPr id="23" name="Text 21"/>
          <p:cNvSpPr/>
          <p:nvPr/>
        </p:nvSpPr>
        <p:spPr>
          <a:xfrm>
            <a:off x="822960" y="5349240"/>
            <a:ext cx="10607040" cy="45720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Assessments carry their own clock: they refresh on a cycle rather than running until superseded, so they live on the record with the rater and the date, not in the decision log.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CASE FOUR</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A vendor selection, and what procurement does with it</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record protects the buyer more than it protects architecture</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00200"/>
            <a:ext cx="6766560" cy="2286000"/>
          </a:xfrm>
          <a:prstGeom prst="roundRect">
            <a:avLst>
              <a:gd name="adj" fmla="val 3600"/>
            </a:avLst>
          </a:prstGeom>
          <a:solidFill>
            <a:srgbClr val="E7EFEE"/>
          </a:solidFill>
          <a:ln w="12700">
            <a:solidFill>
              <a:srgbClr val="14606B"/>
            </a:solidFill>
            <a:prstDash val="solid"/>
          </a:ln>
        </p:spPr>
      </p:sp>
      <p:sp>
        <p:nvSpPr>
          <p:cNvPr id="7" name="Text 5"/>
          <p:cNvSpPr/>
          <p:nvPr/>
        </p:nvSpPr>
        <p:spPr>
          <a:xfrm>
            <a:off x="722376" y="1746504"/>
            <a:ext cx="6309360" cy="237744"/>
          </a:xfrm>
          <a:prstGeom prst="rect">
            <a:avLst/>
          </a:prstGeom>
          <a:noFill/>
          <a:ln/>
        </p:spPr>
        <p:txBody>
          <a:bodyPr wrap="square" lIns="0" tIns="0" rIns="0" bIns="0" rtlCol="0" anchor="ctr"/>
          <a:lstStyle/>
          <a:p>
            <a:pPr indent="0" marL="0">
              <a:buNone/>
            </a:pPr>
            <a:r>
              <a:rPr lang="en-US" sz="1050" b="1" spc="200" kern="0" dirty="0">
                <a:solidFill>
                  <a:srgbClr val="14606B"/>
                </a:solidFill>
                <a:latin typeface="Calibri" pitchFamily="34" charset="0"/>
                <a:ea typeface="Calibri" pitchFamily="34" charset="-122"/>
                <a:cs typeface="Calibri" pitchFamily="34" charset="-120"/>
              </a:rPr>
              <a:t>SEL-07</a:t>
            </a:r>
            <a:endParaRPr lang="en-US" sz="1050" dirty="0"/>
          </a:p>
        </p:txBody>
      </p:sp>
      <p:sp>
        <p:nvSpPr>
          <p:cNvPr id="8" name="Text 6"/>
          <p:cNvSpPr/>
          <p:nvPr/>
        </p:nvSpPr>
        <p:spPr>
          <a:xfrm>
            <a:off x="722376" y="1947672"/>
            <a:ext cx="630936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selection  -  2026-03-18  -  steering committee</a:t>
            </a:r>
            <a:endParaRPr lang="en-US" sz="950" dirty="0"/>
          </a:p>
        </p:txBody>
      </p:sp>
      <p:sp>
        <p:nvSpPr>
          <p:cNvPr id="9" name="Text 7"/>
          <p:cNvSpPr/>
          <p:nvPr/>
        </p:nvSpPr>
        <p:spPr>
          <a:xfrm>
            <a:off x="722376" y="2203704"/>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CHOSE</a:t>
            </a:r>
            <a:endParaRPr lang="en-US" sz="850" dirty="0"/>
          </a:p>
        </p:txBody>
      </p:sp>
      <p:sp>
        <p:nvSpPr>
          <p:cNvPr id="10" name="Text 8"/>
          <p:cNvSpPr/>
          <p:nvPr/>
        </p:nvSpPr>
        <p:spPr>
          <a:xfrm>
            <a:off x="2002536" y="2176272"/>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Vendor B</a:t>
            </a:r>
            <a:endParaRPr lang="en-US" sz="1050" dirty="0"/>
          </a:p>
        </p:txBody>
      </p:sp>
      <p:sp>
        <p:nvSpPr>
          <p:cNvPr id="11" name="Text 9"/>
          <p:cNvSpPr/>
          <p:nvPr/>
        </p:nvSpPr>
        <p:spPr>
          <a:xfrm>
            <a:off x="722376" y="2606040"/>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REJECTED</a:t>
            </a:r>
            <a:endParaRPr lang="en-US" sz="850" dirty="0"/>
          </a:p>
        </p:txBody>
      </p:sp>
      <p:sp>
        <p:nvSpPr>
          <p:cNvPr id="12" name="Text 10"/>
          <p:cNvSpPr/>
          <p:nvPr/>
        </p:nvSpPr>
        <p:spPr>
          <a:xfrm>
            <a:off x="2002536" y="2578608"/>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Vendor A, excluded on mandatory M-1: cannot operate against externally mastered customer data, demonstrated live rather than asserted. Vendor C withdrew at shortlist</a:t>
            </a:r>
            <a:endParaRPr lang="en-US" sz="1050" dirty="0"/>
          </a:p>
        </p:txBody>
      </p:sp>
      <p:sp>
        <p:nvSpPr>
          <p:cNvPr id="13" name="Text 11"/>
          <p:cNvSpPr/>
          <p:nvPr/>
        </p:nvSpPr>
        <p:spPr>
          <a:xfrm>
            <a:off x="722376" y="3008376"/>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WHY</a:t>
            </a:r>
            <a:endParaRPr lang="en-US" sz="850" dirty="0"/>
          </a:p>
        </p:txBody>
      </p:sp>
      <p:sp>
        <p:nvSpPr>
          <p:cNvPr id="14" name="Text 12"/>
          <p:cNvSpPr/>
          <p:nvPr/>
        </p:nvSpPr>
        <p:spPr>
          <a:xfrm>
            <a:off x="2002536" y="2980944"/>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B met all three mandatory criteria; the commercial gap was decisive at steering level and the architecture gap judged recoverable through configuration</a:t>
            </a:r>
            <a:endParaRPr lang="en-US" sz="1050" dirty="0"/>
          </a:p>
        </p:txBody>
      </p:sp>
      <p:sp>
        <p:nvSpPr>
          <p:cNvPr id="15" name="Text 13"/>
          <p:cNvSpPr/>
          <p:nvPr/>
        </p:nvSpPr>
        <p:spPr>
          <a:xfrm>
            <a:off x="722376" y="3410712"/>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COST</a:t>
            </a:r>
            <a:endParaRPr lang="en-US" sz="850" dirty="0"/>
          </a:p>
        </p:txBody>
      </p:sp>
      <p:sp>
        <p:nvSpPr>
          <p:cNvPr id="16" name="Text 14"/>
          <p:cNvSpPr/>
          <p:nvPr/>
        </p:nvSpPr>
        <p:spPr>
          <a:xfrm>
            <a:off x="2002536" y="3383280"/>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B publishes events by polling. Latency on stock updates accepted, and written into the contract</a:t>
            </a:r>
            <a:endParaRPr lang="en-US" sz="1050" dirty="0"/>
          </a:p>
        </p:txBody>
      </p:sp>
      <p:sp>
        <p:nvSpPr>
          <p:cNvPr id="17" name="Shape 15"/>
          <p:cNvSpPr/>
          <p:nvPr/>
        </p:nvSpPr>
        <p:spPr>
          <a:xfrm>
            <a:off x="7589520" y="1600200"/>
            <a:ext cx="4160520" cy="3200400"/>
          </a:xfrm>
          <a:prstGeom prst="roundRect">
            <a:avLst>
              <a:gd name="adj" fmla="val 2571"/>
            </a:avLst>
          </a:prstGeom>
          <a:solidFill>
            <a:srgbClr val="FFFFFF"/>
          </a:solidFill>
          <a:ln w="12700">
            <a:solidFill>
              <a:srgbClr val="E4E0D7"/>
            </a:solidFill>
            <a:prstDash val="solid"/>
          </a:ln>
        </p:spPr>
      </p:sp>
      <p:sp>
        <p:nvSpPr>
          <p:cNvPr id="18" name="Text 16"/>
          <p:cNvSpPr/>
          <p:nvPr/>
        </p:nvSpPr>
        <p:spPr>
          <a:xfrm>
            <a:off x="7863840" y="1801368"/>
            <a:ext cx="36576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IN YEAR THREE THIS RECORD</a:t>
            </a:r>
            <a:endParaRPr lang="en-US" sz="1000" dirty="0"/>
          </a:p>
        </p:txBody>
      </p:sp>
      <p:sp>
        <p:nvSpPr>
          <p:cNvPr id="19" name="Text 17"/>
          <p:cNvSpPr/>
          <p:nvPr/>
        </p:nvSpPr>
        <p:spPr>
          <a:xfrm>
            <a:off x="7863840" y="2103120"/>
            <a:ext cx="3611880" cy="260604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Answers "why not A" with a demonstrated fact rather than a memory.</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Names the accepted weakness before the account manager does.</a:t>
            </a:r>
            <a:endParaRPr lang="en-US" sz="1200" dirty="0"/>
          </a:p>
          <a:p>
            <a:pPr indent="0" marL="0">
              <a:lnSpc>
                <a:spcPts val="1700"/>
              </a:lnSpc>
              <a:buNone/>
            </a:pPr>
            <a:endParaRPr lang="en-US" sz="1200" dirty="0"/>
          </a:p>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Explains why the exit clause exists when a supplier asks to soften it at renewal.</a:t>
            </a:r>
            <a:endParaRPr lang="en-US" sz="1200" dirty="0"/>
          </a:p>
        </p:txBody>
      </p:sp>
      <p:sp>
        <p:nvSpPr>
          <p:cNvPr id="20" name="Shape 18"/>
          <p:cNvSpPr/>
          <p:nvPr/>
        </p:nvSpPr>
        <p:spPr>
          <a:xfrm>
            <a:off x="502920" y="5029200"/>
            <a:ext cx="11247120" cy="1051560"/>
          </a:xfrm>
          <a:prstGeom prst="roundRect">
            <a:avLst>
              <a:gd name="adj" fmla="val 7826"/>
            </a:avLst>
          </a:prstGeom>
          <a:solidFill>
            <a:srgbClr val="F5ECD7"/>
          </a:solidFill>
          <a:ln w="12700">
            <a:solidFill>
              <a:srgbClr val="D9BE85"/>
            </a:solidFill>
            <a:prstDash val="solid"/>
          </a:ln>
        </p:spPr>
      </p:sp>
      <p:sp>
        <p:nvSpPr>
          <p:cNvPr id="21" name="Text 19"/>
          <p:cNvSpPr/>
          <p:nvPr/>
        </p:nvSpPr>
        <p:spPr>
          <a:xfrm>
            <a:off x="822960" y="5212080"/>
            <a:ext cx="5486400" cy="237744"/>
          </a:xfrm>
          <a:prstGeom prst="rect">
            <a:avLst/>
          </a:prstGeom>
          <a:noFill/>
          <a:ln/>
        </p:spPr>
        <p:txBody>
          <a:bodyPr wrap="square" lIns="0" tIns="0" rIns="0" bIns="0" rtlCol="0" anchor="ctr"/>
          <a:lstStyle/>
          <a:p>
            <a:pPr indent="0" marL="0">
              <a:buNone/>
            </a:pPr>
            <a:r>
              <a:rPr lang="en-US" sz="1000" b="1" spc="200" kern="0" dirty="0">
                <a:solidFill>
                  <a:srgbClr val="B98A2E"/>
                </a:solidFill>
                <a:latin typeface="Calibri" pitchFamily="34" charset="0"/>
                <a:ea typeface="Calibri" pitchFamily="34" charset="-122"/>
                <a:cs typeface="Calibri" pitchFamily="34" charset="-120"/>
              </a:rPr>
              <a:t>THE END RUN, PRE-EMPTED</a:t>
            </a:r>
            <a:endParaRPr lang="en-US" sz="1000" dirty="0"/>
          </a:p>
        </p:txBody>
      </p:sp>
      <p:sp>
        <p:nvSpPr>
          <p:cNvPr id="22" name="Text 20"/>
          <p:cNvSpPr/>
          <p:nvPr/>
        </p:nvSpPr>
        <p:spPr>
          <a:xfrm>
            <a:off x="822960" y="5486400"/>
            <a:ext cx="10607040" cy="502920"/>
          </a:xfrm>
          <a:prstGeom prst="rect">
            <a:avLst/>
          </a:prstGeom>
          <a:noFill/>
          <a:ln/>
        </p:spPr>
        <p:txBody>
          <a:bodyPr wrap="square" lIns="0" tIns="0" rIns="0" bIns="0" rtlCol="0" anchor="ctr"/>
          <a:lstStyle/>
          <a:p>
            <a:pPr indent="0" marL="0">
              <a:lnSpc>
                <a:spcPts val="1800"/>
              </a:lnSpc>
              <a:buNone/>
            </a:pPr>
            <a:r>
              <a:rPr lang="en-US" sz="1300" dirty="0">
                <a:solidFill>
                  <a:srgbClr val="57534E"/>
                </a:solidFill>
                <a:latin typeface="Calibri" pitchFamily="34" charset="0"/>
                <a:ea typeface="Calibri" pitchFamily="34" charset="-122"/>
                <a:cs typeface="Calibri" pitchFamily="34" charset="-120"/>
              </a:rPr>
              <a:t>Every serious procurement has a moment where a vendor's account manager reaches a sponsor with a reason the evaluation was unfair. A record naming the mandatory criterion, the evidence rule, and what was demonstrated on which environment ends that conversation in one reply.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CASE FIVE</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An exception that should have closed</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register working, and the tell that it stopped</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11247120" cy="914400"/>
        </p:xfrm>
        <a:graphic>
          <a:graphicData uri="http://schemas.openxmlformats.org/drawingml/2006/table">
            <a:tbl>
              <a:tblPr/>
              <a:tblGrid>
                <a:gridCol w="1554480"/>
                <a:gridCol w="1828800"/>
                <a:gridCol w="6035040"/>
                <a:gridCol w="1828800"/>
              </a:tblGrid>
              <a:tr h="49377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Event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Signal</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14606B"/>
                    </a:solidFill>
                  </a:tcPr>
                </a:tc>
              </a:tr>
              <a:tr h="493776">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Raised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2024-09-30</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Six-month workaround pending the onboarding service</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ok</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493776">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Renewed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2025-04</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Service delayed. New reason recorded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ok</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r h="493776">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Renewed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2025-11</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No new reason recorded</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THE TELL</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FFFFF"/>
                    </a:solidFill>
                  </a:tcPr>
                </a:tc>
              </a:tr>
              <a:tr h="493776">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Closing</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2026-07-12</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PRJ-0418 extends the onboarding service to this market</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c>
                  <a:txBody>
                    <a:bodyPr/>
                    <a:lstStyle/>
                    <a:p>
                      <a:pPr indent="0" marL="0">
                        <a:buNone/>
                      </a:pPr>
                      <a:r>
                        <a:rPr lang="en-US" sz="1150" dirty="0">
                          <a:solidFill>
                            <a:srgbClr val="57534E"/>
                          </a:solidFill>
                          <a:latin typeface="Calibri" pitchFamily="34" charset="0"/>
                          <a:ea typeface="Calibri" pitchFamily="34" charset="-122"/>
                          <a:cs typeface="Calibri" pitchFamily="34" charset="-120"/>
                        </a:rPr>
                        <a:t>ok</a:t>
                      </a:r>
                      <a:endParaRPr lang="en-US" sz="1150" dirty="0">
                        <a:latin typeface="Calibri" charset="0"/>
                        <a:ea typeface="Calibri" charset="0"/>
                        <a:cs typeface="Calibri" charset="0"/>
                      </a:endParaRPr>
                    </a:p>
                  </a:txBody>
                  <a:tcPr marL="64008" marR="64008" marT="64008" marB="64008" anchor="ctr">
                    <a:lnL w="12700" cap="flat" cmpd="sng" algn="ctr">
                      <a:solidFill>
                        <a:srgbClr val="E4E0D7"/>
                      </a:solidFill>
                      <a:prstDash val="solid"/>
                      <a:round/>
                      <a:headEnd type="none" w="med" len="med"/>
                      <a:tailEnd type="none" w="med" len="med"/>
                    </a:lnL>
                    <a:lnR w="12700" cap="flat" cmpd="sng" algn="ctr">
                      <a:solidFill>
                        <a:srgbClr val="E4E0D7"/>
                      </a:solidFill>
                      <a:prstDash val="solid"/>
                      <a:round/>
                      <a:headEnd type="none" w="med" len="med"/>
                      <a:tailEnd type="none" w="med" len="med"/>
                    </a:lnR>
                    <a:lnT w="12700" cap="flat" cmpd="sng" algn="ctr">
                      <a:solidFill>
                        <a:srgbClr val="E4E0D7"/>
                      </a:solidFill>
                      <a:prstDash val="solid"/>
                      <a:round/>
                      <a:headEnd type="none" w="med" len="med"/>
                      <a:tailEnd type="none" w="med" len="med"/>
                    </a:lnT>
                    <a:lnB w="12700" cap="flat" cmpd="sng" algn="ctr">
                      <a:solidFill>
                        <a:srgbClr val="E4E0D7"/>
                      </a:solidFill>
                      <a:prstDash val="solid"/>
                      <a:round/>
                      <a:headEnd type="none" w="med" len="med"/>
                      <a:tailEnd type="none" w="med" len="med"/>
                    </a:lnB>
                    <a:solidFill>
                      <a:srgbClr val="F2F0EA"/>
                    </a:solidFill>
                  </a:tcPr>
                </a:tc>
              </a:tr>
            </a:tbl>
          </a:graphicData>
        </a:graphic>
      </p:graphicFrame>
      <p:sp>
        <p:nvSpPr>
          <p:cNvPr id="7" name="Shape 4"/>
          <p:cNvSpPr/>
          <p:nvPr/>
        </p:nvSpPr>
        <p:spPr>
          <a:xfrm>
            <a:off x="502920" y="4315968"/>
            <a:ext cx="5532120" cy="1874520"/>
          </a:xfrm>
          <a:prstGeom prst="roundRect">
            <a:avLst>
              <a:gd name="adj" fmla="val 4390"/>
            </a:avLst>
          </a:prstGeom>
          <a:solidFill>
            <a:srgbClr val="F2E4E0"/>
          </a:solidFill>
          <a:ln w="12700">
            <a:solidFill>
              <a:srgbClr val="C9998C"/>
            </a:solidFill>
            <a:prstDash val="solid"/>
          </a:ln>
        </p:spPr>
      </p:sp>
      <p:sp>
        <p:nvSpPr>
          <p:cNvPr id="8" name="Text 5"/>
          <p:cNvSpPr/>
          <p:nvPr/>
        </p:nvSpPr>
        <p:spPr>
          <a:xfrm>
            <a:off x="777240" y="4498848"/>
            <a:ext cx="45720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THE SECOND RENEWAL</a:t>
            </a:r>
            <a:endParaRPr lang="en-US" sz="1000" dirty="0"/>
          </a:p>
        </p:txBody>
      </p:sp>
      <p:sp>
        <p:nvSpPr>
          <p:cNvPr id="9" name="Text 6"/>
          <p:cNvSpPr/>
          <p:nvPr/>
        </p:nvSpPr>
        <p:spPr>
          <a:xfrm>
            <a:off x="777240" y="4791456"/>
            <a:ext cx="4983480" cy="128016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An extension without a new reason is a rejection with better manners. A register showing renewals with no reasons attached is telling you the quarterly review has stopped happening - which is the whole mechanism.</a:t>
            </a:r>
            <a:endParaRPr lang="en-US" sz="1200" dirty="0"/>
          </a:p>
        </p:txBody>
      </p:sp>
      <p:sp>
        <p:nvSpPr>
          <p:cNvPr id="10" name="Shape 7"/>
          <p:cNvSpPr/>
          <p:nvPr/>
        </p:nvSpPr>
        <p:spPr>
          <a:xfrm>
            <a:off x="6263640" y="4315968"/>
            <a:ext cx="5486400" cy="1874520"/>
          </a:xfrm>
          <a:prstGeom prst="roundRect">
            <a:avLst>
              <a:gd name="adj" fmla="val 4390"/>
            </a:avLst>
          </a:prstGeom>
          <a:solidFill>
            <a:srgbClr val="E3EFE7"/>
          </a:solidFill>
          <a:ln w="12700">
            <a:solidFill>
              <a:srgbClr val="9DC4AA"/>
            </a:solidFill>
            <a:prstDash val="solid"/>
          </a:ln>
        </p:spPr>
      </p:sp>
      <p:sp>
        <p:nvSpPr>
          <p:cNvPr id="11" name="Text 8"/>
          <p:cNvSpPr/>
          <p:nvPr/>
        </p:nvSpPr>
        <p:spPr>
          <a:xfrm>
            <a:off x="6537960" y="4498848"/>
            <a:ext cx="4572000" cy="237744"/>
          </a:xfrm>
          <a:prstGeom prst="rect">
            <a:avLst/>
          </a:prstGeom>
          <a:noFill/>
          <a:ln/>
        </p:spPr>
        <p:txBody>
          <a:bodyPr wrap="square" lIns="0" tIns="0" rIns="0" bIns="0" rtlCol="0" anchor="ctr"/>
          <a:lstStyle/>
          <a:p>
            <a:pPr indent="0" marL="0">
              <a:buNone/>
            </a:pPr>
            <a:r>
              <a:rPr lang="en-US" sz="1000" b="1" spc="200" kern="0" dirty="0">
                <a:solidFill>
                  <a:srgbClr val="2F7D4F"/>
                </a:solidFill>
                <a:latin typeface="Calibri" pitchFamily="34" charset="0"/>
                <a:ea typeface="Calibri" pitchFamily="34" charset="-122"/>
                <a:cs typeface="Calibri" pitchFamily="34" charset="-120"/>
              </a:rPr>
              <a:t>HOW IT ACTUALLY CLOSED</a:t>
            </a:r>
            <a:endParaRPr lang="en-US" sz="1000" dirty="0"/>
          </a:p>
        </p:txBody>
      </p:sp>
      <p:sp>
        <p:nvSpPr>
          <p:cNvPr id="12" name="Text 9"/>
          <p:cNvSpPr/>
          <p:nvPr/>
        </p:nvSpPr>
        <p:spPr>
          <a:xfrm>
            <a:off x="6537960" y="4791456"/>
            <a:ext cx="4937760" cy="128016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Not by a campaign. A project touching the same ground found the exception in its impact list, because the record was linked to the object and the market. Closure became one line in that project's closure checklist.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CASE SIX</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Deciding not to decide</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underrated one, and the cheapest to get wrong</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45920"/>
            <a:ext cx="6766560" cy="2688336"/>
          </a:xfrm>
          <a:prstGeom prst="roundRect">
            <a:avLst>
              <a:gd name="adj" fmla="val 3061"/>
            </a:avLst>
          </a:prstGeom>
          <a:solidFill>
            <a:srgbClr val="E7EFEE"/>
          </a:solidFill>
          <a:ln w="12700">
            <a:solidFill>
              <a:srgbClr val="14606B"/>
            </a:solidFill>
            <a:prstDash val="solid"/>
          </a:ln>
        </p:spPr>
      </p:sp>
      <p:sp>
        <p:nvSpPr>
          <p:cNvPr id="7" name="Text 5"/>
          <p:cNvSpPr/>
          <p:nvPr/>
        </p:nvSpPr>
        <p:spPr>
          <a:xfrm>
            <a:off x="722376" y="1792224"/>
            <a:ext cx="6309360" cy="237744"/>
          </a:xfrm>
          <a:prstGeom prst="rect">
            <a:avLst/>
          </a:prstGeom>
          <a:noFill/>
          <a:ln/>
        </p:spPr>
        <p:txBody>
          <a:bodyPr wrap="square" lIns="0" tIns="0" rIns="0" bIns="0" rtlCol="0" anchor="ctr"/>
          <a:lstStyle/>
          <a:p>
            <a:pPr indent="0" marL="0">
              <a:buNone/>
            </a:pPr>
            <a:r>
              <a:rPr lang="en-US" sz="1050" b="1" spc="200" kern="0" dirty="0">
                <a:solidFill>
                  <a:srgbClr val="14606B"/>
                </a:solidFill>
                <a:latin typeface="Calibri" pitchFamily="34" charset="0"/>
                <a:ea typeface="Calibri" pitchFamily="34" charset="-122"/>
                <a:cs typeface="Calibri" pitchFamily="34" charset="-120"/>
              </a:rPr>
              <a:t>ADR-088</a:t>
            </a:r>
            <a:endParaRPr lang="en-US" sz="1050" dirty="0"/>
          </a:p>
        </p:txBody>
      </p:sp>
      <p:sp>
        <p:nvSpPr>
          <p:cNvPr id="8" name="Text 6"/>
          <p:cNvSpPr/>
          <p:nvPr/>
        </p:nvSpPr>
        <p:spPr>
          <a:xfrm>
            <a:off x="722376" y="1993392"/>
            <a:ext cx="6309360" cy="201168"/>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direction  -  2026-01-27  -  design forum</a:t>
            </a:r>
            <a:endParaRPr lang="en-US" sz="950" dirty="0"/>
          </a:p>
        </p:txBody>
      </p:sp>
      <p:sp>
        <p:nvSpPr>
          <p:cNvPr id="9" name="Text 7"/>
          <p:cNvSpPr/>
          <p:nvPr/>
        </p:nvSpPr>
        <p:spPr>
          <a:xfrm>
            <a:off x="722376" y="2249424"/>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CHOSE</a:t>
            </a:r>
            <a:endParaRPr lang="en-US" sz="850" dirty="0"/>
          </a:p>
        </p:txBody>
      </p:sp>
      <p:sp>
        <p:nvSpPr>
          <p:cNvPr id="10" name="Text 8"/>
          <p:cNvSpPr/>
          <p:nvPr/>
        </p:nvSpPr>
        <p:spPr>
          <a:xfrm>
            <a:off x="2002536" y="2221992"/>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Defer the choice of event broker until a second producer exists</a:t>
            </a:r>
            <a:endParaRPr lang="en-US" sz="1050" dirty="0"/>
          </a:p>
        </p:txBody>
      </p:sp>
      <p:sp>
        <p:nvSpPr>
          <p:cNvPr id="11" name="Text 9"/>
          <p:cNvSpPr/>
          <p:nvPr/>
        </p:nvSpPr>
        <p:spPr>
          <a:xfrm>
            <a:off x="722376" y="2651760"/>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REJECTED</a:t>
            </a:r>
            <a:endParaRPr lang="en-US" sz="850" dirty="0"/>
          </a:p>
        </p:txBody>
      </p:sp>
      <p:sp>
        <p:nvSpPr>
          <p:cNvPr id="12" name="Text 10"/>
          <p:cNvSpPr/>
          <p:nvPr/>
        </p:nvSpPr>
        <p:spPr>
          <a:xfrm>
            <a:off x="2002536" y="2624328"/>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Choosing now on one producer and a proof of concept</a:t>
            </a:r>
            <a:endParaRPr lang="en-US" sz="1050" dirty="0"/>
          </a:p>
        </p:txBody>
      </p:sp>
      <p:sp>
        <p:nvSpPr>
          <p:cNvPr id="13" name="Text 11"/>
          <p:cNvSpPr/>
          <p:nvPr/>
        </p:nvSpPr>
        <p:spPr>
          <a:xfrm>
            <a:off x="722376" y="3054096"/>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WHY</a:t>
            </a:r>
            <a:endParaRPr lang="en-US" sz="850" dirty="0"/>
          </a:p>
        </p:txBody>
      </p:sp>
      <p:sp>
        <p:nvSpPr>
          <p:cNvPr id="14" name="Text 12"/>
          <p:cNvSpPr/>
          <p:nvPr/>
        </p:nvSpPr>
        <p:spPr>
          <a:xfrm>
            <a:off x="2002536" y="3026664"/>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A single producer does not exercise the properties we would be selecting on: load, replay and operability</a:t>
            </a:r>
            <a:endParaRPr lang="en-US" sz="1050" dirty="0"/>
          </a:p>
        </p:txBody>
      </p:sp>
      <p:sp>
        <p:nvSpPr>
          <p:cNvPr id="15" name="Text 13"/>
          <p:cNvSpPr/>
          <p:nvPr/>
        </p:nvSpPr>
        <p:spPr>
          <a:xfrm>
            <a:off x="722376" y="3456432"/>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COST</a:t>
            </a:r>
            <a:endParaRPr lang="en-US" sz="850" dirty="0"/>
          </a:p>
        </p:txBody>
      </p:sp>
      <p:sp>
        <p:nvSpPr>
          <p:cNvPr id="16" name="Text 14"/>
          <p:cNvSpPr/>
          <p:nvPr/>
        </p:nvSpPr>
        <p:spPr>
          <a:xfrm>
            <a:off x="2002536" y="3429000"/>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First producer ships on the existing queue and will migrate. Roughly two weeks of rework, accepted knowingly</a:t>
            </a:r>
            <a:endParaRPr lang="en-US" sz="1050" dirty="0"/>
          </a:p>
        </p:txBody>
      </p:sp>
      <p:sp>
        <p:nvSpPr>
          <p:cNvPr id="17" name="Text 15"/>
          <p:cNvSpPr/>
          <p:nvPr/>
        </p:nvSpPr>
        <p:spPr>
          <a:xfrm>
            <a:off x="722376" y="3858768"/>
            <a:ext cx="1234440" cy="182880"/>
          </a:xfrm>
          <a:prstGeom prst="rect">
            <a:avLst/>
          </a:prstGeom>
          <a:noFill/>
          <a:ln/>
        </p:spPr>
        <p:txBody>
          <a:bodyPr wrap="square" lIns="0" tIns="0" rIns="0" bIns="0" rtlCol="0" anchor="ctr"/>
          <a:lstStyle/>
          <a:p>
            <a:pPr indent="0" marL="0">
              <a:buNone/>
            </a:pPr>
            <a:r>
              <a:rPr lang="en-US" sz="850" b="1" spc="100" kern="0" dirty="0">
                <a:solidFill>
                  <a:srgbClr val="7D766E"/>
                </a:solidFill>
                <a:latin typeface="Calibri" pitchFamily="34" charset="0"/>
                <a:ea typeface="Calibri" pitchFamily="34" charset="-122"/>
                <a:cs typeface="Calibri" pitchFamily="34" charset="-120"/>
              </a:rPr>
              <a:t>TRIGGER</a:t>
            </a:r>
            <a:endParaRPr lang="en-US" sz="850" dirty="0"/>
          </a:p>
        </p:txBody>
      </p:sp>
      <p:sp>
        <p:nvSpPr>
          <p:cNvPr id="18" name="Text 16"/>
          <p:cNvSpPr/>
          <p:nvPr/>
        </p:nvSpPr>
        <p:spPr>
          <a:xfrm>
            <a:off x="2002536" y="3831336"/>
            <a:ext cx="5029200" cy="402336"/>
          </a:xfrm>
          <a:prstGeom prst="rect">
            <a:avLst/>
          </a:prstGeom>
          <a:noFill/>
          <a:ln/>
        </p:spPr>
        <p:txBody>
          <a:bodyPr wrap="square" lIns="0" tIns="0" rIns="0" bIns="0" rtlCol="0" anchor="ctr"/>
          <a:lstStyle/>
          <a:p>
            <a:pPr indent="0" marL="0">
              <a:lnSpc>
                <a:spcPts val="1300"/>
              </a:lnSpc>
              <a:buNone/>
            </a:pPr>
            <a:r>
              <a:rPr lang="en-US" sz="1050" dirty="0">
                <a:solidFill>
                  <a:srgbClr val="57534E"/>
                </a:solidFill>
                <a:latin typeface="Calibri" pitchFamily="34" charset="0"/>
                <a:ea typeface="Calibri" pitchFamily="34" charset="-122"/>
                <a:cs typeface="Calibri" pitchFamily="34" charset="-120"/>
              </a:rPr>
              <a:t>A second producer is funded, or 2026-09-30, whichever is first</a:t>
            </a:r>
            <a:endParaRPr lang="en-US" sz="1050" dirty="0"/>
          </a:p>
        </p:txBody>
      </p:sp>
      <p:sp>
        <p:nvSpPr>
          <p:cNvPr id="19" name="Shape 17"/>
          <p:cNvSpPr/>
          <p:nvPr/>
        </p:nvSpPr>
        <p:spPr>
          <a:xfrm>
            <a:off x="7589520" y="1645920"/>
            <a:ext cx="4160520" cy="3200400"/>
          </a:xfrm>
          <a:prstGeom prst="roundRect">
            <a:avLst>
              <a:gd name="adj" fmla="val 2571"/>
            </a:avLst>
          </a:prstGeom>
          <a:solidFill>
            <a:srgbClr val="1C1917"/>
          </a:solidFill>
          <a:ln w="12700">
            <a:solidFill>
              <a:srgbClr val="1C1917"/>
            </a:solidFill>
            <a:prstDash val="solid"/>
          </a:ln>
        </p:spPr>
      </p:sp>
      <p:sp>
        <p:nvSpPr>
          <p:cNvPr id="20" name="Text 18"/>
          <p:cNvSpPr/>
          <p:nvPr/>
        </p:nvSpPr>
        <p:spPr>
          <a:xfrm>
            <a:off x="7863840" y="1847088"/>
            <a:ext cx="3657600" cy="237744"/>
          </a:xfrm>
          <a:prstGeom prst="rect">
            <a:avLst/>
          </a:prstGeom>
          <a:noFill/>
          <a:ln/>
        </p:spPr>
        <p:txBody>
          <a:bodyPr wrap="square" lIns="0" tIns="0" rIns="0" bIns="0" rtlCol="0" anchor="ctr"/>
          <a:lstStyle/>
          <a:p>
            <a:pPr indent="0" marL="0">
              <a:buNone/>
            </a:pPr>
            <a:r>
              <a:rPr lang="en-US" sz="1000" b="1" spc="200" kern="0" dirty="0">
                <a:solidFill>
                  <a:srgbClr val="8FB6BC"/>
                </a:solidFill>
                <a:latin typeface="Calibri" pitchFamily="34" charset="0"/>
                <a:ea typeface="Calibri" pitchFamily="34" charset="-122"/>
                <a:cs typeface="Calibri" pitchFamily="34" charset="-120"/>
              </a:rPr>
              <a:t>WHAT MAKES IT A DECISION</a:t>
            </a:r>
            <a:endParaRPr lang="en-US" sz="1000" dirty="0"/>
          </a:p>
        </p:txBody>
      </p:sp>
      <p:sp>
        <p:nvSpPr>
          <p:cNvPr id="21" name="Text 19"/>
          <p:cNvSpPr/>
          <p:nvPr/>
        </p:nvSpPr>
        <p:spPr>
          <a:xfrm>
            <a:off x="7863840" y="2148840"/>
            <a:ext cx="3611880" cy="2606040"/>
          </a:xfrm>
          <a:prstGeom prst="rect">
            <a:avLst/>
          </a:prstGeom>
          <a:noFill/>
          <a:ln/>
        </p:spPr>
        <p:txBody>
          <a:bodyPr wrap="square" lIns="0" tIns="0" rIns="0" bIns="0" rtlCol="0" anchor="ctr"/>
          <a:lstStyle/>
          <a:p>
            <a:pPr indent="0" marL="0">
              <a:lnSpc>
                <a:spcPts val="1800"/>
              </a:lnSpc>
              <a:buNone/>
            </a:pPr>
            <a:r>
              <a:rPr lang="en-US" sz="1250" dirty="0">
                <a:solidFill>
                  <a:srgbClr val="CFC9BD"/>
                </a:solidFill>
                <a:latin typeface="Calibri" pitchFamily="34" charset="0"/>
                <a:ea typeface="Calibri" pitchFamily="34" charset="-122"/>
                <a:cs typeface="Calibri" pitchFamily="34" charset="-120"/>
              </a:rPr>
              <a:t>A trigger.</a:t>
            </a:r>
            <a:endParaRPr lang="en-US" sz="1250" dirty="0"/>
          </a:p>
          <a:p>
            <a:pPr indent="0" marL="0">
              <a:lnSpc>
                <a:spcPts val="1800"/>
              </a:lnSpc>
              <a:buNone/>
            </a:pPr>
            <a:endParaRPr lang="en-US" sz="1250" dirty="0"/>
          </a:p>
          <a:p>
            <a:pPr indent="0" marL="0">
              <a:lnSpc>
                <a:spcPts val="1800"/>
              </a:lnSpc>
              <a:buNone/>
            </a:pPr>
            <a:r>
              <a:rPr lang="en-US" sz="1250" dirty="0">
                <a:solidFill>
                  <a:srgbClr val="CFC9BD"/>
                </a:solidFill>
                <a:latin typeface="Calibri" pitchFamily="34" charset="0"/>
                <a:ea typeface="Calibri" pitchFamily="34" charset="-122"/>
                <a:cs typeface="Calibri" pitchFamily="34" charset="-120"/>
              </a:rPr>
              <a:t>An accepted cost.</a:t>
            </a:r>
            <a:endParaRPr lang="en-US" sz="1250" dirty="0"/>
          </a:p>
          <a:p>
            <a:pPr indent="0" marL="0">
              <a:lnSpc>
                <a:spcPts val="1800"/>
              </a:lnSpc>
              <a:buNone/>
            </a:pPr>
            <a:endParaRPr lang="en-US" sz="1250" dirty="0"/>
          </a:p>
          <a:p>
            <a:pPr indent="0" marL="0">
              <a:lnSpc>
                <a:spcPts val="1800"/>
              </a:lnSpc>
              <a:buNone/>
            </a:pPr>
            <a:r>
              <a:rPr lang="en-US" sz="1250" dirty="0">
                <a:solidFill>
                  <a:srgbClr val="CFC9BD"/>
                </a:solidFill>
                <a:latin typeface="Calibri" pitchFamily="34" charset="0"/>
                <a:ea typeface="Calibri" pitchFamily="34" charset="-122"/>
                <a:cs typeface="Calibri" pitchFamily="34" charset="-120"/>
              </a:rPr>
              <a:t>Without both it is an unanswered question, and it will be asked again next month, and the month after.</a:t>
            </a:r>
            <a:endParaRPr lang="en-US" sz="1250" dirty="0"/>
          </a:p>
        </p:txBody>
      </p:sp>
      <p:sp>
        <p:nvSpPr>
          <p:cNvPr id="22" name="Shape 20"/>
          <p:cNvSpPr/>
          <p:nvPr/>
        </p:nvSpPr>
        <p:spPr>
          <a:xfrm>
            <a:off x="502920" y="5120640"/>
            <a:ext cx="11247120" cy="960120"/>
          </a:xfrm>
          <a:prstGeom prst="roundRect">
            <a:avLst>
              <a:gd name="adj" fmla="val 8571"/>
            </a:avLst>
          </a:prstGeom>
          <a:solidFill>
            <a:srgbClr val="E7EFEE"/>
          </a:solidFill>
          <a:ln w="12700">
            <a:solidFill>
              <a:srgbClr val="BFD4D2"/>
            </a:solidFill>
            <a:prstDash val="solid"/>
          </a:ln>
        </p:spPr>
      </p:sp>
      <p:sp>
        <p:nvSpPr>
          <p:cNvPr id="23" name="Text 21"/>
          <p:cNvSpPr/>
          <p:nvPr/>
        </p:nvSpPr>
        <p:spPr>
          <a:xfrm>
            <a:off x="822960" y="5349240"/>
            <a:ext cx="10607040" cy="45720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Deferrals are the decisions most often made in a room and least often written down, which is why the same question keeps arriving with the same people in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DOWNSTREAM</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gate paper that cites instead of re-arguing</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The difference between a fifteen-minute review and an hour</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91640"/>
            <a:ext cx="5532120" cy="4023360"/>
          </a:xfrm>
          <a:prstGeom prst="roundRect">
            <a:avLst>
              <a:gd name="adj" fmla="val 2045"/>
            </a:avLst>
          </a:prstGeom>
          <a:solidFill>
            <a:srgbClr val="FFFFFF"/>
          </a:solidFill>
          <a:ln w="12700">
            <a:solidFill>
              <a:srgbClr val="C9998C"/>
            </a:solidFill>
            <a:prstDash val="dash"/>
          </a:ln>
        </p:spPr>
      </p:sp>
      <p:sp>
        <p:nvSpPr>
          <p:cNvPr id="7" name="Text 5"/>
          <p:cNvSpPr/>
          <p:nvPr/>
        </p:nvSpPr>
        <p:spPr>
          <a:xfrm>
            <a:off x="777240" y="1892808"/>
            <a:ext cx="45720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WITHOUT RECORDS</a:t>
            </a:r>
            <a:endParaRPr lang="en-US" sz="1000" dirty="0"/>
          </a:p>
        </p:txBody>
      </p:sp>
      <p:sp>
        <p:nvSpPr>
          <p:cNvPr id="8" name="Text 6"/>
          <p:cNvSpPr/>
          <p:nvPr/>
        </p:nvSpPr>
        <p:spPr>
          <a:xfrm>
            <a:off x="777240" y="2212848"/>
            <a:ext cx="4983480" cy="3383280"/>
          </a:xfrm>
          <a:prstGeom prst="rect">
            <a:avLst/>
          </a:prstGeom>
          <a:noFill/>
          <a:ln/>
        </p:spPr>
        <p:txBody>
          <a:bodyPr wrap="square" lIns="0" tIns="0" rIns="0" bIns="0" rtlCol="0" anchor="ctr"/>
          <a:lstStyle/>
          <a:p>
            <a:pPr indent="0" marL="0">
              <a:lnSpc>
                <a:spcPts val="1800"/>
              </a:lnSpc>
              <a:buNone/>
            </a:pPr>
            <a:r>
              <a:rPr lang="en-US" sz="1250" dirty="0">
                <a:solidFill>
                  <a:srgbClr val="57534E"/>
                </a:solidFill>
                <a:latin typeface="Calibri" pitchFamily="34" charset="0"/>
                <a:ea typeface="Calibri" pitchFamily="34" charset="-122"/>
                <a:cs typeface="Calibri" pitchFamily="34" charset="-120"/>
              </a:rPr>
              <a:t>"Our integration approach uses direct database reads for performance reasons, which we believe is justified here because..."</a:t>
            </a:r>
            <a:endParaRPr lang="en-US" sz="1250" dirty="0"/>
          </a:p>
          <a:p>
            <a:pPr indent="0" marL="0">
              <a:lnSpc>
                <a:spcPts val="1800"/>
              </a:lnSpc>
              <a:buNone/>
            </a:pPr>
            <a:endParaRPr lang="en-US" sz="1250" dirty="0"/>
          </a:p>
          <a:p>
            <a:pPr indent="0" marL="0">
              <a:lnSpc>
                <a:spcPts val="1800"/>
              </a:lnSpc>
              <a:buNone/>
            </a:pPr>
            <a:r>
              <a:rPr lang="en-US" sz="1250" dirty="0">
                <a:solidFill>
                  <a:srgbClr val="57534E"/>
                </a:solidFill>
                <a:latin typeface="Calibri" pitchFamily="34" charset="0"/>
                <a:ea typeface="Calibri" pitchFamily="34" charset="-122"/>
                <a:cs typeface="Calibri" pitchFamily="34" charset="-120"/>
              </a:rPr>
              <a:t>The reviewer now has to re-run the decision. They will. It takes an hour, it happens in front of the team, and the outcome depends on who is in the room.</a:t>
            </a:r>
            <a:endParaRPr lang="en-US" sz="1250" dirty="0"/>
          </a:p>
          <a:p>
            <a:pPr indent="0" marL="0">
              <a:lnSpc>
                <a:spcPts val="1800"/>
              </a:lnSpc>
              <a:buNone/>
            </a:pPr>
            <a:endParaRPr lang="en-US" sz="1250" dirty="0"/>
          </a:p>
          <a:p>
            <a:pPr indent="0" marL="0">
              <a:lnSpc>
                <a:spcPts val="1800"/>
              </a:lnSpc>
              <a:buNone/>
            </a:pPr>
            <a:r>
              <a:rPr lang="en-US" sz="1250" dirty="0">
                <a:solidFill>
                  <a:srgbClr val="57534E"/>
                </a:solidFill>
                <a:latin typeface="Calibri" pitchFamily="34" charset="0"/>
                <a:ea typeface="Calibri" pitchFamily="34" charset="-122"/>
                <a:cs typeface="Calibri" pitchFamily="34" charset="-120"/>
              </a:rPr>
              <a:t>Next quarter, another team writes the same paragraph.</a:t>
            </a:r>
            <a:endParaRPr lang="en-US" sz="1250" dirty="0"/>
          </a:p>
        </p:txBody>
      </p:sp>
      <p:sp>
        <p:nvSpPr>
          <p:cNvPr id="9" name="Shape 7"/>
          <p:cNvSpPr/>
          <p:nvPr/>
        </p:nvSpPr>
        <p:spPr>
          <a:xfrm>
            <a:off x="6309360" y="1691640"/>
            <a:ext cx="5440680" cy="4023360"/>
          </a:xfrm>
          <a:prstGeom prst="roundRect">
            <a:avLst>
              <a:gd name="adj" fmla="val 2045"/>
            </a:avLst>
          </a:prstGeom>
          <a:solidFill>
            <a:srgbClr val="E7EFEE"/>
          </a:solidFill>
          <a:ln w="12700">
            <a:solidFill>
              <a:srgbClr val="BFD4D2"/>
            </a:solidFill>
            <a:prstDash val="solid"/>
          </a:ln>
        </p:spPr>
      </p:sp>
      <p:sp>
        <p:nvSpPr>
          <p:cNvPr id="10" name="Text 8"/>
          <p:cNvSpPr/>
          <p:nvPr/>
        </p:nvSpPr>
        <p:spPr>
          <a:xfrm>
            <a:off x="6583680" y="1892808"/>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WITH RECORDS</a:t>
            </a:r>
            <a:endParaRPr lang="en-US" sz="1000" dirty="0"/>
          </a:p>
        </p:txBody>
      </p:sp>
      <p:sp>
        <p:nvSpPr>
          <p:cNvPr id="11" name="Text 9"/>
          <p:cNvSpPr/>
          <p:nvPr/>
        </p:nvSpPr>
        <p:spPr>
          <a:xfrm>
            <a:off x="6583680" y="2212848"/>
            <a:ext cx="4892040" cy="3383280"/>
          </a:xfrm>
          <a:prstGeom prst="rect">
            <a:avLst/>
          </a:prstGeom>
          <a:noFill/>
          <a:ln/>
        </p:spPr>
        <p:txBody>
          <a:bodyPr wrap="square" lIns="0" tIns="0" rIns="0" bIns="0" rtlCol="0" anchor="ctr"/>
          <a:lstStyle/>
          <a:p>
            <a:pPr indent="0" marL="0">
              <a:lnSpc>
                <a:spcPts val="1800"/>
              </a:lnSpc>
              <a:buNone/>
            </a:pPr>
            <a:r>
              <a:rPr lang="en-US" sz="1250" dirty="0">
                <a:solidFill>
                  <a:srgbClr val="57534E"/>
                </a:solidFill>
                <a:latin typeface="Calibri" pitchFamily="34" charset="0"/>
                <a:ea typeface="Calibri" pitchFamily="34" charset="-122"/>
                <a:cs typeface="Calibri" pitchFamily="34" charset="-120"/>
              </a:rPr>
              <a:t>"Integration per ADR-063. One deviation: the vendor has not published the API, bridged under EXC-13, expiring 2026-09-30."</a:t>
            </a:r>
            <a:endParaRPr lang="en-US" sz="1250" dirty="0"/>
          </a:p>
          <a:p>
            <a:pPr indent="0" marL="0">
              <a:lnSpc>
                <a:spcPts val="1800"/>
              </a:lnSpc>
              <a:buNone/>
            </a:pPr>
            <a:endParaRPr lang="en-US" sz="1250" dirty="0"/>
          </a:p>
          <a:p>
            <a:pPr indent="0" marL="0">
              <a:lnSpc>
                <a:spcPts val="1800"/>
              </a:lnSpc>
              <a:buNone/>
            </a:pPr>
            <a:r>
              <a:rPr lang="en-US" sz="1250" dirty="0">
                <a:solidFill>
                  <a:srgbClr val="57534E"/>
                </a:solidFill>
                <a:latin typeface="Calibri" pitchFamily="34" charset="0"/>
                <a:ea typeface="Calibri" pitchFamily="34" charset="-122"/>
                <a:cs typeface="Calibri" pitchFamily="34" charset="-120"/>
              </a:rPr>
              <a:t>The reviewer checks conformance rather than re-deciding. Fifteen minutes.</a:t>
            </a:r>
            <a:endParaRPr lang="en-US" sz="1250" dirty="0"/>
          </a:p>
          <a:p>
            <a:pPr indent="0" marL="0">
              <a:lnSpc>
                <a:spcPts val="1800"/>
              </a:lnSpc>
              <a:buNone/>
            </a:pPr>
            <a:endParaRPr lang="en-US" sz="1250" dirty="0"/>
          </a:p>
          <a:p>
            <a:pPr indent="0" marL="0">
              <a:lnSpc>
                <a:spcPts val="1800"/>
              </a:lnSpc>
              <a:buNone/>
            </a:pPr>
            <a:r>
              <a:rPr lang="en-US" sz="1250" dirty="0">
                <a:solidFill>
                  <a:srgbClr val="57534E"/>
                </a:solidFill>
                <a:latin typeface="Calibri" pitchFamily="34" charset="0"/>
                <a:ea typeface="Calibri" pitchFamily="34" charset="-122"/>
                <a:cs typeface="Calibri" pitchFamily="34" charset="-120"/>
              </a:rPr>
              <a:t>And if the team disagrees with ADR-063, they can read it and bring new information - which is a far better conversation than compliance.</a:t>
            </a:r>
            <a:endParaRPr lang="en-US" sz="1250" dirty="0"/>
          </a:p>
        </p:txBody>
      </p:sp>
      <p:sp>
        <p:nvSpPr>
          <p:cNvPr id="12" name="Shape 10"/>
          <p:cNvSpPr/>
          <p:nvPr/>
        </p:nvSpPr>
        <p:spPr>
          <a:xfrm>
            <a:off x="502920" y="5852160"/>
            <a:ext cx="11247120" cy="502920"/>
          </a:xfrm>
          <a:prstGeom prst="roundRect">
            <a:avLst>
              <a:gd name="adj" fmla="val 16364"/>
            </a:avLst>
          </a:prstGeom>
          <a:solidFill>
            <a:srgbClr val="1C1917"/>
          </a:solidFill>
          <a:ln w="12700">
            <a:solidFill>
              <a:srgbClr val="1C1917"/>
            </a:solidFill>
            <a:prstDash val="solid"/>
          </a:ln>
        </p:spPr>
      </p:sp>
      <p:sp>
        <p:nvSpPr>
          <p:cNvPr id="13" name="Text 11"/>
          <p:cNvSpPr/>
          <p:nvPr/>
        </p:nvSpPr>
        <p:spPr>
          <a:xfrm>
            <a:off x="822960" y="5943600"/>
            <a:ext cx="10607040" cy="320040"/>
          </a:xfrm>
          <a:prstGeom prst="rect">
            <a:avLst/>
          </a:prstGeom>
          <a:noFill/>
          <a:ln/>
        </p:spPr>
        <p:txBody>
          <a:bodyPr wrap="square" lIns="0" tIns="0" rIns="0" bIns="0" rtlCol="0" anchor="ctr"/>
          <a:lstStyle/>
          <a:p>
            <a:pPr indent="0" marL="0">
              <a:buNone/>
            </a:pPr>
            <a:r>
              <a:rPr lang="en-US" sz="1250" dirty="0">
                <a:solidFill>
                  <a:srgbClr val="CFC9BD"/>
                </a:solidFill>
                <a:latin typeface="Calibri" pitchFamily="34" charset="0"/>
                <a:ea typeface="Calibri" pitchFamily="34" charset="-122"/>
                <a:cs typeface="Calibri" pitchFamily="34" charset="-120"/>
              </a:rPr>
              <a:t>One line in the definition of done: decisions taken during the build are recorded before closure, in the register their clock belongs to, linked to what they touch.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WHEN THERE IS NO RECORD</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conversation to have, and the backfill triage</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Every practice inherits hundreds of undocumented decisions</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691640"/>
            <a:ext cx="5532120" cy="4114800"/>
          </a:xfrm>
          <a:prstGeom prst="roundRect">
            <a:avLst>
              <a:gd name="adj" fmla="val 2000"/>
            </a:avLst>
          </a:prstGeom>
          <a:solidFill>
            <a:srgbClr val="E7EFEE"/>
          </a:solidFill>
          <a:ln w="12700">
            <a:solidFill>
              <a:srgbClr val="BFD4D2"/>
            </a:solidFill>
            <a:prstDash val="solid"/>
          </a:ln>
        </p:spPr>
      </p:sp>
      <p:sp>
        <p:nvSpPr>
          <p:cNvPr id="7" name="Text 5"/>
          <p:cNvSpPr/>
          <p:nvPr/>
        </p:nvSpPr>
        <p:spPr>
          <a:xfrm>
            <a:off x="777240" y="1892808"/>
            <a:ext cx="4572000" cy="237744"/>
          </a:xfrm>
          <a:prstGeom prst="rect">
            <a:avLst/>
          </a:prstGeom>
          <a:noFill/>
          <a:ln/>
        </p:spPr>
        <p:txBody>
          <a:bodyPr wrap="square" lIns="0" tIns="0" rIns="0" bIns="0" rtlCol="0" anchor="ctr"/>
          <a:lstStyle/>
          <a:p>
            <a:pPr indent="0" marL="0">
              <a:buNone/>
            </a:pPr>
            <a:r>
              <a:rPr lang="en-US" sz="1000" b="1" spc="200" kern="0" dirty="0">
                <a:solidFill>
                  <a:srgbClr val="14606B"/>
                </a:solidFill>
                <a:latin typeface="Calibri" pitchFamily="34" charset="0"/>
                <a:ea typeface="Calibri" pitchFamily="34" charset="-122"/>
                <a:cs typeface="Calibri" pitchFamily="34" charset="-120"/>
              </a:rPr>
              <a:t>SAY THIS</a:t>
            </a:r>
            <a:endParaRPr lang="en-US" sz="1000" dirty="0"/>
          </a:p>
        </p:txBody>
      </p:sp>
      <p:sp>
        <p:nvSpPr>
          <p:cNvPr id="8" name="Text 6"/>
          <p:cNvSpPr/>
          <p:nvPr/>
        </p:nvSpPr>
        <p:spPr>
          <a:xfrm>
            <a:off x="777240" y="2212848"/>
            <a:ext cx="498348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"I do not know why that was decided. Let me find out and write it down, so the next person does not have to ask."</a:t>
            </a:r>
            <a:endParaRPr lang="en-US" sz="1200" dirty="0"/>
          </a:p>
        </p:txBody>
      </p:sp>
      <p:sp>
        <p:nvSpPr>
          <p:cNvPr id="9" name="Text 7"/>
          <p:cNvSpPr/>
          <p:nvPr/>
        </p:nvSpPr>
        <p:spPr>
          <a:xfrm>
            <a:off x="777240" y="3145536"/>
            <a:ext cx="498348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Ask the two or three people most likely to have been there. Name them in the record.</a:t>
            </a:r>
            <a:endParaRPr lang="en-US" sz="1200" dirty="0"/>
          </a:p>
        </p:txBody>
      </p:sp>
      <p:sp>
        <p:nvSpPr>
          <p:cNvPr id="10" name="Text 8"/>
          <p:cNvSpPr/>
          <p:nvPr/>
        </p:nvSpPr>
        <p:spPr>
          <a:xfrm>
            <a:off x="777240" y="4078224"/>
            <a:ext cx="498348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Mark it as a reconstruction, dated today, not backdated to the original decision.</a:t>
            </a:r>
            <a:endParaRPr lang="en-US" sz="1200" dirty="0"/>
          </a:p>
        </p:txBody>
      </p:sp>
      <p:sp>
        <p:nvSpPr>
          <p:cNvPr id="11" name="Text 9"/>
          <p:cNvSpPr/>
          <p:nvPr/>
        </p:nvSpPr>
        <p:spPr>
          <a:xfrm>
            <a:off x="777240" y="5010912"/>
            <a:ext cx="498348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If nobody remembers the reason, record that. "Reason not recoverable" is itself useful - it makes the decision safe to revisit.</a:t>
            </a:r>
            <a:endParaRPr lang="en-US" sz="1200" dirty="0"/>
          </a:p>
        </p:txBody>
      </p:sp>
      <p:sp>
        <p:nvSpPr>
          <p:cNvPr id="12" name="Shape 10"/>
          <p:cNvSpPr/>
          <p:nvPr/>
        </p:nvSpPr>
        <p:spPr>
          <a:xfrm>
            <a:off x="6309360" y="1691640"/>
            <a:ext cx="5440680" cy="4114800"/>
          </a:xfrm>
          <a:prstGeom prst="roundRect">
            <a:avLst>
              <a:gd name="adj" fmla="val 2000"/>
            </a:avLst>
          </a:prstGeom>
          <a:solidFill>
            <a:srgbClr val="FFFFFF"/>
          </a:solidFill>
          <a:ln w="12700">
            <a:solidFill>
              <a:srgbClr val="C9998C"/>
            </a:solidFill>
            <a:prstDash val="dash"/>
          </a:ln>
        </p:spPr>
      </p:sp>
      <p:sp>
        <p:nvSpPr>
          <p:cNvPr id="13" name="Text 11"/>
          <p:cNvSpPr/>
          <p:nvPr/>
        </p:nvSpPr>
        <p:spPr>
          <a:xfrm>
            <a:off x="6583680" y="1892808"/>
            <a:ext cx="45720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DO NOT</a:t>
            </a:r>
            <a:endParaRPr lang="en-US" sz="1000" dirty="0"/>
          </a:p>
        </p:txBody>
      </p:sp>
      <p:sp>
        <p:nvSpPr>
          <p:cNvPr id="14" name="Text 12"/>
          <p:cNvSpPr/>
          <p:nvPr/>
        </p:nvSpPr>
        <p:spPr>
          <a:xfrm>
            <a:off x="6583680" y="2212848"/>
            <a:ext cx="489204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Do not backfill everything. A project with no end and no reader.</a:t>
            </a:r>
            <a:endParaRPr lang="en-US" sz="1200" dirty="0"/>
          </a:p>
        </p:txBody>
      </p:sp>
      <p:sp>
        <p:nvSpPr>
          <p:cNvPr id="15" name="Text 13"/>
          <p:cNvSpPr/>
          <p:nvPr/>
        </p:nvSpPr>
        <p:spPr>
          <a:xfrm>
            <a:off x="6583680" y="3145536"/>
            <a:ext cx="489204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Do not invent a reason that sounds plausible. A confident wrong reason is worse than a gap.</a:t>
            </a:r>
            <a:endParaRPr lang="en-US" sz="1200" dirty="0"/>
          </a:p>
        </p:txBody>
      </p:sp>
      <p:sp>
        <p:nvSpPr>
          <p:cNvPr id="16" name="Text 14"/>
          <p:cNvSpPr/>
          <p:nvPr/>
        </p:nvSpPr>
        <p:spPr>
          <a:xfrm>
            <a:off x="6583680" y="4078224"/>
            <a:ext cx="489204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Do not backdate. The date is evidence in an audited environment.</a:t>
            </a:r>
            <a:endParaRPr lang="en-US" sz="1200" dirty="0"/>
          </a:p>
        </p:txBody>
      </p:sp>
      <p:sp>
        <p:nvSpPr>
          <p:cNvPr id="17" name="Text 15"/>
          <p:cNvSpPr/>
          <p:nvPr/>
        </p:nvSpPr>
        <p:spPr>
          <a:xfrm>
            <a:off x="6583680" y="5010912"/>
            <a:ext cx="4892040" cy="868680"/>
          </a:xfrm>
          <a:prstGeom prst="rect">
            <a:avLst/>
          </a:prstGeom>
          <a:noFill/>
          <a:ln/>
        </p:spPr>
        <p:txBody>
          <a:bodyPr wrap="square" lIns="0" tIns="0" rIns="0" bIns="0" rtlCol="0" anchor="ctr"/>
          <a:lstStyle/>
          <a:p>
            <a:pPr indent="0" marL="0">
              <a:lnSpc>
                <a:spcPts val="1700"/>
              </a:lnSpc>
              <a:buNone/>
            </a:pPr>
            <a:r>
              <a:rPr lang="en-US" sz="1200" dirty="0">
                <a:solidFill>
                  <a:srgbClr val="57534E"/>
                </a:solidFill>
                <a:latin typeface="Calibri" pitchFamily="34" charset="0"/>
                <a:ea typeface="Calibri" pitchFamily="34" charset="-122"/>
                <a:cs typeface="Calibri" pitchFamily="34" charset="-120"/>
              </a:rPr>
              <a:t>Do not treat the gap as somebody's failure. It is the normal state of every practice before this habit starts.</a:t>
            </a:r>
            <a:endParaRPr lang="en-US" sz="1200" dirty="0"/>
          </a:p>
        </p:txBody>
      </p:sp>
      <p:sp>
        <p:nvSpPr>
          <p:cNvPr id="18" name="Shape 16"/>
          <p:cNvSpPr/>
          <p:nvPr/>
        </p:nvSpPr>
        <p:spPr>
          <a:xfrm>
            <a:off x="502920" y="5943600"/>
            <a:ext cx="11247120" cy="438912"/>
          </a:xfrm>
          <a:prstGeom prst="roundRect">
            <a:avLst>
              <a:gd name="adj" fmla="val 18750"/>
            </a:avLst>
          </a:prstGeom>
          <a:solidFill>
            <a:srgbClr val="1C1917"/>
          </a:solidFill>
          <a:ln w="12700">
            <a:solidFill>
              <a:srgbClr val="1C1917"/>
            </a:solidFill>
            <a:prstDash val="solid"/>
          </a:ln>
        </p:spPr>
      </p:sp>
      <p:sp>
        <p:nvSpPr>
          <p:cNvPr id="19" name="Text 17"/>
          <p:cNvSpPr/>
          <p:nvPr/>
        </p:nvSpPr>
        <p:spPr>
          <a:xfrm>
            <a:off x="822960" y="6025896"/>
            <a:ext cx="10607040" cy="292608"/>
          </a:xfrm>
          <a:prstGeom prst="rect">
            <a:avLst/>
          </a:prstGeom>
          <a:noFill/>
          <a:ln/>
        </p:spPr>
        <p:txBody>
          <a:bodyPr wrap="square" lIns="0" tIns="0" rIns="0" bIns="0" rtlCol="0" anchor="ctr"/>
          <a:lstStyle/>
          <a:p>
            <a:pPr indent="0" marL="0">
              <a:buNone/>
            </a:pPr>
            <a:r>
              <a:rPr lang="en-US" sz="1250" dirty="0">
                <a:solidFill>
                  <a:srgbClr val="CFC9BD"/>
                </a:solidFill>
                <a:latin typeface="Calibri" pitchFamily="34" charset="0"/>
                <a:ea typeface="Calibri" pitchFamily="34" charset="-122"/>
                <a:cs typeface="Calibri" pitchFamily="34" charset="-120"/>
              </a:rPr>
              <a:t>Backfill exactly what is being re-litigated. When a question arrives for the second time, that is the signal. Ten of those a year covers most of what people argue about.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292608"/>
            <a:ext cx="8686800" cy="274320"/>
          </a:xfrm>
          <a:prstGeom prst="rect">
            <a:avLst/>
          </a:prstGeom>
          <a:noFill/>
          <a:ln/>
        </p:spPr>
        <p:txBody>
          <a:bodyPr wrap="square" lIns="0" tIns="0" rIns="0" bIns="0" rtlCol="0" anchor="ctr"/>
          <a:lstStyle/>
          <a:p>
            <a:pPr indent="0" marL="0">
              <a:buNone/>
            </a:pPr>
            <a:r>
              <a:rPr lang="en-US" sz="1100" b="1" spc="300" kern="0" dirty="0">
                <a:solidFill>
                  <a:srgbClr val="14606B"/>
                </a:solidFill>
                <a:latin typeface="Calibri" pitchFamily="34" charset="0"/>
                <a:ea typeface="Calibri" pitchFamily="34" charset="-122"/>
                <a:cs typeface="Calibri" pitchFamily="34" charset="-120"/>
              </a:rPr>
              <a:t>STARTING</a:t>
            </a:r>
            <a:endParaRPr lang="en-US" sz="1100" dirty="0"/>
          </a:p>
        </p:txBody>
      </p:sp>
      <p:sp>
        <p:nvSpPr>
          <p:cNvPr id="3" name="Text 1"/>
          <p:cNvSpPr/>
          <p:nvPr/>
        </p:nvSpPr>
        <p:spPr>
          <a:xfrm>
            <a:off x="502920" y="530352"/>
            <a:ext cx="10881360" cy="548640"/>
          </a:xfrm>
          <a:prstGeom prst="rect">
            <a:avLst/>
          </a:prstGeom>
          <a:noFill/>
          <a:ln/>
        </p:spPr>
        <p:txBody>
          <a:bodyPr wrap="square" lIns="0" tIns="0" rIns="0" bIns="0" rtlCol="0" anchor="ctr"/>
          <a:lstStyle/>
          <a:p>
            <a:pPr indent="0" marL="0">
              <a:buNone/>
            </a:pPr>
            <a:r>
              <a:rPr lang="en-US" sz="2600" b="1" dirty="0">
                <a:solidFill>
                  <a:srgbClr val="1C1917"/>
                </a:solidFill>
                <a:latin typeface="Cambria" pitchFamily="34" charset="0"/>
                <a:ea typeface="Cambria" pitchFamily="34" charset="-122"/>
                <a:cs typeface="Cambria" pitchFamily="34" charset="-120"/>
              </a:rPr>
              <a:t>The first month</a:t>
            </a:r>
            <a:endParaRPr lang="en-US" sz="2600" dirty="0"/>
          </a:p>
        </p:txBody>
      </p:sp>
      <p:sp>
        <p:nvSpPr>
          <p:cNvPr id="4" name="Text 2"/>
          <p:cNvSpPr/>
          <p:nvPr/>
        </p:nvSpPr>
        <p:spPr>
          <a:xfrm>
            <a:off x="502920" y="1078992"/>
            <a:ext cx="10881360" cy="310896"/>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Nothing new is created. Two existing things gain a paragraph</a:t>
            </a:r>
            <a:endParaRPr lang="en-US" sz="1250" dirty="0"/>
          </a:p>
        </p:txBody>
      </p:sp>
      <p:sp>
        <p:nvSpPr>
          <p:cNvPr id="5" name="Text 3"/>
          <p:cNvSpPr/>
          <p:nvPr/>
        </p:nvSpPr>
        <p:spPr>
          <a:xfrm>
            <a:off x="502920" y="6473952"/>
            <a:ext cx="4572000" cy="256032"/>
          </a:xfrm>
          <a:prstGeom prst="rect">
            <a:avLst/>
          </a:prstGeom>
          <a:noFill/>
          <a:ln/>
        </p:spPr>
        <p:txBody>
          <a:bodyPr wrap="square" lIns="0" tIns="0" rIns="0" bIns="0" rtlCol="0" anchor="ctr"/>
          <a:lstStyle/>
          <a:p>
            <a:pPr indent="0" marL="0">
              <a:buNone/>
            </a:pPr>
            <a:r>
              <a:rPr lang="en-US" sz="950" dirty="0">
                <a:solidFill>
                  <a:srgbClr val="7D766E"/>
                </a:solidFill>
                <a:latin typeface="Calibri" pitchFamily="34" charset="0"/>
                <a:ea typeface="Calibri" pitchFamily="34" charset="-122"/>
                <a:cs typeface="Calibri" pitchFamily="34" charset="-120"/>
              </a:rPr>
              <a:t>mehdibamou.com  -  free to use and adapt</a:t>
            </a:r>
            <a:endParaRPr lang="en-US" sz="950" dirty="0"/>
          </a:p>
        </p:txBody>
      </p:sp>
      <p:sp>
        <p:nvSpPr>
          <p:cNvPr id="6" name="Shape 4"/>
          <p:cNvSpPr/>
          <p:nvPr/>
        </p:nvSpPr>
        <p:spPr>
          <a:xfrm>
            <a:off x="502920" y="1783080"/>
            <a:ext cx="2651760" cy="3200400"/>
          </a:xfrm>
          <a:prstGeom prst="roundRect">
            <a:avLst>
              <a:gd name="adj" fmla="val 3103"/>
            </a:avLst>
          </a:prstGeom>
          <a:solidFill>
            <a:srgbClr val="E7EFEE"/>
          </a:solidFill>
          <a:ln w="12700">
            <a:solidFill>
              <a:srgbClr val="BFD4D2"/>
            </a:solidFill>
            <a:prstDash val="solid"/>
          </a:ln>
        </p:spPr>
      </p:sp>
      <p:sp>
        <p:nvSpPr>
          <p:cNvPr id="7" name="Text 5"/>
          <p:cNvSpPr/>
          <p:nvPr/>
        </p:nvSpPr>
        <p:spPr>
          <a:xfrm>
            <a:off x="722376" y="1956816"/>
            <a:ext cx="2286000" cy="274320"/>
          </a:xfrm>
          <a:prstGeom prst="rect">
            <a:avLst/>
          </a:prstGeom>
          <a:noFill/>
          <a:ln/>
        </p:spPr>
        <p:txBody>
          <a:bodyPr wrap="square" lIns="0" tIns="0" rIns="0" bIns="0" rtlCol="0" anchor="ctr"/>
          <a:lstStyle/>
          <a:p>
            <a:pPr indent="0" marL="0">
              <a:buNone/>
            </a:pPr>
            <a:r>
              <a:rPr lang="en-US" sz="1100" b="1" spc="200" kern="0" dirty="0">
                <a:solidFill>
                  <a:srgbClr val="14606B"/>
                </a:solidFill>
                <a:latin typeface="Calibri" pitchFamily="34" charset="0"/>
                <a:ea typeface="Calibri" pitchFamily="34" charset="-122"/>
                <a:cs typeface="Calibri" pitchFamily="34" charset="-120"/>
              </a:rPr>
              <a:t>Week 1</a:t>
            </a:r>
            <a:endParaRPr lang="en-US" sz="1100" dirty="0"/>
          </a:p>
        </p:txBody>
      </p:sp>
      <p:sp>
        <p:nvSpPr>
          <p:cNvPr id="8" name="Text 6"/>
          <p:cNvSpPr/>
          <p:nvPr/>
        </p:nvSpPr>
        <p:spPr>
          <a:xfrm>
            <a:off x="722376" y="2286000"/>
            <a:ext cx="2286000" cy="7315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Fix the shape of the log you already half have</a:t>
            </a:r>
            <a:endParaRPr lang="en-US" sz="1500" dirty="0"/>
          </a:p>
        </p:txBody>
      </p:sp>
      <p:sp>
        <p:nvSpPr>
          <p:cNvPr id="9" name="Text 7"/>
          <p:cNvSpPr/>
          <p:nvPr/>
        </p:nvSpPr>
        <p:spPr>
          <a:xfrm>
            <a:off x="722376" y="3108960"/>
            <a:ext cx="2286000" cy="17373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Add the two fields almost certainly missing: what was rejected, and what this costs us</a:t>
            </a:r>
            <a:endParaRPr lang="en-US" sz="1150" dirty="0"/>
          </a:p>
        </p:txBody>
      </p:sp>
      <p:sp>
        <p:nvSpPr>
          <p:cNvPr id="10" name="Shape 8"/>
          <p:cNvSpPr/>
          <p:nvPr/>
        </p:nvSpPr>
        <p:spPr>
          <a:xfrm>
            <a:off x="3355848" y="1783080"/>
            <a:ext cx="2651760" cy="3200400"/>
          </a:xfrm>
          <a:prstGeom prst="roundRect">
            <a:avLst>
              <a:gd name="adj" fmla="val 3103"/>
            </a:avLst>
          </a:prstGeom>
          <a:solidFill>
            <a:srgbClr val="E7EFEE"/>
          </a:solidFill>
          <a:ln w="12700">
            <a:solidFill>
              <a:srgbClr val="BFD4D2"/>
            </a:solidFill>
            <a:prstDash val="solid"/>
          </a:ln>
        </p:spPr>
      </p:sp>
      <p:sp>
        <p:nvSpPr>
          <p:cNvPr id="11" name="Text 9"/>
          <p:cNvSpPr/>
          <p:nvPr/>
        </p:nvSpPr>
        <p:spPr>
          <a:xfrm>
            <a:off x="3575304" y="1956816"/>
            <a:ext cx="2286000" cy="274320"/>
          </a:xfrm>
          <a:prstGeom prst="rect">
            <a:avLst/>
          </a:prstGeom>
          <a:noFill/>
          <a:ln/>
        </p:spPr>
        <p:txBody>
          <a:bodyPr wrap="square" lIns="0" tIns="0" rIns="0" bIns="0" rtlCol="0" anchor="ctr"/>
          <a:lstStyle/>
          <a:p>
            <a:pPr indent="0" marL="0">
              <a:buNone/>
            </a:pPr>
            <a:r>
              <a:rPr lang="en-US" sz="1100" b="1" spc="200" kern="0" dirty="0">
                <a:solidFill>
                  <a:srgbClr val="14606B"/>
                </a:solidFill>
                <a:latin typeface="Calibri" pitchFamily="34" charset="0"/>
                <a:ea typeface="Calibri" pitchFamily="34" charset="-122"/>
                <a:cs typeface="Calibri" pitchFamily="34" charset="-120"/>
              </a:rPr>
              <a:t>Week 2</a:t>
            </a:r>
            <a:endParaRPr lang="en-US" sz="1100" dirty="0"/>
          </a:p>
        </p:txBody>
      </p:sp>
      <p:sp>
        <p:nvSpPr>
          <p:cNvPr id="12" name="Text 10"/>
          <p:cNvSpPr/>
          <p:nvPr/>
        </p:nvSpPr>
        <p:spPr>
          <a:xfrm>
            <a:off x="3575304" y="2286000"/>
            <a:ext cx="2286000" cy="7315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Write the next five as they happen</a:t>
            </a:r>
            <a:endParaRPr lang="en-US" sz="1500" dirty="0"/>
          </a:p>
        </p:txBody>
      </p:sp>
      <p:sp>
        <p:nvSpPr>
          <p:cNvPr id="13" name="Text 11"/>
          <p:cNvSpPr/>
          <p:nvPr/>
        </p:nvSpPr>
        <p:spPr>
          <a:xfrm>
            <a:off x="3575304" y="3108960"/>
            <a:ext cx="2286000" cy="17373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In the room, twenty minutes each. Do not announce a programme - let people see the artifact</a:t>
            </a:r>
            <a:endParaRPr lang="en-US" sz="1150" dirty="0"/>
          </a:p>
        </p:txBody>
      </p:sp>
      <p:sp>
        <p:nvSpPr>
          <p:cNvPr id="14" name="Shape 12"/>
          <p:cNvSpPr/>
          <p:nvPr/>
        </p:nvSpPr>
        <p:spPr>
          <a:xfrm>
            <a:off x="6208776" y="1783080"/>
            <a:ext cx="2651760" cy="3200400"/>
          </a:xfrm>
          <a:prstGeom prst="roundRect">
            <a:avLst>
              <a:gd name="adj" fmla="val 3103"/>
            </a:avLst>
          </a:prstGeom>
          <a:solidFill>
            <a:srgbClr val="E3EFE7"/>
          </a:solidFill>
          <a:ln w="12700">
            <a:solidFill>
              <a:srgbClr val="9DC4AA"/>
            </a:solidFill>
            <a:prstDash val="solid"/>
          </a:ln>
        </p:spPr>
      </p:sp>
      <p:sp>
        <p:nvSpPr>
          <p:cNvPr id="15" name="Text 13"/>
          <p:cNvSpPr/>
          <p:nvPr/>
        </p:nvSpPr>
        <p:spPr>
          <a:xfrm>
            <a:off x="6428232" y="1956816"/>
            <a:ext cx="2286000" cy="274320"/>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Week 3</a:t>
            </a:r>
            <a:endParaRPr lang="en-US" sz="1100" dirty="0"/>
          </a:p>
        </p:txBody>
      </p:sp>
      <p:sp>
        <p:nvSpPr>
          <p:cNvPr id="16" name="Text 14"/>
          <p:cNvSpPr/>
          <p:nvPr/>
        </p:nvSpPr>
        <p:spPr>
          <a:xfrm>
            <a:off x="6428232" y="2286000"/>
            <a:ext cx="2286000" cy="7315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Add the links</a:t>
            </a:r>
            <a:endParaRPr lang="en-US" sz="1500" dirty="0"/>
          </a:p>
        </p:txBody>
      </p:sp>
      <p:sp>
        <p:nvSpPr>
          <p:cNvPr id="17" name="Text 15"/>
          <p:cNvSpPr/>
          <p:nvPr/>
        </p:nvSpPr>
        <p:spPr>
          <a:xfrm>
            <a:off x="6428232" y="3108960"/>
            <a:ext cx="2286000" cy="17373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Every record points at the applications, objects, domains and projects it touches. This is what makes them surface later</a:t>
            </a:r>
            <a:endParaRPr lang="en-US" sz="1150" dirty="0"/>
          </a:p>
        </p:txBody>
      </p:sp>
      <p:sp>
        <p:nvSpPr>
          <p:cNvPr id="18" name="Shape 16"/>
          <p:cNvSpPr/>
          <p:nvPr/>
        </p:nvSpPr>
        <p:spPr>
          <a:xfrm>
            <a:off x="9061704" y="1783080"/>
            <a:ext cx="2651760" cy="3200400"/>
          </a:xfrm>
          <a:prstGeom prst="roundRect">
            <a:avLst>
              <a:gd name="adj" fmla="val 3103"/>
            </a:avLst>
          </a:prstGeom>
          <a:solidFill>
            <a:srgbClr val="E3EFE7"/>
          </a:solidFill>
          <a:ln w="12700">
            <a:solidFill>
              <a:srgbClr val="9DC4AA"/>
            </a:solidFill>
            <a:prstDash val="solid"/>
          </a:ln>
        </p:spPr>
      </p:sp>
      <p:sp>
        <p:nvSpPr>
          <p:cNvPr id="19" name="Text 17"/>
          <p:cNvSpPr/>
          <p:nvPr/>
        </p:nvSpPr>
        <p:spPr>
          <a:xfrm>
            <a:off x="9281160" y="1956816"/>
            <a:ext cx="2286000" cy="274320"/>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Week 4</a:t>
            </a:r>
            <a:endParaRPr lang="en-US" sz="1100" dirty="0"/>
          </a:p>
        </p:txBody>
      </p:sp>
      <p:sp>
        <p:nvSpPr>
          <p:cNvPr id="20" name="Text 18"/>
          <p:cNvSpPr/>
          <p:nvPr/>
        </p:nvSpPr>
        <p:spPr>
          <a:xfrm>
            <a:off x="9281160" y="2286000"/>
            <a:ext cx="2286000" cy="731520"/>
          </a:xfrm>
          <a:prstGeom prst="rect">
            <a:avLst/>
          </a:prstGeom>
          <a:noFill/>
          <a:ln/>
        </p:spPr>
        <p:txBody>
          <a:bodyPr wrap="square" lIns="0" tIns="0" rIns="0" bIns="0" rtlCol="0" anchor="ctr"/>
          <a:lstStyle/>
          <a:p>
            <a:pPr indent="0" marL="0">
              <a:lnSpc>
                <a:spcPts val="1900"/>
              </a:lnSpc>
              <a:buNone/>
            </a:pPr>
            <a:r>
              <a:rPr lang="en-US" sz="1500" b="1" dirty="0">
                <a:solidFill>
                  <a:srgbClr val="1C1917"/>
                </a:solidFill>
                <a:latin typeface="Cambria" pitchFamily="34" charset="0"/>
                <a:ea typeface="Cambria" pitchFamily="34" charset="-122"/>
                <a:cs typeface="Cambria" pitchFamily="34" charset="-120"/>
              </a:rPr>
              <a:t>Wire it in</a:t>
            </a:r>
            <a:endParaRPr lang="en-US" sz="1500" dirty="0"/>
          </a:p>
        </p:txBody>
      </p:sp>
      <p:sp>
        <p:nvSpPr>
          <p:cNvPr id="21" name="Text 19"/>
          <p:cNvSpPr/>
          <p:nvPr/>
        </p:nvSpPr>
        <p:spPr>
          <a:xfrm>
            <a:off x="9281160" y="3108960"/>
            <a:ext cx="2286000" cy="1737360"/>
          </a:xfrm>
          <a:prstGeom prst="rect">
            <a:avLst/>
          </a:prstGeom>
          <a:noFill/>
          <a:ln/>
        </p:spPr>
        <p:txBody>
          <a:bodyPr wrap="square" lIns="0" tIns="0" rIns="0" bIns="0" rtlCol="0" anchor="ctr"/>
          <a:lstStyle/>
          <a:p>
            <a:pPr indent="0" marL="0">
              <a:lnSpc>
                <a:spcPts val="1600"/>
              </a:lnSpc>
              <a:buNone/>
            </a:pPr>
            <a:r>
              <a:rPr lang="en-US" sz="1150" dirty="0">
                <a:solidFill>
                  <a:srgbClr val="57534E"/>
                </a:solidFill>
                <a:latin typeface="Calibri" pitchFamily="34" charset="0"/>
                <a:ea typeface="Calibri" pitchFamily="34" charset="-122"/>
                <a:cs typeface="Calibri" pitchFamily="34" charset="-120"/>
              </a:rPr>
              <a:t>One line in the definition of done, and expiring records onto the quarterly agenda that already exists</a:t>
            </a:r>
            <a:endParaRPr lang="en-US" sz="1150" dirty="0"/>
          </a:p>
        </p:txBody>
      </p:sp>
      <p:sp>
        <p:nvSpPr>
          <p:cNvPr id="22" name="Shape 20"/>
          <p:cNvSpPr/>
          <p:nvPr/>
        </p:nvSpPr>
        <p:spPr>
          <a:xfrm>
            <a:off x="502920" y="5212080"/>
            <a:ext cx="11247120" cy="1143000"/>
          </a:xfrm>
          <a:prstGeom prst="roundRect">
            <a:avLst>
              <a:gd name="adj" fmla="val 7200"/>
            </a:avLst>
          </a:prstGeom>
          <a:solidFill>
            <a:srgbClr val="FFFFFF"/>
          </a:solidFill>
          <a:ln w="12700">
            <a:solidFill>
              <a:srgbClr val="C9998C"/>
            </a:solidFill>
            <a:prstDash val="dash"/>
          </a:ln>
        </p:spPr>
      </p:sp>
      <p:sp>
        <p:nvSpPr>
          <p:cNvPr id="23" name="Text 21"/>
          <p:cNvSpPr/>
          <p:nvPr/>
        </p:nvSpPr>
        <p:spPr>
          <a:xfrm>
            <a:off x="822960" y="5394960"/>
            <a:ext cx="5486400" cy="237744"/>
          </a:xfrm>
          <a:prstGeom prst="rect">
            <a:avLst/>
          </a:prstGeom>
          <a:noFill/>
          <a:ln/>
        </p:spPr>
        <p:txBody>
          <a:bodyPr wrap="square" lIns="0" tIns="0" rIns="0" bIns="0" rtlCol="0" anchor="ctr"/>
          <a:lstStyle/>
          <a:p>
            <a:pPr indent="0" marL="0">
              <a:buNone/>
            </a:pPr>
            <a:r>
              <a:rPr lang="en-US" sz="1000" b="1" spc="200" kern="0" dirty="0">
                <a:solidFill>
                  <a:srgbClr val="9A4A3A"/>
                </a:solidFill>
                <a:latin typeface="Calibri" pitchFamily="34" charset="0"/>
                <a:ea typeface="Calibri" pitchFamily="34" charset="-122"/>
                <a:cs typeface="Calibri" pitchFamily="34" charset="-120"/>
              </a:rPr>
              <a:t>WHAT NOT TO DO IN MONTH ONE</a:t>
            </a:r>
            <a:endParaRPr lang="en-US" sz="1000" dirty="0"/>
          </a:p>
        </p:txBody>
      </p:sp>
      <p:sp>
        <p:nvSpPr>
          <p:cNvPr id="24" name="Text 22"/>
          <p:cNvSpPr/>
          <p:nvPr/>
        </p:nvSpPr>
        <p:spPr>
          <a:xfrm>
            <a:off x="822960" y="5669280"/>
            <a:ext cx="10607040" cy="548640"/>
          </a:xfrm>
          <a:prstGeom prst="rect">
            <a:avLst/>
          </a:prstGeom>
          <a:noFill/>
          <a:ln/>
        </p:spPr>
        <p:txBody>
          <a:bodyPr wrap="square" lIns="0" tIns="0" rIns="0" bIns="0" rtlCol="0" anchor="ctr"/>
          <a:lstStyle/>
          <a:p>
            <a:pPr indent="0" marL="0">
              <a:lnSpc>
                <a:spcPts val="1800"/>
              </a:lnSpc>
              <a:buNone/>
            </a:pPr>
            <a:r>
              <a:rPr lang="en-US" sz="1300" dirty="0">
                <a:solidFill>
                  <a:srgbClr val="57534E"/>
                </a:solidFill>
                <a:latin typeface="Calibri" pitchFamily="34" charset="0"/>
                <a:ea typeface="Calibri" pitchFamily="34" charset="-122"/>
                <a:cs typeface="Calibri" pitchFamily="34" charset="-120"/>
              </a:rPr>
              <a:t>Build a tool. Define six registers before you have entries for two. Mandate retrospective backfill. Write a policy about decision records - the policy is four sentences and can wait until the habit is real.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2026-08-20T10:15:26Z</dcterms:created>
  <dcterms:modified xsi:type="dcterms:W3CDTF">2026-08-20T10:15:26Z</dcterms:modified>
</cp:coreProperties>
</file>